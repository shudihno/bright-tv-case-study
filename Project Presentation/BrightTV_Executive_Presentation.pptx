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5.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7" d="100"/>
          <a:sy n="117" d="100"/>
        </p:scale>
        <p:origin x="3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Sessions</c:v>
                </c:pt>
              </c:strCache>
            </c:strRef>
          </c:tx>
          <c:spPr>
            <a:solidFill>
              <a:srgbClr val="42A5F5"/>
            </a:solidFill>
            <a:effectLst/>
          </c:spPr>
          <c:invertIfNegative val="0"/>
          <c:dPt>
            <c:idx val="0"/>
            <c:invertIfNegative val="0"/>
            <c:bubble3D val="0"/>
            <c:extLst>
              <c:ext xmlns:c16="http://schemas.microsoft.com/office/drawing/2014/chart" uri="{C3380CC4-5D6E-409C-BE32-E72D297353CC}">
                <c16:uniqueId val="{00000001-7429-42C2-9CDD-57380412C13F}"/>
              </c:ext>
            </c:extLst>
          </c:dPt>
          <c:dPt>
            <c:idx val="1"/>
            <c:invertIfNegative val="0"/>
            <c:bubble3D val="0"/>
            <c:extLst>
              <c:ext xmlns:c16="http://schemas.microsoft.com/office/drawing/2014/chart" uri="{C3380CC4-5D6E-409C-BE32-E72D297353CC}">
                <c16:uniqueId val="{00000003-7429-42C2-9CDD-57380412C13F}"/>
              </c:ext>
            </c:extLst>
          </c:dPt>
          <c:dPt>
            <c:idx val="2"/>
            <c:invertIfNegative val="0"/>
            <c:bubble3D val="0"/>
            <c:spPr>
              <a:solidFill>
                <a:srgbClr val="1565C0"/>
              </a:solidFill>
              <a:effectLst/>
            </c:spPr>
            <c:extLst>
              <c:ext xmlns:c16="http://schemas.microsoft.com/office/drawing/2014/chart" uri="{C3380CC4-5D6E-409C-BE32-E72D297353CC}">
                <c16:uniqueId val="{00000005-7429-42C2-9CDD-57380412C13F}"/>
              </c:ext>
            </c:extLst>
          </c:dPt>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January</c:v>
                </c:pt>
                <c:pt idx="1">
                  <c:v>February</c:v>
                </c:pt>
                <c:pt idx="2">
                  <c:v>March</c:v>
                </c:pt>
              </c:strCache>
            </c:strRef>
          </c:cat>
          <c:val>
            <c:numRef>
              <c:f>Sheet1!$B$2:$B$4</c:f>
              <c:numCache>
                <c:formatCode>General</c:formatCode>
                <c:ptCount val="3"/>
                <c:pt idx="0">
                  <c:v>2199</c:v>
                </c:pt>
                <c:pt idx="1">
                  <c:v>2967</c:v>
                </c:pt>
                <c:pt idx="2">
                  <c:v>4814</c:v>
                </c:pt>
              </c:numCache>
            </c:numRef>
          </c:val>
          <c:extLst>
            <c:ext xmlns:c16="http://schemas.microsoft.com/office/drawing/2014/chart" uri="{C3380CC4-5D6E-409C-BE32-E72D297353CC}">
              <c16:uniqueId val="{00000006-7429-42C2-9CDD-57380412C13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1F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Sessions</c:v>
                </c:pt>
              </c:strCache>
            </c:strRef>
          </c:tx>
          <c:spPr>
            <a:solidFill>
              <a:srgbClr val="1565C0"/>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SuperSport Live</c:v>
                </c:pt>
                <c:pt idx="1">
                  <c:v>ICC Cricket WC</c:v>
                </c:pt>
                <c:pt idx="2">
                  <c:v>Channel O</c:v>
                </c:pt>
                <c:pt idx="3">
                  <c:v>Trace TV</c:v>
                </c:pt>
                <c:pt idx="4">
                  <c:v>Africa Magic</c:v>
                </c:pt>
                <c:pt idx="5">
                  <c:v>Cartoon Network</c:v>
                </c:pt>
                <c:pt idx="6">
                  <c:v>Boomerang</c:v>
                </c:pt>
                <c:pt idx="7">
                  <c:v>CNN</c:v>
                </c:pt>
              </c:strCache>
            </c:strRef>
          </c:cat>
          <c:val>
            <c:numRef>
              <c:f>Sheet1!$B$2:$B$9</c:f>
              <c:numCache>
                <c:formatCode>General</c:formatCode>
                <c:ptCount val="8"/>
                <c:pt idx="0">
                  <c:v>2661</c:v>
                </c:pt>
                <c:pt idx="1">
                  <c:v>1460</c:v>
                </c:pt>
                <c:pt idx="2">
                  <c:v>1048</c:v>
                </c:pt>
                <c:pt idx="3">
                  <c:v>952</c:v>
                </c:pt>
                <c:pt idx="4">
                  <c:v>855</c:v>
                </c:pt>
                <c:pt idx="5">
                  <c:v>792</c:v>
                </c:pt>
                <c:pt idx="6">
                  <c:v>713</c:v>
                </c:pt>
                <c:pt idx="7">
                  <c:v>504</c:v>
                </c:pt>
              </c:numCache>
            </c:numRef>
          </c:val>
          <c:extLst>
            <c:ext xmlns:c16="http://schemas.microsoft.com/office/drawing/2014/chart" uri="{C3380CC4-5D6E-409C-BE32-E72D297353CC}">
              <c16:uniqueId val="{00000000-5EED-4432-B5F2-7CBBBB23516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minutes</c:v>
                </c:pt>
              </c:strCache>
            </c:strRef>
          </c:tx>
          <c:spPr>
            <a:solidFill>
              <a:srgbClr val="C9A227"/>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MK</c:v>
                </c:pt>
                <c:pt idx="1">
                  <c:v>SawSee</c:v>
                </c:pt>
                <c:pt idx="2">
                  <c:v>Africa Magic</c:v>
                </c:pt>
                <c:pt idx="3">
                  <c:v>SuperSport Live</c:v>
                </c:pt>
                <c:pt idx="4">
                  <c:v>Cartoon Network</c:v>
                </c:pt>
                <c:pt idx="5">
                  <c:v>Trace TV</c:v>
                </c:pt>
                <c:pt idx="6">
                  <c:v>ICC Cricket WC</c:v>
                </c:pt>
                <c:pt idx="7">
                  <c:v>CNN</c:v>
                </c:pt>
              </c:strCache>
            </c:strRef>
          </c:cat>
          <c:val>
            <c:numRef>
              <c:f>Sheet1!$B$2:$B$9</c:f>
              <c:numCache>
                <c:formatCode>General</c:formatCode>
                <c:ptCount val="8"/>
                <c:pt idx="0">
                  <c:v>16.3</c:v>
                </c:pt>
                <c:pt idx="1">
                  <c:v>12.3</c:v>
                </c:pt>
                <c:pt idx="2">
                  <c:v>10.4</c:v>
                </c:pt>
                <c:pt idx="3">
                  <c:v>9.5</c:v>
                </c:pt>
                <c:pt idx="4">
                  <c:v>9.4</c:v>
                </c:pt>
                <c:pt idx="5">
                  <c:v>8.9</c:v>
                </c:pt>
                <c:pt idx="6">
                  <c:v>8.8000000000000007</c:v>
                </c:pt>
                <c:pt idx="7">
                  <c:v>7.9</c:v>
                </c:pt>
              </c:numCache>
            </c:numRef>
          </c:val>
          <c:extLst>
            <c:ext xmlns:c16="http://schemas.microsoft.com/office/drawing/2014/chart" uri="{C3380CC4-5D6E-409C-BE32-E72D297353CC}">
              <c16:uniqueId val="{00000000-6ACD-4B93-ADA9-6E311F32168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Sessions</c:v>
                </c:pt>
              </c:strCache>
            </c:strRef>
          </c:tx>
          <c:spPr>
            <a:ln w="38100" cap="flat">
              <a:solidFill>
                <a:srgbClr val="1565C0"/>
              </a:solidFill>
              <a:prstDash val="solid"/>
              <a:round/>
            </a:ln>
            <a:effectLst/>
          </c:spPr>
          <c:marker>
            <c:symbol val="circle"/>
            <c:size val="6"/>
            <c:spPr>
              <a:solidFill>
                <a:srgbClr val="1565C0"/>
              </a:solidFill>
              <a:ln w="9525" cap="flat">
                <a:solidFill>
                  <a:srgbClr val="1565C0"/>
                </a:solidFill>
                <a:prstDash val="solid"/>
                <a:round/>
              </a:ln>
              <a:effectLst/>
            </c:spPr>
          </c:marker>
          <c:cat>
            <c:strRef>
              <c:f>Sheet1!$A$2:$A$13</c:f>
              <c:strCache>
                <c:ptCount val="12"/>
                <c:pt idx="0">
                  <c:v>00</c:v>
                </c:pt>
                <c:pt idx="1">
                  <c:v>02</c:v>
                </c:pt>
                <c:pt idx="2">
                  <c:v>04</c:v>
                </c:pt>
                <c:pt idx="3">
                  <c:v>06</c:v>
                </c:pt>
                <c:pt idx="4">
                  <c:v>08</c:v>
                </c:pt>
                <c:pt idx="5">
                  <c:v>10</c:v>
                </c:pt>
                <c:pt idx="6">
                  <c:v>12</c:v>
                </c:pt>
                <c:pt idx="7">
                  <c:v>14</c:v>
                </c:pt>
                <c:pt idx="8">
                  <c:v>16</c:v>
                </c:pt>
                <c:pt idx="9">
                  <c:v>18</c:v>
                </c:pt>
                <c:pt idx="10">
                  <c:v>20</c:v>
                </c:pt>
                <c:pt idx="11">
                  <c:v>22</c:v>
                </c:pt>
              </c:strCache>
            </c:strRef>
          </c:cat>
          <c:val>
            <c:numRef>
              <c:f>Sheet1!$B$2:$B$13</c:f>
              <c:numCache>
                <c:formatCode>General</c:formatCode>
                <c:ptCount val="12"/>
                <c:pt idx="0">
                  <c:v>80</c:v>
                </c:pt>
                <c:pt idx="1">
                  <c:v>49</c:v>
                </c:pt>
                <c:pt idx="2">
                  <c:v>178</c:v>
                </c:pt>
                <c:pt idx="3">
                  <c:v>401</c:v>
                </c:pt>
                <c:pt idx="4">
                  <c:v>539</c:v>
                </c:pt>
                <c:pt idx="5">
                  <c:v>634</c:v>
                </c:pt>
                <c:pt idx="6">
                  <c:v>619</c:v>
                </c:pt>
                <c:pt idx="7">
                  <c:v>621</c:v>
                </c:pt>
                <c:pt idx="8">
                  <c:v>627</c:v>
                </c:pt>
                <c:pt idx="9">
                  <c:v>622</c:v>
                </c:pt>
                <c:pt idx="10">
                  <c:v>497</c:v>
                </c:pt>
                <c:pt idx="11">
                  <c:v>180</c:v>
                </c:pt>
              </c:numCache>
            </c:numRef>
          </c:val>
          <c:smooth val="1"/>
          <c:extLst>
            <c:ext xmlns:c16="http://schemas.microsoft.com/office/drawing/2014/chart" uri="{C3380CC4-5D6E-409C-BE32-E72D297353CC}">
              <c16:uniqueId val="{00000000-3E47-415F-A226-2D113290FFF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1F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Sessions</c:v>
                </c:pt>
              </c:strCache>
            </c:strRef>
          </c:tx>
          <c:spPr>
            <a:solidFill>
              <a:srgbClr val="42A5F5"/>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Afternoon</c:v>
                </c:pt>
                <c:pt idx="1">
                  <c:v>Dusk</c:v>
                </c:pt>
                <c:pt idx="2">
                  <c:v>Twilight</c:v>
                </c:pt>
                <c:pt idx="3">
                  <c:v>Forenoon</c:v>
                </c:pt>
                <c:pt idx="4">
                  <c:v>Morning</c:v>
                </c:pt>
                <c:pt idx="5">
                  <c:v>Evening</c:v>
                </c:pt>
                <c:pt idx="6">
                  <c:v>Sunrise</c:v>
                </c:pt>
                <c:pt idx="7">
                  <c:v>Noon</c:v>
                </c:pt>
                <c:pt idx="8">
                  <c:v>Dawn</c:v>
                </c:pt>
              </c:strCache>
            </c:strRef>
          </c:cat>
          <c:val>
            <c:numRef>
              <c:f>Sheet1!$B$2:$B$10</c:f>
              <c:numCache>
                <c:formatCode>General</c:formatCode>
                <c:ptCount val="9"/>
                <c:pt idx="0">
                  <c:v>1904</c:v>
                </c:pt>
                <c:pt idx="1">
                  <c:v>1272</c:v>
                </c:pt>
                <c:pt idx="2">
                  <c:v>1207</c:v>
                </c:pt>
                <c:pt idx="3">
                  <c:v>1202</c:v>
                </c:pt>
                <c:pt idx="4">
                  <c:v>1077</c:v>
                </c:pt>
                <c:pt idx="5">
                  <c:v>861</c:v>
                </c:pt>
                <c:pt idx="6">
                  <c:v>802</c:v>
                </c:pt>
                <c:pt idx="7">
                  <c:v>619</c:v>
                </c:pt>
                <c:pt idx="8">
                  <c:v>476</c:v>
                </c:pt>
              </c:numCache>
            </c:numRef>
          </c:val>
          <c:extLst>
            <c:ext xmlns:c16="http://schemas.microsoft.com/office/drawing/2014/chart" uri="{C3380CC4-5D6E-409C-BE32-E72D297353CC}">
              <c16:uniqueId val="{00000000-36A0-42A2-AD94-B03637DE494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1F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1565C0"/>
              </a:solidFill>
              <a:ln w="25400" cap="flat">
                <a:solidFill>
                  <a:srgbClr val="FFFFFF"/>
                </a:solidFill>
                <a:prstDash val="solid"/>
                <a:round/>
              </a:ln>
              <a:effectLst/>
            </c:spPr>
            <c:extLst>
              <c:ext xmlns:c16="http://schemas.microsoft.com/office/drawing/2014/chart" uri="{C3380CC4-5D6E-409C-BE32-E72D297353CC}">
                <c16:uniqueId val="{00000001-2410-4DF6-B1C7-C3CCB597AEBC}"/>
              </c:ext>
            </c:extLst>
          </c:dPt>
          <c:dPt>
            <c:idx val="1"/>
            <c:bubble3D val="0"/>
            <c:spPr>
              <a:solidFill>
                <a:srgbClr val="C9A227"/>
              </a:solidFill>
              <a:ln w="25400" cap="flat">
                <a:solidFill>
                  <a:srgbClr val="FFFFFF"/>
                </a:solidFill>
                <a:prstDash val="solid"/>
                <a:round/>
              </a:ln>
              <a:effectLst/>
            </c:spPr>
            <c:extLst>
              <c:ext xmlns:c16="http://schemas.microsoft.com/office/drawing/2014/chart" uri="{C3380CC4-5D6E-409C-BE32-E72D297353CC}">
                <c16:uniqueId val="{00000003-2410-4DF6-B1C7-C3CCB597AEBC}"/>
              </c:ext>
            </c:extLst>
          </c:dPt>
          <c:cat>
            <c:strRef>
              <c:f>Sheet1!$A$2:$A$3</c:f>
              <c:strCache>
                <c:ptCount val="2"/>
                <c:pt idx="0">
                  <c:v>Weekday (6,933)</c:v>
                </c:pt>
                <c:pt idx="1">
                  <c:v>Weekend (3,047)</c:v>
                </c:pt>
              </c:strCache>
            </c:strRef>
          </c:cat>
          <c:val>
            <c:numRef>
              <c:f>Sheet1!$B$2:$B$3</c:f>
              <c:numCache>
                <c:formatCode>General</c:formatCode>
                <c:ptCount val="2"/>
                <c:pt idx="0">
                  <c:v>6933</c:v>
                </c:pt>
                <c:pt idx="1">
                  <c:v>3047</c:v>
                </c:pt>
              </c:numCache>
            </c:numRef>
          </c:val>
          <c:extLst>
            <c:ext xmlns:c16="http://schemas.microsoft.com/office/drawing/2014/chart" uri="{C3380CC4-5D6E-409C-BE32-E72D297353CC}">
              <c16:uniqueId val="{00000004-2410-4DF6-B1C7-C3CCB597AEBC}"/>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r"/>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1565C0"/>
              </a:solidFill>
              <a:ln w="25400" cap="flat">
                <a:solidFill>
                  <a:srgbClr val="FFFFFF"/>
                </a:solidFill>
                <a:prstDash val="solid"/>
                <a:round/>
              </a:ln>
              <a:effectLst/>
            </c:spPr>
            <c:extLst>
              <c:ext xmlns:c16="http://schemas.microsoft.com/office/drawing/2014/chart" uri="{C3380CC4-5D6E-409C-BE32-E72D297353CC}">
                <c16:uniqueId val="{00000001-E568-4AAC-8555-F85B8A26E82D}"/>
              </c:ext>
            </c:extLst>
          </c:dPt>
          <c:dPt>
            <c:idx val="1"/>
            <c:bubble3D val="0"/>
            <c:spPr>
              <a:solidFill>
                <a:srgbClr val="C9A227"/>
              </a:solidFill>
              <a:ln w="25400" cap="flat">
                <a:solidFill>
                  <a:srgbClr val="FFFFFF"/>
                </a:solidFill>
                <a:prstDash val="solid"/>
                <a:round/>
              </a:ln>
              <a:effectLst/>
            </c:spPr>
            <c:extLst>
              <c:ext xmlns:c16="http://schemas.microsoft.com/office/drawing/2014/chart" uri="{C3380CC4-5D6E-409C-BE32-E72D297353CC}">
                <c16:uniqueId val="{00000003-E568-4AAC-8555-F85B8A26E82D}"/>
              </c:ext>
            </c:extLst>
          </c:dPt>
          <c:dPt>
            <c:idx val="2"/>
            <c:bubble3D val="0"/>
            <c:spPr>
              <a:solidFill>
                <a:srgbClr val="C3CEDD"/>
              </a:solidFill>
              <a:ln w="25400" cap="flat">
                <a:solidFill>
                  <a:srgbClr val="FFFFFF"/>
                </a:solidFill>
                <a:prstDash val="solid"/>
                <a:round/>
              </a:ln>
              <a:effectLst/>
            </c:spPr>
            <c:extLst>
              <c:ext xmlns:c16="http://schemas.microsoft.com/office/drawing/2014/chart" uri="{C3380CC4-5D6E-409C-BE32-E72D297353CC}">
                <c16:uniqueId val="{00000005-E568-4AAC-8555-F85B8A26E82D}"/>
              </c:ext>
            </c:extLst>
          </c:dPt>
          <c:cat>
            <c:strRef>
              <c:f>Sheet1!$A$2:$A$4</c:f>
              <c:strCache>
                <c:ptCount val="3"/>
                <c:pt idx="0">
                  <c:v>Male 87.6%</c:v>
                </c:pt>
                <c:pt idx="1">
                  <c:v>Female 9.8%</c:v>
                </c:pt>
                <c:pt idx="2">
                  <c:v>Unspecified 2.6%</c:v>
                </c:pt>
              </c:strCache>
            </c:strRef>
          </c:cat>
          <c:val>
            <c:numRef>
              <c:f>Sheet1!$B$2:$B$4</c:f>
              <c:numCache>
                <c:formatCode>General</c:formatCode>
                <c:ptCount val="3"/>
                <c:pt idx="0">
                  <c:v>8743</c:v>
                </c:pt>
                <c:pt idx="1">
                  <c:v>976</c:v>
                </c:pt>
                <c:pt idx="2">
                  <c:v>261</c:v>
                </c:pt>
              </c:numCache>
            </c:numRef>
          </c:val>
          <c:extLst>
            <c:ext xmlns:c16="http://schemas.microsoft.com/office/drawing/2014/chart" uri="{C3380CC4-5D6E-409C-BE32-E72D297353CC}">
              <c16:uniqueId val="{00000006-E568-4AAC-8555-F85B8A26E82D}"/>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05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Sessions</c:v>
                </c:pt>
              </c:strCache>
            </c:strRef>
          </c:tx>
          <c:spPr>
            <a:solidFill>
              <a:srgbClr val="42A5F5"/>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Early Adults</c:v>
                </c:pt>
                <c:pt idx="1">
                  <c:v>Mid-Career</c:v>
                </c:pt>
                <c:pt idx="2">
                  <c:v>Young Adults</c:v>
                </c:pt>
                <c:pt idx="3">
                  <c:v>Mature Adults</c:v>
                </c:pt>
                <c:pt idx="4">
                  <c:v>Children &amp; Teens</c:v>
                </c:pt>
                <c:pt idx="5">
                  <c:v>Seniors</c:v>
                </c:pt>
              </c:strCache>
            </c:strRef>
          </c:cat>
          <c:val>
            <c:numRef>
              <c:f>Sheet1!$B$2:$B$7</c:f>
              <c:numCache>
                <c:formatCode>General</c:formatCode>
                <c:ptCount val="6"/>
                <c:pt idx="0">
                  <c:v>4135</c:v>
                </c:pt>
                <c:pt idx="1">
                  <c:v>2634</c:v>
                </c:pt>
                <c:pt idx="2">
                  <c:v>1480</c:v>
                </c:pt>
                <c:pt idx="3">
                  <c:v>927</c:v>
                </c:pt>
                <c:pt idx="4">
                  <c:v>538</c:v>
                </c:pt>
                <c:pt idx="5">
                  <c:v>266</c:v>
                </c:pt>
              </c:numCache>
            </c:numRef>
          </c:val>
          <c:extLst>
            <c:ext xmlns:c16="http://schemas.microsoft.com/office/drawing/2014/chart" uri="{C3380CC4-5D6E-409C-BE32-E72D297353CC}">
              <c16:uniqueId val="{00000000-85A2-4199-BFAC-0C6EF3795CE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Sessions</c:v>
                </c:pt>
              </c:strCache>
            </c:strRef>
          </c:tx>
          <c:spPr>
            <a:solidFill>
              <a:srgbClr val="1565C0"/>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Black</c:v>
                </c:pt>
                <c:pt idx="1">
                  <c:v>Coloured</c:v>
                </c:pt>
                <c:pt idx="2">
                  <c:v>Indian/Asian</c:v>
                </c:pt>
                <c:pt idx="3">
                  <c:v>White</c:v>
                </c:pt>
                <c:pt idx="4">
                  <c:v>Unknown</c:v>
                </c:pt>
              </c:strCache>
            </c:strRef>
          </c:cat>
          <c:val>
            <c:numRef>
              <c:f>Sheet1!$B$2:$B$6</c:f>
              <c:numCache>
                <c:formatCode>General</c:formatCode>
                <c:ptCount val="5"/>
                <c:pt idx="0">
                  <c:v>4324</c:v>
                </c:pt>
                <c:pt idx="1">
                  <c:v>1630</c:v>
                </c:pt>
                <c:pt idx="2">
                  <c:v>1571</c:v>
                </c:pt>
                <c:pt idx="3">
                  <c:v>1287</c:v>
                </c:pt>
                <c:pt idx="4">
                  <c:v>1168</c:v>
                </c:pt>
              </c:numCache>
            </c:numRef>
          </c:val>
          <c:extLst>
            <c:ext xmlns:c16="http://schemas.microsoft.com/office/drawing/2014/chart" uri="{C3380CC4-5D6E-409C-BE32-E72D297353CC}">
              <c16:uniqueId val="{00000000-5711-49F1-AB5B-8427E82CCBD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DF1F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Sessions</c:v>
                </c:pt>
              </c:strCache>
            </c:strRef>
          </c:tx>
          <c:spPr>
            <a:solidFill>
              <a:srgbClr val="1565C0"/>
            </a:solidFill>
            <a:effectLst/>
          </c:spPr>
          <c:invertIfNegative val="0"/>
          <c:dLbls>
            <c:numFmt formatCode="#,##0" sourceLinked="0"/>
            <c:spPr>
              <a:noFill/>
              <a:ln>
                <a:noFill/>
              </a:ln>
              <a:effectLst/>
            </c:spPr>
            <c:txPr>
              <a:bodyPr/>
              <a:lstStyle/>
              <a:p>
                <a:pPr>
                  <a:defRPr sz="1000" b="0" i="0" u="none" strike="noStrike">
                    <a:solidFill>
                      <a:srgbClr val="0B1F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Gauteng</c:v>
                </c:pt>
                <c:pt idx="1">
                  <c:v>Western Cape</c:v>
                </c:pt>
                <c:pt idx="2">
                  <c:v>KwaZulu-Natal</c:v>
                </c:pt>
                <c:pt idx="3">
                  <c:v>Mpumalanga</c:v>
                </c:pt>
                <c:pt idx="4">
                  <c:v>Limpopo</c:v>
                </c:pt>
                <c:pt idx="5">
                  <c:v>Eastern Cape</c:v>
                </c:pt>
                <c:pt idx="6">
                  <c:v>North West</c:v>
                </c:pt>
                <c:pt idx="7">
                  <c:v>Free State</c:v>
                </c:pt>
                <c:pt idx="8">
                  <c:v>Northern Cape</c:v>
                </c:pt>
              </c:strCache>
            </c:strRef>
          </c:cat>
          <c:val>
            <c:numRef>
              <c:f>Sheet1!$B$2:$B$10</c:f>
              <c:numCache>
                <c:formatCode>General</c:formatCode>
                <c:ptCount val="9"/>
                <c:pt idx="0">
                  <c:v>3644</c:v>
                </c:pt>
                <c:pt idx="1">
                  <c:v>1845</c:v>
                </c:pt>
                <c:pt idx="2">
                  <c:v>999</c:v>
                </c:pt>
                <c:pt idx="3">
                  <c:v>917</c:v>
                </c:pt>
                <c:pt idx="4">
                  <c:v>762</c:v>
                </c:pt>
                <c:pt idx="5">
                  <c:v>686</c:v>
                </c:pt>
                <c:pt idx="6">
                  <c:v>343</c:v>
                </c:pt>
                <c:pt idx="7">
                  <c:v>292</c:v>
                </c:pt>
                <c:pt idx="8">
                  <c:v>230</c:v>
                </c:pt>
              </c:numCache>
            </c:numRef>
          </c:val>
          <c:extLst>
            <c:ext xmlns:c16="http://schemas.microsoft.com/office/drawing/2014/chart" uri="{C3380CC4-5D6E-409C-BE32-E72D297353CC}">
              <c16:uniqueId val="{00000000-8E81-4C3B-BE49-98A2F8EC91C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5B6B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1F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the next twenty minutes I will walk the executive team through the BrightTV Viewership Analytics programme: what the Customer Value Management team was asked to solve, how we built an end-to-end analytics pipeline over 9,980 viewing sessions, what the data tells us about our audience, and the four decisions I am asking this room to make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hold on to. One: growth is real — sessions grew 119% from January to March. Two: that growth is dangerously concentrated — sport alone is 41% of all viewing. Three: our audience is narrow — 88% male, 41% Early Adults, 37% Gauteng. Four: engagement is shallow — the average session is nine minutes and 69% of profiles fall in the No Usage screen-time bracket. The upside is that every one of those is addressable, and the recommendations later in this deck quantify 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BrightTV is spending against a picture of its audience that nobody can verify. The CEO set a clear objective — grow subscribers and engagement — but the CVM team could not answer basic questions: which channels actually hold attention, when our viewers are available, and which segments we are failing to reach. This slide frames the four questions the analysis had to answer and the outcomes we committed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workstreams, delivered end to end by a single analyst. I want to draw your attention to the middle two — cleaning and feature engineering. Roughly 60% of the effort sat there, and that is where the analytical value was created: without standardised provinces, age bands and time-of-day buckets, none of the downstream dashboards would be comparable.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programme ran across six phases. Data cleaning and feature engineering deliberately overlap — cleaning surfaced the quality issues that shaped the features we built. Dashboard development was the longest single phase because we delivered four platforms, each for a different audience: analysts in Excel, management in Power BI, stakeholders in Looker, and executives in the live web 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inputs. The two that matter analytically are user profiles and viewership sessions — joined, they give us 9,980 rows covering January to March. The business case document kept the analysis anchored to commercial questions rather than curiosity, and the dashboards are both an output and, increasingly, a source of feedback on what executives actually ask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pragmatic stack. SQL and Databricks do the heavy engineering; Excel, Power BI, Looker and Lovable each serve a different consumer of the insight; and Miro, Canva, PowerPoint and GitHub carry the thinking, the storytelling and the version control. Nothing here requires new licensing — this is buildable inside our current estate.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end to end. Read it left to right in three zones: ingest and engineer, then serve through four consumption layers, then convert into insight and action. The critical design decision was the single analytical dataset in the middle — every dashboard reads from the same certified table, which is why the numbers agree wherever an executive looks.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trust in every later number is created. Six operations: cleaning, standardisation, feature engineering, joins, aggregation and derived columns. The snippet on the right is representative — we standardise dirty province and race values, band age into commercial segments, and bucket the hour of day into eleven viewing periods. Every transformation is version-controlled in GitHub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engineered features turned raw logs into commercial language. Age groups gave us marketable segments. Time-of-day bands revealed the afternoon peak. Screen-time brackets exposed the engagement problem — 69% of profiles sit in No Usage. These are the columns the business now speaks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delivery layers, one dataset. Excel serves the analyst community, Power BI serves management reporting, Looker Studio gives stakeholders self-service, and the Lovable web app is what you are seeing live today — filterable, responsive and shareable by link. The screenshots on the left are from the live application; the Excel, Power BI and Looker captures need to be dropped into the marked frames before the board session.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define the business today. Nine thousand nine hundred and eighty sessions across sixteen channels, totalling just over fifteen hundred viewing hours. The number I want you to sit with is the average session: 9.2 minutes. That is not appointment viewing — that is sampling. Everything downstream in this deck is about converting samplers into subscribers. Note that the subscriber count is not in the session dataset and needs to come from the billing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Sport is the franchise. SuperSport and the ICC Cricket World Cup together account for 41% of all sessions and 42% of watch time. But look at the right-hand chart — the channels that hold attention longest are not the ones with the most volume. MK averages 16 minutes and SawSee 12 minutes against a 9.2 minute baseline. That gap is a programming and recommendation opportunity we are currently leaving on the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behavioural facts. First, viewing peaks in the afternoon and holds through dusk and twilight — not the traditional prime-time evening slot. Second, 69% of sessions land on weekdays, with Saturday the single strongest day. Third, hourly demand plateaus from 10am to 7pm and collapses after 9pm. Our scheduling and campaign send-times should follow this curve, and today they do not.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commercially uncomfortable slide in the deck. Eighty-eight percent of our viewing is male. Forty-one percent is a single age band. Thirty-seven percent is one province. We are not serving a national audience — we are serving a narrow one extremely well. Each of those concentrations is simultaneously a risk and the clearest growth headroom we have.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insight cards, each structured the same way: what happened, why it happened, and what it costs or earns us. I would spend the most time on the second — shallow engagement. A 9.2 minute average session against 69% of profiles in No Usage tells us our churn risk is not in the future, it is already present in the behaviour.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moves, prioritised by impact and effort. The two high-impact plays are deliverable this quarter with existing capability. Medium impact needs marketing alignment. The future opportunity is the predictive layer, which is a FY27 investment conversation. Each has a named owner and a measurable success metric — I am asking for approval on the first two today.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three-horizon path from descriptive to prescriptive analytics. We are at the end of horizon one. Horizon two — predictive models and a recommendation engine — is where the session-length problem gets solved at scale. Horizon three moves us onto Azure with real-time dashboards, which is what an operator of our ambition should run 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programme proved beyond the findings themselves: that we can take a raw commercial question, engineer trustworthy data against it, and deliver decision-ready insight across four platforms in a single cycle. That capability is now in-house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lessons. Data quality was the real project — over a thousand records carried unknown race and 262 had no province. Second, dashboards multiply only if they share one dataset, otherwise they multiply arguments. Third, executives do not want charts, they want decisions, so every visual in this deck earns its place by supporting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live, not a screenshot. Scan the code and you can filter the full dataset by province, channel, gender, race, time of day and month, and every KPI and chart on the page recalculates instantly. It is the same certified data behind everything you have seen today, and it is shareable by link across the leadership team.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now have one trusted view of viewership, and it says three things: demand is growing, engagement is shallow, and the audience is narrower than our ambition. The two high-impact plays address the first two this quarter. The predictive roadmap addresses the third structurally. With your approval today, we start executing next week.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methodology, the data quality caveats, or the commercial assumptions behind the recommendations. The live dashboard is available now if anyone would like to interrogate a specific segment.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88952" cy="6858000"/>
          </a:xfrm>
          <a:prstGeom prst="rect">
            <a:avLst/>
          </a:prstGeom>
          <a:solidFill>
            <a:srgbClr val="0B1F3A"/>
          </a:solidFill>
          <a:ln/>
        </p:spPr>
        <p:txBody>
          <a:bodyPr/>
          <a:lstStyle/>
          <a:p>
            <a:endParaRPr lang="en-ZA"/>
          </a:p>
        </p:txBody>
      </p:sp>
      <p:sp>
        <p:nvSpPr>
          <p:cNvPr id="4" name="Shape 1"/>
          <p:cNvSpPr/>
          <p:nvPr/>
        </p:nvSpPr>
        <p:spPr>
          <a:xfrm>
            <a:off x="7863840" y="8313"/>
            <a:ext cx="4325112" cy="6858000"/>
          </a:xfrm>
          <a:prstGeom prst="rect">
            <a:avLst/>
          </a:prstGeom>
          <a:solidFill>
            <a:srgbClr val="0E2A50"/>
          </a:solidFill>
          <a:ln/>
        </p:spPr>
        <p:txBody>
          <a:bodyPr/>
          <a:lstStyle/>
          <a:p>
            <a:endParaRPr lang="en-ZA"/>
          </a:p>
        </p:txBody>
      </p:sp>
      <p:sp>
        <p:nvSpPr>
          <p:cNvPr id="5" name="Shape 2"/>
          <p:cNvSpPr/>
          <p:nvPr/>
        </p:nvSpPr>
        <p:spPr>
          <a:xfrm>
            <a:off x="8595360" y="-1280160"/>
            <a:ext cx="5120640" cy="5120640"/>
          </a:xfrm>
          <a:prstGeom prst="ellipse">
            <a:avLst/>
          </a:prstGeom>
          <a:solidFill>
            <a:srgbClr val="1565C0">
              <a:alpha val="30000"/>
            </a:srgbClr>
          </a:solidFill>
          <a:ln w="12700">
            <a:solidFill>
              <a:srgbClr val="1565C0">
                <a:alpha val="0"/>
              </a:srgbClr>
            </a:solidFill>
            <a:prstDash val="solid"/>
          </a:ln>
        </p:spPr>
        <p:txBody>
          <a:bodyPr/>
          <a:lstStyle/>
          <a:p>
            <a:endParaRPr lang="en-ZA"/>
          </a:p>
        </p:txBody>
      </p:sp>
      <p:sp>
        <p:nvSpPr>
          <p:cNvPr id="6" name="Shape 3"/>
          <p:cNvSpPr/>
          <p:nvPr/>
        </p:nvSpPr>
        <p:spPr>
          <a:xfrm>
            <a:off x="9966960" y="3291840"/>
            <a:ext cx="3840480" cy="3840480"/>
          </a:xfrm>
          <a:prstGeom prst="ellipse">
            <a:avLst/>
          </a:prstGeom>
          <a:solidFill>
            <a:srgbClr val="C9A227">
              <a:alpha val="18000"/>
            </a:srgbClr>
          </a:solidFill>
          <a:ln w="12700">
            <a:solidFill>
              <a:srgbClr val="C9A227">
                <a:alpha val="0"/>
              </a:srgbClr>
            </a:solidFill>
            <a:prstDash val="solid"/>
          </a:ln>
        </p:spPr>
        <p:txBody>
          <a:bodyPr/>
          <a:lstStyle/>
          <a:p>
            <a:endParaRPr lang="en-ZA"/>
          </a:p>
        </p:txBody>
      </p:sp>
      <p:sp>
        <p:nvSpPr>
          <p:cNvPr id="7" name="Shape 4"/>
          <p:cNvSpPr/>
          <p:nvPr/>
        </p:nvSpPr>
        <p:spPr>
          <a:xfrm>
            <a:off x="822960" y="1691640"/>
            <a:ext cx="822960" cy="54864"/>
          </a:xfrm>
          <a:prstGeom prst="rect">
            <a:avLst/>
          </a:prstGeom>
          <a:solidFill>
            <a:srgbClr val="C9A227"/>
          </a:solidFill>
          <a:ln/>
        </p:spPr>
        <p:txBody>
          <a:bodyPr/>
          <a:lstStyle/>
          <a:p>
            <a:endParaRPr lang="en-ZA"/>
          </a:p>
        </p:txBody>
      </p:sp>
      <p:sp>
        <p:nvSpPr>
          <p:cNvPr id="8" name="Text 5"/>
          <p:cNvSpPr/>
          <p:nvPr/>
        </p:nvSpPr>
        <p:spPr>
          <a:xfrm>
            <a:off x="822960" y="1234440"/>
            <a:ext cx="7315200" cy="274320"/>
          </a:xfrm>
          <a:prstGeom prst="rect">
            <a:avLst/>
          </a:prstGeom>
          <a:noFill/>
          <a:ln/>
        </p:spPr>
        <p:txBody>
          <a:bodyPr wrap="square" rtlCol="0" anchor="ctr"/>
          <a:lstStyle/>
          <a:p>
            <a:pPr marL="0" indent="0">
              <a:buNone/>
            </a:pPr>
            <a:r>
              <a:rPr lang="en-US" sz="1100" b="1" kern="0" spc="300" dirty="0">
                <a:solidFill>
                  <a:srgbClr val="C9A227"/>
                </a:solidFill>
                <a:latin typeface="Calibri" pitchFamily="34" charset="0"/>
                <a:ea typeface="Calibri" pitchFamily="34" charset="-122"/>
                <a:cs typeface="Calibri" pitchFamily="34" charset="-120"/>
              </a:rPr>
              <a:t>BRIGHTTV  ·  CUSTOMER VALUE MANAGEMENT</a:t>
            </a:r>
            <a:endParaRPr lang="en-US" sz="1100" dirty="0"/>
          </a:p>
        </p:txBody>
      </p:sp>
      <p:sp>
        <p:nvSpPr>
          <p:cNvPr id="9" name="Text 6"/>
          <p:cNvSpPr/>
          <p:nvPr/>
        </p:nvSpPr>
        <p:spPr>
          <a:xfrm>
            <a:off x="822960" y="1920240"/>
            <a:ext cx="7315200" cy="914400"/>
          </a:xfrm>
          <a:prstGeom prst="rect">
            <a:avLst/>
          </a:prstGeom>
          <a:noFill/>
          <a:ln/>
        </p:spPr>
        <p:txBody>
          <a:bodyPr wrap="square"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Viewership Analytics</a:t>
            </a:r>
            <a:endParaRPr lang="en-US" sz="5200" dirty="0"/>
          </a:p>
        </p:txBody>
      </p:sp>
      <p:sp>
        <p:nvSpPr>
          <p:cNvPr id="10" name="Text 7"/>
          <p:cNvSpPr/>
          <p:nvPr/>
        </p:nvSpPr>
        <p:spPr>
          <a:xfrm>
            <a:off x="822960" y="2880360"/>
            <a:ext cx="7315200" cy="457200"/>
          </a:xfrm>
          <a:prstGeom prst="rect">
            <a:avLst/>
          </a:prstGeom>
          <a:noFill/>
          <a:ln/>
        </p:spPr>
        <p:txBody>
          <a:bodyPr wrap="square" rtlCol="0" anchor="ctr"/>
          <a:lstStyle/>
          <a:p>
            <a:pPr marL="0" indent="0">
              <a:buNone/>
            </a:pPr>
            <a:r>
              <a:rPr lang="en-US" sz="2000" dirty="0">
                <a:solidFill>
                  <a:srgbClr val="BFD3EC"/>
                </a:solidFill>
                <a:latin typeface="Calibri" pitchFamily="34" charset="0"/>
                <a:ea typeface="Calibri" pitchFamily="34" charset="-122"/>
                <a:cs typeface="Calibri" pitchFamily="34" charset="-120"/>
              </a:rPr>
              <a:t>End-to-End Business Intelligence Solution</a:t>
            </a:r>
            <a:endParaRPr lang="en-US" sz="2000" dirty="0"/>
          </a:p>
        </p:txBody>
      </p:sp>
      <p:sp>
        <p:nvSpPr>
          <p:cNvPr id="11" name="Text 8"/>
          <p:cNvSpPr/>
          <p:nvPr/>
        </p:nvSpPr>
        <p:spPr>
          <a:xfrm>
            <a:off x="822960" y="3474720"/>
            <a:ext cx="6583680" cy="548640"/>
          </a:xfrm>
          <a:prstGeom prst="rect">
            <a:avLst/>
          </a:prstGeom>
          <a:noFill/>
          <a:ln/>
        </p:spPr>
        <p:txBody>
          <a:bodyPr wrap="square" rtlCol="0" anchor="ctr"/>
          <a:lstStyle/>
          <a:p>
            <a:pPr marL="0" indent="0">
              <a:buNone/>
            </a:pPr>
            <a:r>
              <a:rPr lang="en-US" sz="1300" i="1" dirty="0">
                <a:solidFill>
                  <a:srgbClr val="8FAAC9"/>
                </a:solidFill>
                <a:latin typeface="Calibri" pitchFamily="34" charset="0"/>
                <a:ea typeface="Calibri" pitchFamily="34" charset="-122"/>
                <a:cs typeface="Calibri" pitchFamily="34" charset="-120"/>
              </a:rPr>
              <a:t>Growing the subscriber base and deepening engagement through evidence, not instinct.</a:t>
            </a:r>
            <a:endParaRPr lang="en-US" sz="1300" dirty="0"/>
          </a:p>
        </p:txBody>
      </p:sp>
      <p:sp>
        <p:nvSpPr>
          <p:cNvPr id="12" name="Shape 9"/>
          <p:cNvSpPr/>
          <p:nvPr/>
        </p:nvSpPr>
        <p:spPr>
          <a:xfrm>
            <a:off x="822960" y="4343400"/>
            <a:ext cx="6035040" cy="13716"/>
          </a:xfrm>
          <a:prstGeom prst="rect">
            <a:avLst/>
          </a:prstGeom>
          <a:solidFill>
            <a:srgbClr val="2A4A76"/>
          </a:solidFill>
          <a:ln/>
        </p:spPr>
        <p:txBody>
          <a:bodyPr/>
          <a:lstStyle/>
          <a:p>
            <a:endParaRPr lang="en-ZA"/>
          </a:p>
        </p:txBody>
      </p:sp>
      <p:sp>
        <p:nvSpPr>
          <p:cNvPr id="13" name="Text 10"/>
          <p:cNvSpPr/>
          <p:nvPr/>
        </p:nvSpPr>
        <p:spPr>
          <a:xfrm>
            <a:off x="822960" y="4572000"/>
            <a:ext cx="2011680" cy="201168"/>
          </a:xfrm>
          <a:prstGeom prst="rect">
            <a:avLst/>
          </a:prstGeom>
          <a:noFill/>
          <a:ln/>
        </p:spPr>
        <p:txBody>
          <a:bodyPr wrap="square" rtlCol="0" anchor="ctr"/>
          <a:lstStyle/>
          <a:p>
            <a:pPr marL="0" indent="0">
              <a:buNone/>
            </a:pPr>
            <a:r>
              <a:rPr lang="en-US" sz="900" b="1" kern="0" spc="150" dirty="0">
                <a:solidFill>
                  <a:srgbClr val="C9A227"/>
                </a:solidFill>
                <a:latin typeface="Calibri" pitchFamily="34" charset="0"/>
                <a:ea typeface="Calibri" pitchFamily="34" charset="-122"/>
                <a:cs typeface="Calibri" pitchFamily="34" charset="-120"/>
              </a:rPr>
              <a:t>PRESENTED BY</a:t>
            </a:r>
            <a:endParaRPr lang="en-US" sz="900" dirty="0"/>
          </a:p>
        </p:txBody>
      </p:sp>
      <p:sp>
        <p:nvSpPr>
          <p:cNvPr id="14" name="Text 11"/>
          <p:cNvSpPr/>
          <p:nvPr/>
        </p:nvSpPr>
        <p:spPr>
          <a:xfrm>
            <a:off x="822960" y="4800600"/>
            <a:ext cx="201168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Mashudu </a:t>
            </a:r>
            <a:r>
              <a:rPr lang="en-US" sz="1250" b="1" dirty="0" err="1">
                <a:solidFill>
                  <a:srgbClr val="FFFFFF"/>
                </a:solidFill>
                <a:latin typeface="Calibri" pitchFamily="34" charset="0"/>
                <a:ea typeface="Calibri" pitchFamily="34" charset="-122"/>
                <a:cs typeface="Calibri" pitchFamily="34" charset="-120"/>
              </a:rPr>
              <a:t>Sivhada</a:t>
            </a:r>
            <a:endParaRPr lang="en-US" sz="1250" dirty="0"/>
          </a:p>
        </p:txBody>
      </p:sp>
      <p:sp>
        <p:nvSpPr>
          <p:cNvPr id="15" name="Text 12"/>
          <p:cNvSpPr/>
          <p:nvPr/>
        </p:nvSpPr>
        <p:spPr>
          <a:xfrm>
            <a:off x="2926080" y="4572000"/>
            <a:ext cx="2011680" cy="201168"/>
          </a:xfrm>
          <a:prstGeom prst="rect">
            <a:avLst/>
          </a:prstGeom>
          <a:noFill/>
          <a:ln/>
        </p:spPr>
        <p:txBody>
          <a:bodyPr wrap="square" rtlCol="0" anchor="ctr"/>
          <a:lstStyle/>
          <a:p>
            <a:pPr marL="0" indent="0">
              <a:buNone/>
            </a:pPr>
            <a:r>
              <a:rPr lang="en-US" sz="900" b="1" kern="0" spc="150" dirty="0">
                <a:solidFill>
                  <a:srgbClr val="C9A227"/>
                </a:solidFill>
                <a:latin typeface="Calibri" pitchFamily="34" charset="0"/>
                <a:ea typeface="Calibri" pitchFamily="34" charset="-122"/>
                <a:cs typeface="Calibri" pitchFamily="34" charset="-120"/>
              </a:rPr>
              <a:t>ROLE</a:t>
            </a:r>
            <a:endParaRPr lang="en-US" sz="900" dirty="0"/>
          </a:p>
        </p:txBody>
      </p:sp>
      <p:sp>
        <p:nvSpPr>
          <p:cNvPr id="16" name="Text 13"/>
          <p:cNvSpPr/>
          <p:nvPr/>
        </p:nvSpPr>
        <p:spPr>
          <a:xfrm>
            <a:off x="2926080" y="4800600"/>
            <a:ext cx="201168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Data Analyst · Business Intelligence</a:t>
            </a:r>
            <a:endParaRPr lang="en-US" sz="1250" dirty="0"/>
          </a:p>
        </p:txBody>
      </p:sp>
      <p:sp>
        <p:nvSpPr>
          <p:cNvPr id="17" name="Text 14"/>
          <p:cNvSpPr/>
          <p:nvPr/>
        </p:nvSpPr>
        <p:spPr>
          <a:xfrm>
            <a:off x="5029200" y="4572000"/>
            <a:ext cx="2011680" cy="201168"/>
          </a:xfrm>
          <a:prstGeom prst="rect">
            <a:avLst/>
          </a:prstGeom>
          <a:noFill/>
          <a:ln/>
        </p:spPr>
        <p:txBody>
          <a:bodyPr wrap="square" rtlCol="0" anchor="ctr"/>
          <a:lstStyle/>
          <a:p>
            <a:pPr marL="0" indent="0">
              <a:buNone/>
            </a:pPr>
            <a:r>
              <a:rPr lang="en-US" sz="900" b="1" kern="0" spc="150" dirty="0">
                <a:solidFill>
                  <a:srgbClr val="C9A227"/>
                </a:solidFill>
                <a:latin typeface="Calibri" pitchFamily="34" charset="0"/>
                <a:ea typeface="Calibri" pitchFamily="34" charset="-122"/>
                <a:cs typeface="Calibri" pitchFamily="34" charset="-120"/>
              </a:rPr>
              <a:t>DATE</a:t>
            </a:r>
            <a:endParaRPr lang="en-US" sz="900" dirty="0"/>
          </a:p>
        </p:txBody>
      </p:sp>
      <p:sp>
        <p:nvSpPr>
          <p:cNvPr id="18" name="Text 15"/>
          <p:cNvSpPr/>
          <p:nvPr/>
        </p:nvSpPr>
        <p:spPr>
          <a:xfrm>
            <a:off x="5029200" y="4800600"/>
            <a:ext cx="201168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July 2026</a:t>
            </a:r>
            <a:endParaRPr lang="en-US" sz="1250" dirty="0"/>
          </a:p>
        </p:txBody>
      </p:sp>
      <p:sp>
        <p:nvSpPr>
          <p:cNvPr id="19" name="Text 16"/>
          <p:cNvSpPr/>
          <p:nvPr/>
        </p:nvSpPr>
        <p:spPr>
          <a:xfrm>
            <a:off x="822960" y="6035040"/>
            <a:ext cx="5486400" cy="274320"/>
          </a:xfrm>
          <a:prstGeom prst="rect">
            <a:avLst/>
          </a:prstGeom>
          <a:noFill/>
          <a:ln/>
        </p:spPr>
        <p:txBody>
          <a:bodyPr wrap="square" rtlCol="0" anchor="ctr"/>
          <a:lstStyle/>
          <a:p>
            <a:pPr marL="0" indent="0">
              <a:buNone/>
            </a:pPr>
            <a:r>
              <a:rPr lang="en-US" sz="1000" kern="0" spc="100" dirty="0">
                <a:solidFill>
                  <a:srgbClr val="6E8CB0"/>
                </a:solidFill>
                <a:latin typeface="Calibri" pitchFamily="34" charset="0"/>
                <a:ea typeface="Calibri" pitchFamily="34" charset="-122"/>
                <a:cs typeface="Calibri" pitchFamily="34" charset="-120"/>
              </a:rPr>
              <a:t>Executive Briefing  ·  Board Level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02</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Executive Summary</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01</a:t>
            </a:r>
            <a:endParaRPr lang="en-US" sz="900" dirty="0"/>
          </a:p>
        </p:txBody>
      </p:sp>
      <p:sp>
        <p:nvSpPr>
          <p:cNvPr id="9" name="Shape 6"/>
          <p:cNvSpPr/>
          <p:nvPr/>
        </p:nvSpPr>
        <p:spPr>
          <a:xfrm>
            <a:off x="502920" y="1572768"/>
            <a:ext cx="2697480" cy="4206240"/>
          </a:xfrm>
          <a:prstGeom prst="roundRect">
            <a:avLst>
              <a:gd name="adj" fmla="val 2034"/>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572768"/>
            <a:ext cx="2697480" cy="64008"/>
          </a:xfrm>
          <a:prstGeom prst="rect">
            <a:avLst/>
          </a:prstGeom>
          <a:solidFill>
            <a:srgbClr val="1565C0"/>
          </a:solidFill>
          <a:ln/>
        </p:spPr>
        <p:txBody>
          <a:bodyPr/>
          <a:lstStyle/>
          <a:p>
            <a:endParaRPr lang="en-ZA"/>
          </a:p>
        </p:txBody>
      </p:sp>
      <p:sp>
        <p:nvSpPr>
          <p:cNvPr id="11" name="Shape 8"/>
          <p:cNvSpPr/>
          <p:nvPr/>
        </p:nvSpPr>
        <p:spPr>
          <a:xfrm>
            <a:off x="731520" y="1828800"/>
            <a:ext cx="566928" cy="566928"/>
          </a:xfrm>
          <a:prstGeom prst="ellipse">
            <a:avLst/>
          </a:prstGeom>
          <a:solidFill>
            <a:srgbClr val="1565C0"/>
          </a:solidFill>
          <a:ln/>
        </p:spPr>
        <p:txBody>
          <a:bodyPr/>
          <a:lstStyle/>
          <a:p>
            <a:endParaRPr lang="en-ZA"/>
          </a:p>
        </p:txBody>
      </p:sp>
      <p:sp>
        <p:nvSpPr>
          <p:cNvPr id="12" name="Text 9"/>
          <p:cNvSpPr/>
          <p:nvPr/>
        </p:nvSpPr>
        <p:spPr>
          <a:xfrm>
            <a:off x="731520" y="1929384"/>
            <a:ext cx="566928" cy="36576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01</a:t>
            </a:r>
            <a:endParaRPr lang="en-US" sz="1500" dirty="0"/>
          </a:p>
        </p:txBody>
      </p:sp>
      <p:sp>
        <p:nvSpPr>
          <p:cNvPr id="13" name="Text 10"/>
          <p:cNvSpPr/>
          <p:nvPr/>
        </p:nvSpPr>
        <p:spPr>
          <a:xfrm>
            <a:off x="731520" y="2560320"/>
            <a:ext cx="2240280" cy="365760"/>
          </a:xfrm>
          <a:prstGeom prst="rect">
            <a:avLst/>
          </a:prstGeom>
          <a:noFill/>
          <a:ln/>
        </p:spPr>
        <p:txBody>
          <a:bodyPr wrap="square" rtlCol="0" anchor="ctr"/>
          <a:lstStyle/>
          <a:p>
            <a:pPr marL="0" indent="0">
              <a:buNone/>
            </a:pPr>
            <a:r>
              <a:rPr lang="en-US" sz="1600" b="1" dirty="0">
                <a:solidFill>
                  <a:srgbClr val="0B1F3A"/>
                </a:solidFill>
                <a:latin typeface="Trebuchet MS" pitchFamily="34" charset="0"/>
                <a:ea typeface="Trebuchet MS" pitchFamily="34" charset="-122"/>
                <a:cs typeface="Trebuchet MS" pitchFamily="34" charset="-120"/>
              </a:rPr>
              <a:t>Business Problem</a:t>
            </a:r>
            <a:endParaRPr lang="en-US" sz="1600" dirty="0"/>
          </a:p>
        </p:txBody>
      </p:sp>
      <p:sp>
        <p:nvSpPr>
          <p:cNvPr id="14" name="Text 11"/>
          <p:cNvSpPr/>
          <p:nvPr/>
        </p:nvSpPr>
        <p:spPr>
          <a:xfrm>
            <a:off x="731520" y="3017520"/>
            <a:ext cx="2240280" cy="2468880"/>
          </a:xfrm>
          <a:prstGeom prst="rect">
            <a:avLst/>
          </a:prstGeom>
          <a:noFill/>
          <a:ln/>
        </p:spPr>
        <p:txBody>
          <a:bodyPr wrap="square" rtlCol="0" anchor="t"/>
          <a:lstStyle/>
          <a:p>
            <a:pPr marL="0" indent="0">
              <a:lnSpc>
                <a:spcPts val="1700"/>
              </a:lnSpc>
              <a:buNone/>
            </a:pPr>
            <a:r>
              <a:rPr lang="en-US" sz="1200" dirty="0">
                <a:solidFill>
                  <a:srgbClr val="44566E"/>
                </a:solidFill>
                <a:latin typeface="Calibri" pitchFamily="34" charset="0"/>
                <a:ea typeface="Calibri" pitchFamily="34" charset="-122"/>
                <a:cs typeface="Calibri" pitchFamily="34" charset="-120"/>
              </a:rPr>
              <a:t>Leadership lacked a single, trusted view of who watches BrightTV, when, and for how long — so subscriber growth and retention decisions were made on instinct.</a:t>
            </a:r>
            <a:endParaRPr lang="en-US" sz="1200" dirty="0"/>
          </a:p>
        </p:txBody>
      </p:sp>
      <p:sp>
        <p:nvSpPr>
          <p:cNvPr id="15" name="Shape 12"/>
          <p:cNvSpPr/>
          <p:nvPr/>
        </p:nvSpPr>
        <p:spPr>
          <a:xfrm>
            <a:off x="3364992" y="1572768"/>
            <a:ext cx="2697480" cy="4206240"/>
          </a:xfrm>
          <a:prstGeom prst="roundRect">
            <a:avLst>
              <a:gd name="adj" fmla="val 2034"/>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6" name="Shape 13"/>
          <p:cNvSpPr/>
          <p:nvPr/>
        </p:nvSpPr>
        <p:spPr>
          <a:xfrm>
            <a:off x="3364992" y="1572768"/>
            <a:ext cx="2697480" cy="64008"/>
          </a:xfrm>
          <a:prstGeom prst="rect">
            <a:avLst/>
          </a:prstGeom>
          <a:solidFill>
            <a:srgbClr val="42A5F5"/>
          </a:solidFill>
          <a:ln/>
        </p:spPr>
        <p:txBody>
          <a:bodyPr/>
          <a:lstStyle/>
          <a:p>
            <a:endParaRPr lang="en-ZA"/>
          </a:p>
        </p:txBody>
      </p:sp>
      <p:sp>
        <p:nvSpPr>
          <p:cNvPr id="17" name="Shape 14"/>
          <p:cNvSpPr/>
          <p:nvPr/>
        </p:nvSpPr>
        <p:spPr>
          <a:xfrm>
            <a:off x="3593592" y="1828800"/>
            <a:ext cx="566928" cy="566928"/>
          </a:xfrm>
          <a:prstGeom prst="ellipse">
            <a:avLst/>
          </a:prstGeom>
          <a:solidFill>
            <a:srgbClr val="42A5F5"/>
          </a:solidFill>
          <a:ln/>
        </p:spPr>
        <p:txBody>
          <a:bodyPr/>
          <a:lstStyle/>
          <a:p>
            <a:endParaRPr lang="en-ZA"/>
          </a:p>
        </p:txBody>
      </p:sp>
      <p:sp>
        <p:nvSpPr>
          <p:cNvPr id="18" name="Text 15"/>
          <p:cNvSpPr/>
          <p:nvPr/>
        </p:nvSpPr>
        <p:spPr>
          <a:xfrm>
            <a:off x="3593592" y="1929384"/>
            <a:ext cx="566928" cy="36576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02</a:t>
            </a:r>
            <a:endParaRPr lang="en-US" sz="1500" dirty="0"/>
          </a:p>
        </p:txBody>
      </p:sp>
      <p:sp>
        <p:nvSpPr>
          <p:cNvPr id="19" name="Text 16"/>
          <p:cNvSpPr/>
          <p:nvPr/>
        </p:nvSpPr>
        <p:spPr>
          <a:xfrm>
            <a:off x="3593592" y="2560320"/>
            <a:ext cx="2240280" cy="365760"/>
          </a:xfrm>
          <a:prstGeom prst="rect">
            <a:avLst/>
          </a:prstGeom>
          <a:noFill/>
          <a:ln/>
        </p:spPr>
        <p:txBody>
          <a:bodyPr wrap="square" rtlCol="0" anchor="ctr"/>
          <a:lstStyle/>
          <a:p>
            <a:pPr marL="0" indent="0">
              <a:buNone/>
            </a:pPr>
            <a:r>
              <a:rPr lang="en-US" sz="1600" b="1" dirty="0">
                <a:solidFill>
                  <a:srgbClr val="0B1F3A"/>
                </a:solidFill>
                <a:latin typeface="Trebuchet MS" pitchFamily="34" charset="0"/>
                <a:ea typeface="Trebuchet MS" pitchFamily="34" charset="-122"/>
                <a:cs typeface="Trebuchet MS" pitchFamily="34" charset="-120"/>
              </a:rPr>
              <a:t>Approach</a:t>
            </a:r>
            <a:endParaRPr lang="en-US" sz="1600" dirty="0"/>
          </a:p>
        </p:txBody>
      </p:sp>
      <p:sp>
        <p:nvSpPr>
          <p:cNvPr id="20" name="Text 17"/>
          <p:cNvSpPr/>
          <p:nvPr/>
        </p:nvSpPr>
        <p:spPr>
          <a:xfrm>
            <a:off x="3593592" y="3017520"/>
            <a:ext cx="2240280" cy="2468880"/>
          </a:xfrm>
          <a:prstGeom prst="rect">
            <a:avLst/>
          </a:prstGeom>
          <a:noFill/>
          <a:ln/>
        </p:spPr>
        <p:txBody>
          <a:bodyPr wrap="square" rtlCol="0" anchor="t"/>
          <a:lstStyle/>
          <a:p>
            <a:pPr marL="0" indent="0">
              <a:lnSpc>
                <a:spcPts val="1700"/>
              </a:lnSpc>
              <a:buNone/>
            </a:pPr>
            <a:r>
              <a:rPr lang="en-US" sz="1200" dirty="0">
                <a:solidFill>
                  <a:srgbClr val="44566E"/>
                </a:solidFill>
                <a:latin typeface="Calibri" pitchFamily="34" charset="0"/>
                <a:ea typeface="Calibri" pitchFamily="34" charset="-122"/>
                <a:cs typeface="Calibri" pitchFamily="34" charset="-120"/>
              </a:rPr>
              <a:t>SQL engineering over 9,980 viewing sessions joined to user profiles, feature-engineered into an analytical dataset and surfaced through Excel, Power BI, Looker Studio and a live Lovable app.</a:t>
            </a:r>
            <a:endParaRPr lang="en-US" sz="1200" dirty="0"/>
          </a:p>
        </p:txBody>
      </p:sp>
      <p:sp>
        <p:nvSpPr>
          <p:cNvPr id="21" name="Shape 18"/>
          <p:cNvSpPr/>
          <p:nvPr/>
        </p:nvSpPr>
        <p:spPr>
          <a:xfrm>
            <a:off x="6227064" y="1572768"/>
            <a:ext cx="2697480" cy="4206240"/>
          </a:xfrm>
          <a:prstGeom prst="roundRect">
            <a:avLst>
              <a:gd name="adj" fmla="val 2034"/>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2" name="Shape 19"/>
          <p:cNvSpPr/>
          <p:nvPr/>
        </p:nvSpPr>
        <p:spPr>
          <a:xfrm>
            <a:off x="6227064" y="1572768"/>
            <a:ext cx="2697480" cy="64008"/>
          </a:xfrm>
          <a:prstGeom prst="rect">
            <a:avLst/>
          </a:prstGeom>
          <a:solidFill>
            <a:srgbClr val="C9A227"/>
          </a:solidFill>
          <a:ln/>
        </p:spPr>
        <p:txBody>
          <a:bodyPr/>
          <a:lstStyle/>
          <a:p>
            <a:endParaRPr lang="en-ZA"/>
          </a:p>
        </p:txBody>
      </p:sp>
      <p:sp>
        <p:nvSpPr>
          <p:cNvPr id="23" name="Shape 20"/>
          <p:cNvSpPr/>
          <p:nvPr/>
        </p:nvSpPr>
        <p:spPr>
          <a:xfrm>
            <a:off x="6455664" y="1828800"/>
            <a:ext cx="566928" cy="566928"/>
          </a:xfrm>
          <a:prstGeom prst="ellipse">
            <a:avLst/>
          </a:prstGeom>
          <a:solidFill>
            <a:srgbClr val="C9A227"/>
          </a:solidFill>
          <a:ln/>
        </p:spPr>
        <p:txBody>
          <a:bodyPr/>
          <a:lstStyle/>
          <a:p>
            <a:endParaRPr lang="en-ZA"/>
          </a:p>
        </p:txBody>
      </p:sp>
      <p:sp>
        <p:nvSpPr>
          <p:cNvPr id="24" name="Text 21"/>
          <p:cNvSpPr/>
          <p:nvPr/>
        </p:nvSpPr>
        <p:spPr>
          <a:xfrm>
            <a:off x="6455664" y="1929384"/>
            <a:ext cx="566928" cy="36576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03</a:t>
            </a:r>
            <a:endParaRPr lang="en-US" sz="1500" dirty="0"/>
          </a:p>
        </p:txBody>
      </p:sp>
      <p:sp>
        <p:nvSpPr>
          <p:cNvPr id="25" name="Text 22"/>
          <p:cNvSpPr/>
          <p:nvPr/>
        </p:nvSpPr>
        <p:spPr>
          <a:xfrm>
            <a:off x="6455664" y="2560320"/>
            <a:ext cx="2240280" cy="365760"/>
          </a:xfrm>
          <a:prstGeom prst="rect">
            <a:avLst/>
          </a:prstGeom>
          <a:noFill/>
          <a:ln/>
        </p:spPr>
        <p:txBody>
          <a:bodyPr wrap="square" rtlCol="0" anchor="ctr"/>
          <a:lstStyle/>
          <a:p>
            <a:pPr marL="0" indent="0">
              <a:buNone/>
            </a:pPr>
            <a:r>
              <a:rPr lang="en-US" sz="1600" b="1" dirty="0">
                <a:solidFill>
                  <a:srgbClr val="0B1F3A"/>
                </a:solidFill>
                <a:latin typeface="Trebuchet MS" pitchFamily="34" charset="0"/>
                <a:ea typeface="Trebuchet MS" pitchFamily="34" charset="-122"/>
                <a:cs typeface="Trebuchet MS" pitchFamily="34" charset="-120"/>
              </a:rPr>
              <a:t>Key Findings</a:t>
            </a:r>
            <a:endParaRPr lang="en-US" sz="1600" dirty="0"/>
          </a:p>
        </p:txBody>
      </p:sp>
      <p:sp>
        <p:nvSpPr>
          <p:cNvPr id="26" name="Text 23"/>
          <p:cNvSpPr/>
          <p:nvPr/>
        </p:nvSpPr>
        <p:spPr>
          <a:xfrm>
            <a:off x="6455664" y="3017520"/>
            <a:ext cx="2240280" cy="2468880"/>
          </a:xfrm>
          <a:prstGeom prst="rect">
            <a:avLst/>
          </a:prstGeom>
          <a:noFill/>
          <a:ln/>
        </p:spPr>
        <p:txBody>
          <a:bodyPr wrap="square" rtlCol="0" anchor="t"/>
          <a:lstStyle/>
          <a:p>
            <a:pPr marL="0" indent="0">
              <a:lnSpc>
                <a:spcPts val="1700"/>
              </a:lnSpc>
              <a:buNone/>
            </a:pPr>
            <a:r>
              <a:rPr lang="en-US" sz="1200" dirty="0">
                <a:solidFill>
                  <a:srgbClr val="44566E"/>
                </a:solidFill>
                <a:latin typeface="Calibri" pitchFamily="34" charset="0"/>
                <a:ea typeface="Calibri" pitchFamily="34" charset="-122"/>
                <a:cs typeface="Calibri" pitchFamily="34" charset="-120"/>
              </a:rPr>
              <a:t>Sessions grew 119% Jan→Mar. Sport drives 41% of viewing. 88% of viewers are male, 41% Early Adults, 37% Gauteng. Average session is only 9.2 minutes.</a:t>
            </a:r>
            <a:endParaRPr lang="en-US" sz="1200" dirty="0"/>
          </a:p>
        </p:txBody>
      </p:sp>
      <p:sp>
        <p:nvSpPr>
          <p:cNvPr id="27" name="Shape 24"/>
          <p:cNvSpPr/>
          <p:nvPr/>
        </p:nvSpPr>
        <p:spPr>
          <a:xfrm>
            <a:off x="9089136" y="1572768"/>
            <a:ext cx="2697480" cy="4206240"/>
          </a:xfrm>
          <a:prstGeom prst="roundRect">
            <a:avLst>
              <a:gd name="adj" fmla="val 2034"/>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8" name="Shape 25"/>
          <p:cNvSpPr/>
          <p:nvPr/>
        </p:nvSpPr>
        <p:spPr>
          <a:xfrm>
            <a:off x="9089136" y="1572768"/>
            <a:ext cx="2697480" cy="64008"/>
          </a:xfrm>
          <a:prstGeom prst="rect">
            <a:avLst/>
          </a:prstGeom>
          <a:solidFill>
            <a:srgbClr val="0B1F3A"/>
          </a:solidFill>
          <a:ln/>
        </p:spPr>
        <p:txBody>
          <a:bodyPr/>
          <a:lstStyle/>
          <a:p>
            <a:endParaRPr lang="en-ZA"/>
          </a:p>
        </p:txBody>
      </p:sp>
      <p:sp>
        <p:nvSpPr>
          <p:cNvPr id="29" name="Shape 26"/>
          <p:cNvSpPr/>
          <p:nvPr/>
        </p:nvSpPr>
        <p:spPr>
          <a:xfrm>
            <a:off x="9317736" y="1828800"/>
            <a:ext cx="566928" cy="566928"/>
          </a:xfrm>
          <a:prstGeom prst="ellipse">
            <a:avLst/>
          </a:prstGeom>
          <a:solidFill>
            <a:srgbClr val="0B1F3A"/>
          </a:solidFill>
          <a:ln/>
        </p:spPr>
        <p:txBody>
          <a:bodyPr/>
          <a:lstStyle/>
          <a:p>
            <a:endParaRPr lang="en-ZA"/>
          </a:p>
        </p:txBody>
      </p:sp>
      <p:sp>
        <p:nvSpPr>
          <p:cNvPr id="30" name="Text 27"/>
          <p:cNvSpPr/>
          <p:nvPr/>
        </p:nvSpPr>
        <p:spPr>
          <a:xfrm>
            <a:off x="9317736" y="1929384"/>
            <a:ext cx="566928" cy="36576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04</a:t>
            </a:r>
            <a:endParaRPr lang="en-US" sz="1500" dirty="0"/>
          </a:p>
        </p:txBody>
      </p:sp>
      <p:sp>
        <p:nvSpPr>
          <p:cNvPr id="31" name="Text 28"/>
          <p:cNvSpPr/>
          <p:nvPr/>
        </p:nvSpPr>
        <p:spPr>
          <a:xfrm>
            <a:off x="9317736" y="2560320"/>
            <a:ext cx="2240280" cy="365760"/>
          </a:xfrm>
          <a:prstGeom prst="rect">
            <a:avLst/>
          </a:prstGeom>
          <a:noFill/>
          <a:ln/>
        </p:spPr>
        <p:txBody>
          <a:bodyPr wrap="square" rtlCol="0" anchor="ctr"/>
          <a:lstStyle/>
          <a:p>
            <a:pPr marL="0" indent="0">
              <a:buNone/>
            </a:pPr>
            <a:r>
              <a:rPr lang="en-US" sz="1600" b="1" dirty="0">
                <a:solidFill>
                  <a:srgbClr val="0B1F3A"/>
                </a:solidFill>
                <a:latin typeface="Trebuchet MS" pitchFamily="34" charset="0"/>
                <a:ea typeface="Trebuchet MS" pitchFamily="34" charset="-122"/>
                <a:cs typeface="Trebuchet MS" pitchFamily="34" charset="-120"/>
              </a:rPr>
              <a:t>Business Value</a:t>
            </a:r>
            <a:endParaRPr lang="en-US" sz="1600" dirty="0"/>
          </a:p>
        </p:txBody>
      </p:sp>
      <p:sp>
        <p:nvSpPr>
          <p:cNvPr id="32" name="Text 29"/>
          <p:cNvSpPr/>
          <p:nvPr/>
        </p:nvSpPr>
        <p:spPr>
          <a:xfrm>
            <a:off x="9317736" y="3017520"/>
            <a:ext cx="2240280" cy="2468880"/>
          </a:xfrm>
          <a:prstGeom prst="rect">
            <a:avLst/>
          </a:prstGeom>
          <a:noFill/>
          <a:ln/>
        </p:spPr>
        <p:txBody>
          <a:bodyPr wrap="square" rtlCol="0" anchor="t"/>
          <a:lstStyle/>
          <a:p>
            <a:pPr marL="0" indent="0">
              <a:lnSpc>
                <a:spcPts val="1700"/>
              </a:lnSpc>
              <a:buNone/>
            </a:pPr>
            <a:r>
              <a:rPr lang="en-US" sz="1200" dirty="0">
                <a:solidFill>
                  <a:srgbClr val="44566E"/>
                </a:solidFill>
                <a:latin typeface="Calibri" pitchFamily="34" charset="0"/>
                <a:ea typeface="Calibri" pitchFamily="34" charset="-122"/>
                <a:cs typeface="Calibri" pitchFamily="34" charset="-120"/>
              </a:rPr>
              <a:t>A repeatable insight engine plus four prioritised interventions targeting session length, audience diversification and content concentration risk.</a:t>
            </a:r>
            <a:endParaRPr lang="en-US" sz="1200" dirty="0"/>
          </a:p>
        </p:txBody>
      </p:sp>
      <p:sp>
        <p:nvSpPr>
          <p:cNvPr id="33" name="Shape 30"/>
          <p:cNvSpPr/>
          <p:nvPr/>
        </p:nvSpPr>
        <p:spPr>
          <a:xfrm>
            <a:off x="502920" y="5897880"/>
            <a:ext cx="11155680" cy="457200"/>
          </a:xfrm>
          <a:prstGeom prst="roundRect">
            <a:avLst>
              <a:gd name="adj" fmla="val 10000"/>
            </a:avLst>
          </a:prstGeom>
          <a:solidFill>
            <a:srgbClr val="F4F6FA"/>
          </a:solidFill>
          <a:ln w="12700">
            <a:solidFill>
              <a:srgbClr val="DDE3EC"/>
            </a:solidFill>
            <a:prstDash val="solid"/>
          </a:ln>
        </p:spPr>
        <p:txBody>
          <a:bodyPr/>
          <a:lstStyle/>
          <a:p>
            <a:endParaRPr lang="en-ZA"/>
          </a:p>
        </p:txBody>
      </p:sp>
      <p:sp>
        <p:nvSpPr>
          <p:cNvPr id="34" name="Text 31"/>
          <p:cNvSpPr/>
          <p:nvPr/>
        </p:nvSpPr>
        <p:spPr>
          <a:xfrm>
            <a:off x="777240" y="5943600"/>
            <a:ext cx="10607040" cy="365760"/>
          </a:xfrm>
          <a:prstGeom prst="rect">
            <a:avLst/>
          </a:prstGeom>
          <a:noFill/>
          <a:ln/>
        </p:spPr>
        <p:txBody>
          <a:bodyPr wrap="square"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The ask:  </a:t>
            </a:r>
            <a:r>
              <a:rPr lang="en-US" sz="1250" dirty="0">
                <a:solidFill>
                  <a:srgbClr val="44566E"/>
                </a:solidFill>
                <a:latin typeface="Calibri" pitchFamily="34" charset="0"/>
                <a:ea typeface="Calibri" pitchFamily="34" charset="-122"/>
                <a:cs typeface="Calibri" pitchFamily="34" charset="-120"/>
              </a:rPr>
              <a:t>approve a sport-anchored retention play, a female and youth acquisition push, and a move from descriptive to predictive analytics in FY27.</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03</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The Business Problem</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02</a:t>
            </a:r>
            <a:endParaRPr lang="en-US" sz="900" dirty="0"/>
          </a:p>
        </p:txBody>
      </p:sp>
      <p:sp>
        <p:nvSpPr>
          <p:cNvPr id="9" name="Shape 6"/>
          <p:cNvSpPr/>
          <p:nvPr/>
        </p:nvSpPr>
        <p:spPr>
          <a:xfrm>
            <a:off x="502920" y="1554480"/>
            <a:ext cx="5394960" cy="2103120"/>
          </a:xfrm>
          <a:prstGeom prst="roundRect">
            <a:avLst>
              <a:gd name="adj" fmla="val 2609"/>
            </a:avLst>
          </a:prstGeom>
          <a:solidFill>
            <a:srgbClr val="FDF7E7"/>
          </a:solidFill>
          <a:ln w="12700">
            <a:solidFill>
              <a:srgbClr val="EBDCA8"/>
            </a:solidFill>
            <a:prstDash val="solid"/>
          </a:ln>
          <a:effectLst>
            <a:outerShdw blurRad="101600" dist="25400" dir="5400000" algn="bl" rotWithShape="0">
              <a:srgbClr val="8FA3BF">
                <a:alpha val="18000"/>
              </a:srgbClr>
            </a:outerShdw>
          </a:effectLst>
        </p:spPr>
        <p:txBody>
          <a:bodyPr/>
          <a:lstStyle/>
          <a:p>
            <a:endParaRPr lang="en-ZA"/>
          </a:p>
        </p:txBody>
      </p:sp>
      <p:sp>
        <p:nvSpPr>
          <p:cNvPr id="10" name="Text 7"/>
          <p:cNvSpPr/>
          <p:nvPr/>
        </p:nvSpPr>
        <p:spPr>
          <a:xfrm>
            <a:off x="777240" y="1737360"/>
            <a:ext cx="4846320" cy="228600"/>
          </a:xfrm>
          <a:prstGeom prst="rect">
            <a:avLst/>
          </a:prstGeom>
          <a:noFill/>
          <a:ln/>
        </p:spPr>
        <p:txBody>
          <a:bodyPr wrap="square" rtlCol="0" anchor="ctr"/>
          <a:lstStyle/>
          <a:p>
            <a:pPr marL="0" indent="0">
              <a:buNone/>
            </a:pPr>
            <a:r>
              <a:rPr lang="en-US" sz="1000" b="1" kern="0" spc="150" dirty="0">
                <a:solidFill>
                  <a:srgbClr val="C9A227"/>
                </a:solidFill>
                <a:latin typeface="Calibri" pitchFamily="34" charset="0"/>
                <a:ea typeface="Calibri" pitchFamily="34" charset="-122"/>
                <a:cs typeface="Calibri" pitchFamily="34" charset="-120"/>
              </a:rPr>
              <a:t>CURRENT CHALLENGE</a:t>
            </a:r>
            <a:endParaRPr lang="en-US" sz="1000" dirty="0"/>
          </a:p>
        </p:txBody>
      </p:sp>
      <p:sp>
        <p:nvSpPr>
          <p:cNvPr id="11" name="Text 8"/>
          <p:cNvSpPr/>
          <p:nvPr/>
        </p:nvSpPr>
        <p:spPr>
          <a:xfrm>
            <a:off x="777240" y="2029968"/>
            <a:ext cx="4846320" cy="1371600"/>
          </a:xfrm>
          <a:prstGeom prst="rect">
            <a:avLst/>
          </a:prstGeom>
          <a:noFill/>
          <a:ln/>
        </p:spPr>
        <p:txBody>
          <a:bodyPr wrap="square" rtlCol="0" anchor="ctr"/>
          <a:lstStyle/>
          <a:p>
            <a:pPr marL="0" indent="0">
              <a:lnSpc>
                <a:spcPts val="2100"/>
              </a:lnSpc>
              <a:buNone/>
            </a:pPr>
            <a:r>
              <a:rPr lang="en-US" sz="1350" dirty="0">
                <a:solidFill>
                  <a:srgbClr val="44566E"/>
                </a:solidFill>
                <a:latin typeface="Calibri" pitchFamily="34" charset="0"/>
                <a:ea typeface="Calibri" pitchFamily="34" charset="-122"/>
                <a:cs typeface="Calibri" pitchFamily="34" charset="-120"/>
              </a:rPr>
              <a:t>Viewership data sat unmodelled across raw session logs and user profiles. No shared definitions, no engagement baseline, no segment view — and therefore no defensible growth strategy.</a:t>
            </a:r>
            <a:endParaRPr lang="en-US" sz="1350" dirty="0"/>
          </a:p>
        </p:txBody>
      </p:sp>
      <p:sp>
        <p:nvSpPr>
          <p:cNvPr id="12" name="Shape 9"/>
          <p:cNvSpPr/>
          <p:nvPr/>
        </p:nvSpPr>
        <p:spPr>
          <a:xfrm>
            <a:off x="502920" y="3840480"/>
            <a:ext cx="5394960" cy="1920240"/>
          </a:xfrm>
          <a:prstGeom prst="roundRect">
            <a:avLst>
              <a:gd name="adj" fmla="val 285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3" name="Shape 10"/>
          <p:cNvSpPr/>
          <p:nvPr/>
        </p:nvSpPr>
        <p:spPr>
          <a:xfrm>
            <a:off x="502920" y="3840480"/>
            <a:ext cx="5394960" cy="45720"/>
          </a:xfrm>
          <a:prstGeom prst="rect">
            <a:avLst/>
          </a:prstGeom>
          <a:solidFill>
            <a:srgbClr val="1565C0"/>
          </a:solidFill>
          <a:ln/>
        </p:spPr>
        <p:txBody>
          <a:bodyPr/>
          <a:lstStyle/>
          <a:p>
            <a:endParaRPr lang="en-ZA"/>
          </a:p>
        </p:txBody>
      </p:sp>
      <p:sp>
        <p:nvSpPr>
          <p:cNvPr id="14" name="Text 11"/>
          <p:cNvSpPr/>
          <p:nvPr/>
        </p:nvSpPr>
        <p:spPr>
          <a:xfrm>
            <a:off x="704088" y="4005072"/>
            <a:ext cx="5029200" cy="292608"/>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Business Objectives</a:t>
            </a:r>
            <a:endParaRPr lang="en-US" sz="1400" dirty="0"/>
          </a:p>
        </p:txBody>
      </p:sp>
      <p:sp>
        <p:nvSpPr>
          <p:cNvPr id="15" name="Text 12"/>
          <p:cNvSpPr/>
          <p:nvPr/>
        </p:nvSpPr>
        <p:spPr>
          <a:xfrm>
            <a:off x="704088" y="4389120"/>
            <a:ext cx="4983480" cy="182880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Grow the paying subscriber base</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Increase engagement per viewing session</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Retain high-value, high-frequency viewers</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Target content and marketing spend with evidence</a:t>
            </a:r>
            <a:endParaRPr lang="en-US" sz="1200" dirty="0"/>
          </a:p>
        </p:txBody>
      </p:sp>
      <p:sp>
        <p:nvSpPr>
          <p:cNvPr id="16" name="Shape 13"/>
          <p:cNvSpPr/>
          <p:nvPr/>
        </p:nvSpPr>
        <p:spPr>
          <a:xfrm>
            <a:off x="6263640" y="1554480"/>
            <a:ext cx="5394960" cy="2103120"/>
          </a:xfrm>
          <a:prstGeom prst="roundRect">
            <a:avLst>
              <a:gd name="adj" fmla="val 2609"/>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7" name="Shape 14"/>
          <p:cNvSpPr/>
          <p:nvPr/>
        </p:nvSpPr>
        <p:spPr>
          <a:xfrm>
            <a:off x="6263640" y="1554480"/>
            <a:ext cx="5394960" cy="45720"/>
          </a:xfrm>
          <a:prstGeom prst="rect">
            <a:avLst/>
          </a:prstGeom>
          <a:solidFill>
            <a:srgbClr val="42A5F5"/>
          </a:solidFill>
          <a:ln/>
        </p:spPr>
        <p:txBody>
          <a:bodyPr/>
          <a:lstStyle/>
          <a:p>
            <a:endParaRPr lang="en-ZA"/>
          </a:p>
        </p:txBody>
      </p:sp>
      <p:sp>
        <p:nvSpPr>
          <p:cNvPr id="18" name="Text 15"/>
          <p:cNvSpPr/>
          <p:nvPr/>
        </p:nvSpPr>
        <p:spPr>
          <a:xfrm>
            <a:off x="6464808" y="1719072"/>
            <a:ext cx="5029200" cy="292608"/>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Questions We Had to Answer</a:t>
            </a:r>
            <a:endParaRPr lang="en-US" sz="1400" dirty="0"/>
          </a:p>
        </p:txBody>
      </p:sp>
      <p:sp>
        <p:nvSpPr>
          <p:cNvPr id="19" name="Text 16"/>
          <p:cNvSpPr/>
          <p:nvPr/>
        </p:nvSpPr>
        <p:spPr>
          <a:xfrm>
            <a:off x="6464808" y="2103120"/>
            <a:ext cx="4983480" cy="182880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Which channels command the most watch time — and which hold attention longest?</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When are our viewers actually available to watch?</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Who is watching, and who is missing from the audience?</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Where is engagement leaking away?</a:t>
            </a:r>
            <a:endParaRPr lang="en-US" sz="1200" dirty="0"/>
          </a:p>
        </p:txBody>
      </p:sp>
      <p:sp>
        <p:nvSpPr>
          <p:cNvPr id="20" name="Shape 17"/>
          <p:cNvSpPr/>
          <p:nvPr/>
        </p:nvSpPr>
        <p:spPr>
          <a:xfrm>
            <a:off x="6263640" y="3840480"/>
            <a:ext cx="5394960" cy="1920240"/>
          </a:xfrm>
          <a:prstGeom prst="roundRect">
            <a:avLst>
              <a:gd name="adj" fmla="val 285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1" name="Shape 18"/>
          <p:cNvSpPr/>
          <p:nvPr/>
        </p:nvSpPr>
        <p:spPr>
          <a:xfrm>
            <a:off x="6263640" y="3840480"/>
            <a:ext cx="5394960" cy="45720"/>
          </a:xfrm>
          <a:prstGeom prst="rect">
            <a:avLst/>
          </a:prstGeom>
          <a:solidFill>
            <a:srgbClr val="C9A227"/>
          </a:solidFill>
          <a:ln/>
        </p:spPr>
        <p:txBody>
          <a:bodyPr/>
          <a:lstStyle/>
          <a:p>
            <a:endParaRPr lang="en-ZA"/>
          </a:p>
        </p:txBody>
      </p:sp>
      <p:sp>
        <p:nvSpPr>
          <p:cNvPr id="22" name="Text 19"/>
          <p:cNvSpPr/>
          <p:nvPr/>
        </p:nvSpPr>
        <p:spPr>
          <a:xfrm>
            <a:off x="6464808" y="4005072"/>
            <a:ext cx="5029200" cy="292608"/>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Expected Outcomes</a:t>
            </a:r>
            <a:endParaRPr lang="en-US" sz="1400" dirty="0"/>
          </a:p>
        </p:txBody>
      </p:sp>
      <p:sp>
        <p:nvSpPr>
          <p:cNvPr id="23" name="Text 20"/>
          <p:cNvSpPr/>
          <p:nvPr/>
        </p:nvSpPr>
        <p:spPr>
          <a:xfrm>
            <a:off x="6464808" y="4389120"/>
            <a:ext cx="4983480" cy="182880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A single trusted analytical dataset</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Executive dashboards across four platforms</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Prioritised, costed business recommendations</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A repeatable monthly reporting rhythm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04</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Project Scope</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03</a:t>
            </a:r>
            <a:endParaRPr lang="en-US" sz="900" dirty="0"/>
          </a:p>
        </p:txBody>
      </p:sp>
      <p:sp>
        <p:nvSpPr>
          <p:cNvPr id="9" name="Shape 6"/>
          <p:cNvSpPr/>
          <p:nvPr/>
        </p:nvSpPr>
        <p:spPr>
          <a:xfrm>
            <a:off x="502920" y="160020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758952" y="1856232"/>
            <a:ext cx="457200" cy="457200"/>
          </a:xfrm>
          <a:prstGeom prst="roundRect">
            <a:avLst>
              <a:gd name="adj" fmla="val 20000"/>
            </a:avLst>
          </a:prstGeom>
          <a:solidFill>
            <a:srgbClr val="1565C0"/>
          </a:solidFill>
          <a:ln/>
        </p:spPr>
        <p:txBody>
          <a:bodyPr/>
          <a:lstStyle/>
          <a:p>
            <a:endParaRPr lang="en-ZA"/>
          </a:p>
        </p:txBody>
      </p:sp>
      <p:sp>
        <p:nvSpPr>
          <p:cNvPr id="11" name="Text 8"/>
          <p:cNvSpPr/>
          <p:nvPr/>
        </p:nvSpPr>
        <p:spPr>
          <a:xfrm>
            <a:off x="758952" y="192938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2" name="Text 9"/>
          <p:cNvSpPr/>
          <p:nvPr/>
        </p:nvSpPr>
        <p:spPr>
          <a:xfrm>
            <a:off x="1371600" y="189280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Business Understanding</a:t>
            </a:r>
            <a:endParaRPr lang="en-US" sz="1450" dirty="0"/>
          </a:p>
        </p:txBody>
      </p:sp>
      <p:sp>
        <p:nvSpPr>
          <p:cNvPr id="13" name="Text 10"/>
          <p:cNvSpPr/>
          <p:nvPr/>
        </p:nvSpPr>
        <p:spPr>
          <a:xfrm>
            <a:off x="777240" y="251460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Framed the CEO growth mandate into measurable analytical questions with the CVM team.</a:t>
            </a:r>
            <a:endParaRPr lang="en-US" sz="1150" dirty="0"/>
          </a:p>
        </p:txBody>
      </p:sp>
      <p:sp>
        <p:nvSpPr>
          <p:cNvPr id="14" name="Shape 11"/>
          <p:cNvSpPr/>
          <p:nvPr/>
        </p:nvSpPr>
        <p:spPr>
          <a:xfrm>
            <a:off x="4279392" y="160020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5" name="Shape 12"/>
          <p:cNvSpPr/>
          <p:nvPr/>
        </p:nvSpPr>
        <p:spPr>
          <a:xfrm>
            <a:off x="4535424" y="1856232"/>
            <a:ext cx="457200" cy="457200"/>
          </a:xfrm>
          <a:prstGeom prst="roundRect">
            <a:avLst>
              <a:gd name="adj" fmla="val 20000"/>
            </a:avLst>
          </a:prstGeom>
          <a:solidFill>
            <a:srgbClr val="42A5F5"/>
          </a:solidFill>
          <a:ln/>
        </p:spPr>
        <p:txBody>
          <a:bodyPr/>
          <a:lstStyle/>
          <a:p>
            <a:endParaRPr lang="en-ZA"/>
          </a:p>
        </p:txBody>
      </p:sp>
      <p:sp>
        <p:nvSpPr>
          <p:cNvPr id="16" name="Text 13"/>
          <p:cNvSpPr/>
          <p:nvPr/>
        </p:nvSpPr>
        <p:spPr>
          <a:xfrm>
            <a:off x="4535424" y="192938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7" name="Text 14"/>
          <p:cNvSpPr/>
          <p:nvPr/>
        </p:nvSpPr>
        <p:spPr>
          <a:xfrm>
            <a:off x="5148072" y="189280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Data Collection</a:t>
            </a:r>
            <a:endParaRPr lang="en-US" sz="1450" dirty="0"/>
          </a:p>
        </p:txBody>
      </p:sp>
      <p:sp>
        <p:nvSpPr>
          <p:cNvPr id="18" name="Text 15"/>
          <p:cNvSpPr/>
          <p:nvPr/>
        </p:nvSpPr>
        <p:spPr>
          <a:xfrm>
            <a:off x="4553712" y="251460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Consolidated user profile records and viewership session logs into one working environment.</a:t>
            </a:r>
            <a:endParaRPr lang="en-US" sz="1150" dirty="0"/>
          </a:p>
        </p:txBody>
      </p:sp>
      <p:sp>
        <p:nvSpPr>
          <p:cNvPr id="19" name="Shape 16"/>
          <p:cNvSpPr/>
          <p:nvPr/>
        </p:nvSpPr>
        <p:spPr>
          <a:xfrm>
            <a:off x="8055864" y="160020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0" name="Shape 17"/>
          <p:cNvSpPr/>
          <p:nvPr/>
        </p:nvSpPr>
        <p:spPr>
          <a:xfrm>
            <a:off x="8311896" y="1856232"/>
            <a:ext cx="457200" cy="457200"/>
          </a:xfrm>
          <a:prstGeom prst="roundRect">
            <a:avLst>
              <a:gd name="adj" fmla="val 20000"/>
            </a:avLst>
          </a:prstGeom>
          <a:solidFill>
            <a:srgbClr val="1565C0"/>
          </a:solidFill>
          <a:ln/>
        </p:spPr>
        <p:txBody>
          <a:bodyPr/>
          <a:lstStyle/>
          <a:p>
            <a:endParaRPr lang="en-ZA"/>
          </a:p>
        </p:txBody>
      </p:sp>
      <p:sp>
        <p:nvSpPr>
          <p:cNvPr id="21" name="Text 18"/>
          <p:cNvSpPr/>
          <p:nvPr/>
        </p:nvSpPr>
        <p:spPr>
          <a:xfrm>
            <a:off x="8311896" y="192938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22" name="Text 19"/>
          <p:cNvSpPr/>
          <p:nvPr/>
        </p:nvSpPr>
        <p:spPr>
          <a:xfrm>
            <a:off x="8924544" y="189280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Data Cleaning</a:t>
            </a:r>
            <a:endParaRPr lang="en-US" sz="1450" dirty="0"/>
          </a:p>
        </p:txBody>
      </p:sp>
      <p:sp>
        <p:nvSpPr>
          <p:cNvPr id="23" name="Text 20"/>
          <p:cNvSpPr/>
          <p:nvPr/>
        </p:nvSpPr>
        <p:spPr>
          <a:xfrm>
            <a:off x="8330184" y="251460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Standardised province, race and gender values, resolved nulls, removed invalid sessions.</a:t>
            </a:r>
            <a:endParaRPr lang="en-US" sz="1150" dirty="0"/>
          </a:p>
        </p:txBody>
      </p:sp>
      <p:sp>
        <p:nvSpPr>
          <p:cNvPr id="24" name="Shape 21"/>
          <p:cNvSpPr/>
          <p:nvPr/>
        </p:nvSpPr>
        <p:spPr>
          <a:xfrm>
            <a:off x="502920" y="37490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5" name="Shape 22"/>
          <p:cNvSpPr/>
          <p:nvPr/>
        </p:nvSpPr>
        <p:spPr>
          <a:xfrm>
            <a:off x="758952" y="4005072"/>
            <a:ext cx="457200" cy="457200"/>
          </a:xfrm>
          <a:prstGeom prst="roundRect">
            <a:avLst>
              <a:gd name="adj" fmla="val 20000"/>
            </a:avLst>
          </a:prstGeom>
          <a:solidFill>
            <a:srgbClr val="C9A227"/>
          </a:solidFill>
          <a:ln/>
        </p:spPr>
        <p:txBody>
          <a:bodyPr/>
          <a:lstStyle/>
          <a:p>
            <a:endParaRPr lang="en-ZA"/>
          </a:p>
        </p:txBody>
      </p:sp>
      <p:sp>
        <p:nvSpPr>
          <p:cNvPr id="26" name="Text 23"/>
          <p:cNvSpPr/>
          <p:nvPr/>
        </p:nvSpPr>
        <p:spPr>
          <a:xfrm>
            <a:off x="758952" y="407822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7" name="Text 24"/>
          <p:cNvSpPr/>
          <p:nvPr/>
        </p:nvSpPr>
        <p:spPr>
          <a:xfrm>
            <a:off x="1371600" y="404164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Feature Engineering</a:t>
            </a:r>
            <a:endParaRPr lang="en-US" sz="1450" dirty="0"/>
          </a:p>
        </p:txBody>
      </p:sp>
      <p:sp>
        <p:nvSpPr>
          <p:cNvPr id="28" name="Text 25"/>
          <p:cNvSpPr/>
          <p:nvPr/>
        </p:nvSpPr>
        <p:spPr>
          <a:xfrm>
            <a:off x="777240" y="466344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Derived age groups, time-of-day bands, duration, day classification and screen-time brackets.</a:t>
            </a:r>
            <a:endParaRPr lang="en-US" sz="1150" dirty="0"/>
          </a:p>
        </p:txBody>
      </p:sp>
      <p:sp>
        <p:nvSpPr>
          <p:cNvPr id="29" name="Shape 26"/>
          <p:cNvSpPr/>
          <p:nvPr/>
        </p:nvSpPr>
        <p:spPr>
          <a:xfrm>
            <a:off x="4279392" y="37490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0" name="Shape 27"/>
          <p:cNvSpPr/>
          <p:nvPr/>
        </p:nvSpPr>
        <p:spPr>
          <a:xfrm>
            <a:off x="4535424" y="4005072"/>
            <a:ext cx="457200" cy="457200"/>
          </a:xfrm>
          <a:prstGeom prst="roundRect">
            <a:avLst>
              <a:gd name="adj" fmla="val 20000"/>
            </a:avLst>
          </a:prstGeom>
          <a:solidFill>
            <a:srgbClr val="42A5F5"/>
          </a:solidFill>
          <a:ln/>
        </p:spPr>
        <p:txBody>
          <a:bodyPr/>
          <a:lstStyle/>
          <a:p>
            <a:endParaRPr lang="en-ZA"/>
          </a:p>
        </p:txBody>
      </p:sp>
      <p:sp>
        <p:nvSpPr>
          <p:cNvPr id="31" name="Text 28"/>
          <p:cNvSpPr/>
          <p:nvPr/>
        </p:nvSpPr>
        <p:spPr>
          <a:xfrm>
            <a:off x="4535424" y="407822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32" name="Text 29"/>
          <p:cNvSpPr/>
          <p:nvPr/>
        </p:nvSpPr>
        <p:spPr>
          <a:xfrm>
            <a:off x="5148072" y="404164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Dashboard Development</a:t>
            </a:r>
            <a:endParaRPr lang="en-US" sz="1450" dirty="0"/>
          </a:p>
        </p:txBody>
      </p:sp>
      <p:sp>
        <p:nvSpPr>
          <p:cNvPr id="33" name="Text 30"/>
          <p:cNvSpPr/>
          <p:nvPr/>
        </p:nvSpPr>
        <p:spPr>
          <a:xfrm>
            <a:off x="4553712" y="466344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Built Excel, Power BI, Looker Studio and a live interactive Lovable analytics app.</a:t>
            </a:r>
            <a:endParaRPr lang="en-US" sz="1150" dirty="0"/>
          </a:p>
        </p:txBody>
      </p:sp>
      <p:sp>
        <p:nvSpPr>
          <p:cNvPr id="34" name="Shape 31"/>
          <p:cNvSpPr/>
          <p:nvPr/>
        </p:nvSpPr>
        <p:spPr>
          <a:xfrm>
            <a:off x="8055864" y="37490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5" name="Shape 32"/>
          <p:cNvSpPr/>
          <p:nvPr/>
        </p:nvSpPr>
        <p:spPr>
          <a:xfrm>
            <a:off x="8311896" y="4005072"/>
            <a:ext cx="457200" cy="457200"/>
          </a:xfrm>
          <a:prstGeom prst="roundRect">
            <a:avLst>
              <a:gd name="adj" fmla="val 20000"/>
            </a:avLst>
          </a:prstGeom>
          <a:solidFill>
            <a:srgbClr val="0B1F3A"/>
          </a:solidFill>
          <a:ln/>
        </p:spPr>
        <p:txBody>
          <a:bodyPr/>
          <a:lstStyle/>
          <a:p>
            <a:endParaRPr lang="en-ZA"/>
          </a:p>
        </p:txBody>
      </p:sp>
      <p:sp>
        <p:nvSpPr>
          <p:cNvPr id="36" name="Text 33"/>
          <p:cNvSpPr/>
          <p:nvPr/>
        </p:nvSpPr>
        <p:spPr>
          <a:xfrm>
            <a:off x="8311896" y="4078224"/>
            <a:ext cx="457200" cy="32004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sp>
        <p:nvSpPr>
          <p:cNvPr id="37" name="Text 34"/>
          <p:cNvSpPr/>
          <p:nvPr/>
        </p:nvSpPr>
        <p:spPr>
          <a:xfrm>
            <a:off x="8924544" y="4041648"/>
            <a:ext cx="2468880" cy="41148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Business Recommendations</a:t>
            </a:r>
            <a:endParaRPr lang="en-US" sz="1450" dirty="0"/>
          </a:p>
        </p:txBody>
      </p:sp>
      <p:sp>
        <p:nvSpPr>
          <p:cNvPr id="38" name="Text 35"/>
          <p:cNvSpPr/>
          <p:nvPr/>
        </p:nvSpPr>
        <p:spPr>
          <a:xfrm>
            <a:off x="8330184" y="4663440"/>
            <a:ext cx="3017520" cy="822960"/>
          </a:xfrm>
          <a:prstGeom prst="rect">
            <a:avLst/>
          </a:prstGeom>
          <a:noFill/>
          <a:ln/>
        </p:spPr>
        <p:txBody>
          <a:bodyPr wrap="square" rtlCol="0" anchor="ctr"/>
          <a:lstStyle/>
          <a:p>
            <a:pPr marL="0" indent="0">
              <a:lnSpc>
                <a:spcPts val="1600"/>
              </a:lnSpc>
              <a:buNone/>
            </a:pPr>
            <a:r>
              <a:rPr lang="en-US" sz="1150" dirty="0">
                <a:solidFill>
                  <a:srgbClr val="53657D"/>
                </a:solidFill>
                <a:latin typeface="Calibri" pitchFamily="34" charset="0"/>
                <a:ea typeface="Calibri" pitchFamily="34" charset="-122"/>
                <a:cs typeface="Calibri" pitchFamily="34" charset="-120"/>
              </a:rPr>
              <a:t>Translated findings into prioritised, owner-assigned commercial actions.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05</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Project Timeline</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04</a:t>
            </a:r>
            <a:endParaRPr lang="en-US" sz="900" dirty="0"/>
          </a:p>
        </p:txBody>
      </p:sp>
      <p:sp>
        <p:nvSpPr>
          <p:cNvPr id="9" name="Text 6"/>
          <p:cNvSpPr/>
          <p:nvPr/>
        </p:nvSpPr>
        <p:spPr>
          <a:xfrm>
            <a:off x="3474720" y="1627632"/>
            <a:ext cx="731520" cy="228600"/>
          </a:xfrm>
          <a:prstGeom prst="rect">
            <a:avLst/>
          </a:prstGeom>
          <a:noFill/>
          <a:ln/>
        </p:spPr>
        <p:txBody>
          <a:bodyPr wrap="square" rtlCol="0" anchor="ctr"/>
          <a:lstStyle/>
          <a:p>
            <a:pPr marL="0" indent="0" algn="ctr">
              <a:buNone/>
            </a:pPr>
            <a:r>
              <a:rPr lang="en-US" sz="950" dirty="0">
                <a:solidFill>
                  <a:srgbClr val="5B6B80"/>
                </a:solidFill>
                <a:latin typeface="Calibri" pitchFamily="34" charset="0"/>
                <a:ea typeface="Calibri" pitchFamily="34" charset="-122"/>
                <a:cs typeface="Calibri" pitchFamily="34" charset="-120"/>
              </a:rPr>
              <a:t>Week 1</a:t>
            </a:r>
            <a:endParaRPr lang="en-US" sz="950" dirty="0"/>
          </a:p>
        </p:txBody>
      </p:sp>
      <p:sp>
        <p:nvSpPr>
          <p:cNvPr id="10" name="Shape 7"/>
          <p:cNvSpPr/>
          <p:nvPr/>
        </p:nvSpPr>
        <p:spPr>
          <a:xfrm>
            <a:off x="3840480" y="1874520"/>
            <a:ext cx="9144" cy="3657600"/>
          </a:xfrm>
          <a:prstGeom prst="rect">
            <a:avLst/>
          </a:prstGeom>
          <a:solidFill>
            <a:srgbClr val="EDF1F6"/>
          </a:solidFill>
          <a:ln/>
        </p:spPr>
        <p:txBody>
          <a:bodyPr/>
          <a:lstStyle/>
          <a:p>
            <a:endParaRPr lang="en-ZA"/>
          </a:p>
        </p:txBody>
      </p:sp>
      <p:sp>
        <p:nvSpPr>
          <p:cNvPr id="11" name="Text 8"/>
          <p:cNvSpPr/>
          <p:nvPr/>
        </p:nvSpPr>
        <p:spPr>
          <a:xfrm>
            <a:off x="5260489" y="1627632"/>
            <a:ext cx="731520" cy="228600"/>
          </a:xfrm>
          <a:prstGeom prst="rect">
            <a:avLst/>
          </a:prstGeom>
          <a:noFill/>
          <a:ln/>
        </p:spPr>
        <p:txBody>
          <a:bodyPr wrap="square" rtlCol="0" anchor="ctr"/>
          <a:lstStyle/>
          <a:p>
            <a:pPr marL="0" indent="0" algn="ctr">
              <a:buNone/>
            </a:pPr>
            <a:r>
              <a:rPr lang="en-US" sz="950" dirty="0">
                <a:solidFill>
                  <a:srgbClr val="5B6B80"/>
                </a:solidFill>
                <a:latin typeface="Calibri" pitchFamily="34" charset="0"/>
                <a:ea typeface="Calibri" pitchFamily="34" charset="-122"/>
                <a:cs typeface="Calibri" pitchFamily="34" charset="-120"/>
              </a:rPr>
              <a:t>Week 3</a:t>
            </a:r>
            <a:endParaRPr lang="en-US" sz="950" dirty="0"/>
          </a:p>
        </p:txBody>
      </p:sp>
      <p:sp>
        <p:nvSpPr>
          <p:cNvPr id="12" name="Shape 9"/>
          <p:cNvSpPr/>
          <p:nvPr/>
        </p:nvSpPr>
        <p:spPr>
          <a:xfrm>
            <a:off x="5626249" y="1874520"/>
            <a:ext cx="9144" cy="3657600"/>
          </a:xfrm>
          <a:prstGeom prst="rect">
            <a:avLst/>
          </a:prstGeom>
          <a:solidFill>
            <a:srgbClr val="EDF1F6"/>
          </a:solidFill>
          <a:ln/>
        </p:spPr>
        <p:txBody>
          <a:bodyPr/>
          <a:lstStyle/>
          <a:p>
            <a:endParaRPr lang="en-ZA"/>
          </a:p>
        </p:txBody>
      </p:sp>
      <p:sp>
        <p:nvSpPr>
          <p:cNvPr id="13" name="Text 10"/>
          <p:cNvSpPr/>
          <p:nvPr/>
        </p:nvSpPr>
        <p:spPr>
          <a:xfrm>
            <a:off x="7046259" y="1627632"/>
            <a:ext cx="731520" cy="228600"/>
          </a:xfrm>
          <a:prstGeom prst="rect">
            <a:avLst/>
          </a:prstGeom>
          <a:noFill/>
          <a:ln/>
        </p:spPr>
        <p:txBody>
          <a:bodyPr wrap="square" rtlCol="0" anchor="ctr"/>
          <a:lstStyle/>
          <a:p>
            <a:pPr marL="0" indent="0" algn="ctr">
              <a:buNone/>
            </a:pPr>
            <a:r>
              <a:rPr lang="en-US" sz="950" dirty="0">
                <a:solidFill>
                  <a:srgbClr val="5B6B80"/>
                </a:solidFill>
                <a:latin typeface="Calibri" pitchFamily="34" charset="0"/>
                <a:ea typeface="Calibri" pitchFamily="34" charset="-122"/>
                <a:cs typeface="Calibri" pitchFamily="34" charset="-120"/>
              </a:rPr>
              <a:t>Week 5</a:t>
            </a:r>
            <a:endParaRPr lang="en-US" sz="950" dirty="0"/>
          </a:p>
        </p:txBody>
      </p:sp>
      <p:sp>
        <p:nvSpPr>
          <p:cNvPr id="14" name="Shape 11"/>
          <p:cNvSpPr/>
          <p:nvPr/>
        </p:nvSpPr>
        <p:spPr>
          <a:xfrm>
            <a:off x="7412019" y="1874520"/>
            <a:ext cx="9144" cy="3657600"/>
          </a:xfrm>
          <a:prstGeom prst="rect">
            <a:avLst/>
          </a:prstGeom>
          <a:solidFill>
            <a:srgbClr val="EDF1F6"/>
          </a:solidFill>
          <a:ln/>
        </p:spPr>
        <p:txBody>
          <a:bodyPr/>
          <a:lstStyle/>
          <a:p>
            <a:endParaRPr lang="en-ZA"/>
          </a:p>
        </p:txBody>
      </p:sp>
      <p:sp>
        <p:nvSpPr>
          <p:cNvPr id="15" name="Text 12"/>
          <p:cNvSpPr/>
          <p:nvPr/>
        </p:nvSpPr>
        <p:spPr>
          <a:xfrm>
            <a:off x="8832028" y="1627632"/>
            <a:ext cx="731520" cy="228600"/>
          </a:xfrm>
          <a:prstGeom prst="rect">
            <a:avLst/>
          </a:prstGeom>
          <a:noFill/>
          <a:ln/>
        </p:spPr>
        <p:txBody>
          <a:bodyPr wrap="square" rtlCol="0" anchor="ctr"/>
          <a:lstStyle/>
          <a:p>
            <a:pPr marL="0" indent="0" algn="ctr">
              <a:buNone/>
            </a:pPr>
            <a:r>
              <a:rPr lang="en-US" sz="950" dirty="0">
                <a:solidFill>
                  <a:srgbClr val="5B6B80"/>
                </a:solidFill>
                <a:latin typeface="Calibri" pitchFamily="34" charset="0"/>
                <a:ea typeface="Calibri" pitchFamily="34" charset="-122"/>
                <a:cs typeface="Calibri" pitchFamily="34" charset="-120"/>
              </a:rPr>
              <a:t>Week 7</a:t>
            </a:r>
            <a:endParaRPr lang="en-US" sz="950" dirty="0"/>
          </a:p>
        </p:txBody>
      </p:sp>
      <p:sp>
        <p:nvSpPr>
          <p:cNvPr id="16" name="Shape 13"/>
          <p:cNvSpPr/>
          <p:nvPr/>
        </p:nvSpPr>
        <p:spPr>
          <a:xfrm>
            <a:off x="9197788" y="1874520"/>
            <a:ext cx="9144" cy="3657600"/>
          </a:xfrm>
          <a:prstGeom prst="rect">
            <a:avLst/>
          </a:prstGeom>
          <a:solidFill>
            <a:srgbClr val="EDF1F6"/>
          </a:solidFill>
          <a:ln/>
        </p:spPr>
        <p:txBody>
          <a:bodyPr/>
          <a:lstStyle/>
          <a:p>
            <a:endParaRPr lang="en-ZA"/>
          </a:p>
        </p:txBody>
      </p:sp>
      <p:sp>
        <p:nvSpPr>
          <p:cNvPr id="17" name="Text 14"/>
          <p:cNvSpPr/>
          <p:nvPr/>
        </p:nvSpPr>
        <p:spPr>
          <a:xfrm>
            <a:off x="10617798" y="1627632"/>
            <a:ext cx="731520" cy="228600"/>
          </a:xfrm>
          <a:prstGeom prst="rect">
            <a:avLst/>
          </a:prstGeom>
          <a:noFill/>
          <a:ln/>
        </p:spPr>
        <p:txBody>
          <a:bodyPr wrap="square" rtlCol="0" anchor="ctr"/>
          <a:lstStyle/>
          <a:p>
            <a:pPr marL="0" indent="0" algn="ctr">
              <a:buNone/>
            </a:pPr>
            <a:r>
              <a:rPr lang="en-US" sz="950" dirty="0">
                <a:solidFill>
                  <a:srgbClr val="5B6B80"/>
                </a:solidFill>
                <a:latin typeface="Calibri" pitchFamily="34" charset="0"/>
                <a:ea typeface="Calibri" pitchFamily="34" charset="-122"/>
                <a:cs typeface="Calibri" pitchFamily="34" charset="-120"/>
              </a:rPr>
              <a:t>Week 9</a:t>
            </a:r>
            <a:endParaRPr lang="en-US" sz="950" dirty="0"/>
          </a:p>
        </p:txBody>
      </p:sp>
      <p:sp>
        <p:nvSpPr>
          <p:cNvPr id="18" name="Shape 15"/>
          <p:cNvSpPr/>
          <p:nvPr/>
        </p:nvSpPr>
        <p:spPr>
          <a:xfrm>
            <a:off x="10983558" y="1874520"/>
            <a:ext cx="9144" cy="3657600"/>
          </a:xfrm>
          <a:prstGeom prst="rect">
            <a:avLst/>
          </a:prstGeom>
          <a:solidFill>
            <a:srgbClr val="EDF1F6"/>
          </a:solidFill>
          <a:ln/>
        </p:spPr>
        <p:txBody>
          <a:bodyPr/>
          <a:lstStyle/>
          <a:p>
            <a:endParaRPr lang="en-ZA"/>
          </a:p>
        </p:txBody>
      </p:sp>
      <p:sp>
        <p:nvSpPr>
          <p:cNvPr id="19" name="Text 16"/>
          <p:cNvSpPr/>
          <p:nvPr/>
        </p:nvSpPr>
        <p:spPr>
          <a:xfrm>
            <a:off x="502920" y="1984248"/>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Business Understanding</a:t>
            </a:r>
            <a:endParaRPr lang="en-US" sz="1250" dirty="0"/>
          </a:p>
        </p:txBody>
      </p:sp>
      <p:sp>
        <p:nvSpPr>
          <p:cNvPr id="20" name="Shape 17"/>
          <p:cNvSpPr/>
          <p:nvPr/>
        </p:nvSpPr>
        <p:spPr>
          <a:xfrm>
            <a:off x="3840480" y="2011680"/>
            <a:ext cx="1071462" cy="310896"/>
          </a:xfrm>
          <a:prstGeom prst="roundRect">
            <a:avLst>
              <a:gd name="adj" fmla="val 88235"/>
            </a:avLst>
          </a:prstGeom>
          <a:solidFill>
            <a:srgbClr val="1565C0"/>
          </a:solidFill>
          <a:ln/>
        </p:spPr>
        <p:txBody>
          <a:bodyPr/>
          <a:lstStyle/>
          <a:p>
            <a:endParaRPr lang="en-ZA"/>
          </a:p>
        </p:txBody>
      </p:sp>
      <p:sp>
        <p:nvSpPr>
          <p:cNvPr id="21" name="Text 18"/>
          <p:cNvSpPr/>
          <p:nvPr/>
        </p:nvSpPr>
        <p:spPr>
          <a:xfrm>
            <a:off x="502920" y="2587752"/>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Data Collection</a:t>
            </a:r>
            <a:endParaRPr lang="en-US" sz="1250" dirty="0"/>
          </a:p>
        </p:txBody>
      </p:sp>
      <p:sp>
        <p:nvSpPr>
          <p:cNvPr id="22" name="Shape 19"/>
          <p:cNvSpPr/>
          <p:nvPr/>
        </p:nvSpPr>
        <p:spPr>
          <a:xfrm>
            <a:off x="4644076" y="2615184"/>
            <a:ext cx="982173" cy="310896"/>
          </a:xfrm>
          <a:prstGeom prst="roundRect">
            <a:avLst>
              <a:gd name="adj" fmla="val 88235"/>
            </a:avLst>
          </a:prstGeom>
          <a:solidFill>
            <a:srgbClr val="42A5F5"/>
          </a:solidFill>
          <a:ln/>
        </p:spPr>
        <p:txBody>
          <a:bodyPr/>
          <a:lstStyle/>
          <a:p>
            <a:endParaRPr lang="en-ZA"/>
          </a:p>
        </p:txBody>
      </p:sp>
      <p:sp>
        <p:nvSpPr>
          <p:cNvPr id="23" name="Text 20"/>
          <p:cNvSpPr/>
          <p:nvPr/>
        </p:nvSpPr>
        <p:spPr>
          <a:xfrm>
            <a:off x="502920" y="3191256"/>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SQL Cleaning &amp; Standardisation</a:t>
            </a:r>
            <a:endParaRPr lang="en-US" sz="1250" dirty="0"/>
          </a:p>
        </p:txBody>
      </p:sp>
      <p:sp>
        <p:nvSpPr>
          <p:cNvPr id="24" name="Shape 21"/>
          <p:cNvSpPr/>
          <p:nvPr/>
        </p:nvSpPr>
        <p:spPr>
          <a:xfrm>
            <a:off x="5447672" y="3218688"/>
            <a:ext cx="1607192" cy="310896"/>
          </a:xfrm>
          <a:prstGeom prst="roundRect">
            <a:avLst>
              <a:gd name="adj" fmla="val 88235"/>
            </a:avLst>
          </a:prstGeom>
          <a:solidFill>
            <a:srgbClr val="1565C0"/>
          </a:solidFill>
          <a:ln/>
        </p:spPr>
        <p:txBody>
          <a:bodyPr/>
          <a:lstStyle/>
          <a:p>
            <a:endParaRPr lang="en-ZA"/>
          </a:p>
        </p:txBody>
      </p:sp>
      <p:sp>
        <p:nvSpPr>
          <p:cNvPr id="25" name="Text 22"/>
          <p:cNvSpPr/>
          <p:nvPr/>
        </p:nvSpPr>
        <p:spPr>
          <a:xfrm>
            <a:off x="502920" y="3794760"/>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Feature Engineering</a:t>
            </a:r>
            <a:endParaRPr lang="en-US" sz="1250" dirty="0"/>
          </a:p>
        </p:txBody>
      </p:sp>
      <p:sp>
        <p:nvSpPr>
          <p:cNvPr id="26" name="Shape 23"/>
          <p:cNvSpPr/>
          <p:nvPr/>
        </p:nvSpPr>
        <p:spPr>
          <a:xfrm>
            <a:off x="6697711" y="3822192"/>
            <a:ext cx="1339327" cy="310896"/>
          </a:xfrm>
          <a:prstGeom prst="roundRect">
            <a:avLst>
              <a:gd name="adj" fmla="val 88235"/>
            </a:avLst>
          </a:prstGeom>
          <a:solidFill>
            <a:srgbClr val="C9A227"/>
          </a:solidFill>
          <a:ln/>
        </p:spPr>
        <p:txBody>
          <a:bodyPr/>
          <a:lstStyle/>
          <a:p>
            <a:endParaRPr lang="en-ZA"/>
          </a:p>
        </p:txBody>
      </p:sp>
      <p:sp>
        <p:nvSpPr>
          <p:cNvPr id="27" name="Text 24"/>
          <p:cNvSpPr/>
          <p:nvPr/>
        </p:nvSpPr>
        <p:spPr>
          <a:xfrm>
            <a:off x="502920" y="4398264"/>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Dashboard Development</a:t>
            </a:r>
            <a:endParaRPr lang="en-US" sz="1250" dirty="0"/>
          </a:p>
        </p:txBody>
      </p:sp>
      <p:sp>
        <p:nvSpPr>
          <p:cNvPr id="28" name="Shape 25"/>
          <p:cNvSpPr/>
          <p:nvPr/>
        </p:nvSpPr>
        <p:spPr>
          <a:xfrm>
            <a:off x="7679884" y="4425696"/>
            <a:ext cx="2589366" cy="310896"/>
          </a:xfrm>
          <a:prstGeom prst="roundRect">
            <a:avLst>
              <a:gd name="adj" fmla="val 88235"/>
            </a:avLst>
          </a:prstGeom>
          <a:solidFill>
            <a:srgbClr val="42A5F5"/>
          </a:solidFill>
          <a:ln/>
        </p:spPr>
        <p:txBody>
          <a:bodyPr/>
          <a:lstStyle/>
          <a:p>
            <a:endParaRPr lang="en-ZA"/>
          </a:p>
        </p:txBody>
      </p:sp>
      <p:sp>
        <p:nvSpPr>
          <p:cNvPr id="29" name="Text 26"/>
          <p:cNvSpPr/>
          <p:nvPr/>
        </p:nvSpPr>
        <p:spPr>
          <a:xfrm>
            <a:off x="502920" y="5001768"/>
            <a:ext cx="3200400" cy="310896"/>
          </a:xfrm>
          <a:prstGeom prst="rect">
            <a:avLst/>
          </a:prstGeom>
          <a:noFill/>
          <a:ln/>
        </p:spPr>
        <p:txBody>
          <a:bodyPr wrap="square" rtlCol="0" anchor="ctr"/>
          <a:lstStyle/>
          <a:p>
            <a:pPr marL="0" indent="0" algn="r">
              <a:buNone/>
            </a:pPr>
            <a:r>
              <a:rPr lang="en-US" sz="1250" b="1" dirty="0">
                <a:solidFill>
                  <a:srgbClr val="0B1F3A"/>
                </a:solidFill>
                <a:latin typeface="Calibri" pitchFamily="34" charset="0"/>
                <a:ea typeface="Calibri" pitchFamily="34" charset="-122"/>
                <a:cs typeface="Calibri" pitchFamily="34" charset="-120"/>
              </a:rPr>
              <a:t>Insights &amp; Recommendations</a:t>
            </a:r>
            <a:endParaRPr lang="en-US" sz="1250" dirty="0"/>
          </a:p>
        </p:txBody>
      </p:sp>
      <p:sp>
        <p:nvSpPr>
          <p:cNvPr id="30" name="Shape 27"/>
          <p:cNvSpPr/>
          <p:nvPr/>
        </p:nvSpPr>
        <p:spPr>
          <a:xfrm>
            <a:off x="9733519" y="5029200"/>
            <a:ext cx="1696481" cy="310896"/>
          </a:xfrm>
          <a:prstGeom prst="roundRect">
            <a:avLst>
              <a:gd name="adj" fmla="val 88235"/>
            </a:avLst>
          </a:prstGeom>
          <a:solidFill>
            <a:srgbClr val="0B1F3A"/>
          </a:solidFill>
          <a:ln/>
        </p:spPr>
        <p:txBody>
          <a:bodyPr/>
          <a:lstStyle/>
          <a:p>
            <a:endParaRPr lang="en-ZA"/>
          </a:p>
        </p:txBody>
      </p:sp>
      <p:sp>
        <p:nvSpPr>
          <p:cNvPr id="31" name="Shape 28"/>
          <p:cNvSpPr/>
          <p:nvPr/>
        </p:nvSpPr>
        <p:spPr>
          <a:xfrm>
            <a:off x="7222146" y="5596128"/>
            <a:ext cx="201168" cy="201168"/>
          </a:xfrm>
          <a:prstGeom prst="diamond">
            <a:avLst/>
          </a:prstGeom>
          <a:solidFill>
            <a:srgbClr val="C9A227"/>
          </a:solidFill>
          <a:ln/>
        </p:spPr>
        <p:txBody>
          <a:bodyPr/>
          <a:lstStyle/>
          <a:p>
            <a:endParaRPr lang="en-ZA"/>
          </a:p>
        </p:txBody>
      </p:sp>
      <p:sp>
        <p:nvSpPr>
          <p:cNvPr id="32" name="Shape 29"/>
          <p:cNvSpPr/>
          <p:nvPr/>
        </p:nvSpPr>
        <p:spPr>
          <a:xfrm>
            <a:off x="10079377" y="5596128"/>
            <a:ext cx="201168" cy="201168"/>
          </a:xfrm>
          <a:prstGeom prst="diamond">
            <a:avLst/>
          </a:prstGeom>
          <a:solidFill>
            <a:srgbClr val="C9A227"/>
          </a:solidFill>
          <a:ln/>
        </p:spPr>
        <p:txBody>
          <a:bodyPr/>
          <a:lstStyle/>
          <a:p>
            <a:endParaRPr lang="en-ZA"/>
          </a:p>
        </p:txBody>
      </p:sp>
      <p:sp>
        <p:nvSpPr>
          <p:cNvPr id="33" name="Shape 30"/>
          <p:cNvSpPr/>
          <p:nvPr/>
        </p:nvSpPr>
        <p:spPr>
          <a:xfrm>
            <a:off x="11240128" y="5596128"/>
            <a:ext cx="201168" cy="201168"/>
          </a:xfrm>
          <a:prstGeom prst="diamond">
            <a:avLst/>
          </a:prstGeom>
          <a:solidFill>
            <a:srgbClr val="C9A227"/>
          </a:solidFill>
          <a:ln/>
        </p:spPr>
        <p:txBody>
          <a:bodyPr/>
          <a:lstStyle/>
          <a:p>
            <a:endParaRPr lang="en-ZA"/>
          </a:p>
        </p:txBody>
      </p:sp>
      <p:sp>
        <p:nvSpPr>
          <p:cNvPr id="34" name="Shape 31"/>
          <p:cNvSpPr/>
          <p:nvPr/>
        </p:nvSpPr>
        <p:spPr>
          <a:xfrm>
            <a:off x="3840480" y="5687568"/>
            <a:ext cx="7589520" cy="10973"/>
          </a:xfrm>
          <a:prstGeom prst="rect">
            <a:avLst/>
          </a:prstGeom>
          <a:solidFill>
            <a:srgbClr val="DDE3EC"/>
          </a:solidFill>
          <a:ln/>
        </p:spPr>
        <p:txBody>
          <a:bodyPr/>
          <a:lstStyle/>
          <a:p>
            <a:endParaRPr lang="en-ZA"/>
          </a:p>
        </p:txBody>
      </p:sp>
      <p:sp>
        <p:nvSpPr>
          <p:cNvPr id="35" name="Text 32"/>
          <p:cNvSpPr/>
          <p:nvPr/>
        </p:nvSpPr>
        <p:spPr>
          <a:xfrm>
            <a:off x="3840480" y="5870448"/>
            <a:ext cx="7589520" cy="274320"/>
          </a:xfrm>
          <a:prstGeom prst="rect">
            <a:avLst/>
          </a:prstGeom>
          <a:noFill/>
          <a:ln/>
        </p:spPr>
        <p:txBody>
          <a:bodyPr wrap="square" rtlCol="0" anchor="ctr"/>
          <a:lstStyle/>
          <a:p>
            <a:pPr marL="0" indent="0">
              <a:buNone/>
            </a:pPr>
            <a:r>
              <a:rPr lang="en-US" sz="1050" i="1" dirty="0">
                <a:solidFill>
                  <a:srgbClr val="5B6B80"/>
                </a:solidFill>
                <a:latin typeface="Calibri" pitchFamily="34" charset="0"/>
                <a:ea typeface="Calibri" pitchFamily="34" charset="-122"/>
                <a:cs typeface="Calibri" pitchFamily="34" charset="-120"/>
              </a:rPr>
              <a:t>Milestones:  analytical dataset signed off  ·  four dashboards live  ·  executive board readout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06</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Data Sources</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05</a:t>
            </a:r>
            <a:endParaRPr lang="en-US" sz="900" dirty="0"/>
          </a:p>
        </p:txBody>
      </p:sp>
      <p:sp>
        <p:nvSpPr>
          <p:cNvPr id="9" name="Shape 6"/>
          <p:cNvSpPr/>
          <p:nvPr/>
        </p:nvSpPr>
        <p:spPr>
          <a:xfrm>
            <a:off x="502920" y="1572768"/>
            <a:ext cx="7315200" cy="914400"/>
          </a:xfrm>
          <a:prstGeom prst="roundRect">
            <a:avLst>
              <a:gd name="adj" fmla="val 6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572768"/>
            <a:ext cx="64008" cy="914400"/>
          </a:xfrm>
          <a:prstGeom prst="rect">
            <a:avLst/>
          </a:prstGeom>
          <a:solidFill>
            <a:srgbClr val="1565C0"/>
          </a:solidFill>
          <a:ln/>
        </p:spPr>
        <p:txBody>
          <a:bodyPr/>
          <a:lstStyle/>
          <a:p>
            <a:endParaRPr lang="en-ZA"/>
          </a:p>
        </p:txBody>
      </p:sp>
      <p:sp>
        <p:nvSpPr>
          <p:cNvPr id="11" name="Text 8"/>
          <p:cNvSpPr/>
          <p:nvPr/>
        </p:nvSpPr>
        <p:spPr>
          <a:xfrm>
            <a:off x="777240" y="1700784"/>
            <a:ext cx="2377440" cy="310896"/>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User Profiles</a:t>
            </a:r>
            <a:endParaRPr lang="en-US" sz="1500" dirty="0"/>
          </a:p>
        </p:txBody>
      </p:sp>
      <p:sp>
        <p:nvSpPr>
          <p:cNvPr id="12" name="Text 9"/>
          <p:cNvSpPr/>
          <p:nvPr/>
        </p:nvSpPr>
        <p:spPr>
          <a:xfrm>
            <a:off x="777240" y="2048256"/>
            <a:ext cx="2468880" cy="310896"/>
          </a:xfrm>
          <a:prstGeom prst="rect">
            <a:avLst/>
          </a:prstGeom>
          <a:noFill/>
          <a:ln/>
        </p:spPr>
        <p:txBody>
          <a:bodyPr wrap="square" rtlCol="0" anchor="ctr"/>
          <a:lstStyle/>
          <a:p>
            <a:pPr marL="0" indent="0">
              <a:buNone/>
            </a:pPr>
            <a:r>
              <a:rPr lang="en-US" sz="1100" dirty="0">
                <a:solidFill>
                  <a:srgbClr val="5B6B80"/>
                </a:solidFill>
                <a:latin typeface="Calibri" pitchFamily="34" charset="0"/>
                <a:ea typeface="Calibri" pitchFamily="34" charset="-122"/>
                <a:cs typeface="Calibri" pitchFamily="34" charset="-120"/>
              </a:rPr>
              <a:t>Demographic attributes per subscriber</a:t>
            </a:r>
            <a:endParaRPr lang="en-US" sz="1100" dirty="0"/>
          </a:p>
        </p:txBody>
      </p:sp>
      <p:sp>
        <p:nvSpPr>
          <p:cNvPr id="13" name="Text 10"/>
          <p:cNvSpPr/>
          <p:nvPr/>
        </p:nvSpPr>
        <p:spPr>
          <a:xfrm>
            <a:off x="3383280" y="1847088"/>
            <a:ext cx="4297680" cy="457200"/>
          </a:xfrm>
          <a:prstGeom prst="rect">
            <a:avLst/>
          </a:prstGeom>
          <a:noFill/>
          <a:ln/>
        </p:spPr>
        <p:txBody>
          <a:bodyPr wrap="square" rtlCol="0" anchor="ctr"/>
          <a:lstStyle/>
          <a:p>
            <a:pPr marL="0" indent="0">
              <a:buNone/>
            </a:pPr>
            <a:r>
              <a:rPr lang="en-US" sz="1200" dirty="0">
                <a:solidFill>
                  <a:srgbClr val="44566E"/>
                </a:solidFill>
                <a:latin typeface="Calibri" pitchFamily="34" charset="0"/>
                <a:ea typeface="Calibri" pitchFamily="34" charset="-122"/>
                <a:cs typeface="Calibri" pitchFamily="34" charset="-120"/>
              </a:rPr>
              <a:t>Gender · Race · Age → age group · Province · Contact flags</a:t>
            </a:r>
            <a:endParaRPr lang="en-US" sz="1200" dirty="0"/>
          </a:p>
        </p:txBody>
      </p:sp>
      <p:sp>
        <p:nvSpPr>
          <p:cNvPr id="14" name="Shape 11"/>
          <p:cNvSpPr/>
          <p:nvPr/>
        </p:nvSpPr>
        <p:spPr>
          <a:xfrm>
            <a:off x="502920" y="2633472"/>
            <a:ext cx="7315200" cy="914400"/>
          </a:xfrm>
          <a:prstGeom prst="roundRect">
            <a:avLst>
              <a:gd name="adj" fmla="val 6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5" name="Shape 12"/>
          <p:cNvSpPr/>
          <p:nvPr/>
        </p:nvSpPr>
        <p:spPr>
          <a:xfrm>
            <a:off x="502920" y="2633472"/>
            <a:ext cx="64008" cy="914400"/>
          </a:xfrm>
          <a:prstGeom prst="rect">
            <a:avLst/>
          </a:prstGeom>
          <a:solidFill>
            <a:srgbClr val="42A5F5"/>
          </a:solidFill>
          <a:ln/>
        </p:spPr>
        <p:txBody>
          <a:bodyPr/>
          <a:lstStyle/>
          <a:p>
            <a:endParaRPr lang="en-ZA"/>
          </a:p>
        </p:txBody>
      </p:sp>
      <p:sp>
        <p:nvSpPr>
          <p:cNvPr id="16" name="Text 13"/>
          <p:cNvSpPr/>
          <p:nvPr/>
        </p:nvSpPr>
        <p:spPr>
          <a:xfrm>
            <a:off x="777240" y="2761488"/>
            <a:ext cx="2377440" cy="310896"/>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Viewership Sessions</a:t>
            </a:r>
            <a:endParaRPr lang="en-US" sz="1500" dirty="0"/>
          </a:p>
        </p:txBody>
      </p:sp>
      <p:sp>
        <p:nvSpPr>
          <p:cNvPr id="17" name="Text 14"/>
          <p:cNvSpPr/>
          <p:nvPr/>
        </p:nvSpPr>
        <p:spPr>
          <a:xfrm>
            <a:off x="777240" y="3108960"/>
            <a:ext cx="2468880" cy="310896"/>
          </a:xfrm>
          <a:prstGeom prst="rect">
            <a:avLst/>
          </a:prstGeom>
          <a:noFill/>
          <a:ln/>
        </p:spPr>
        <p:txBody>
          <a:bodyPr wrap="square" rtlCol="0" anchor="ctr"/>
          <a:lstStyle/>
          <a:p>
            <a:pPr marL="0" indent="0">
              <a:buNone/>
            </a:pPr>
            <a:r>
              <a:rPr lang="en-US" sz="1100" dirty="0">
                <a:solidFill>
                  <a:srgbClr val="5B6B80"/>
                </a:solidFill>
                <a:latin typeface="Calibri" pitchFamily="34" charset="0"/>
                <a:ea typeface="Calibri" pitchFamily="34" charset="-122"/>
                <a:cs typeface="Calibri" pitchFamily="34" charset="-120"/>
              </a:rPr>
              <a:t>Session-level consumption events</a:t>
            </a:r>
            <a:endParaRPr lang="en-US" sz="1100" dirty="0"/>
          </a:p>
        </p:txBody>
      </p:sp>
      <p:sp>
        <p:nvSpPr>
          <p:cNvPr id="18" name="Text 15"/>
          <p:cNvSpPr/>
          <p:nvPr/>
        </p:nvSpPr>
        <p:spPr>
          <a:xfrm>
            <a:off x="3383280" y="2907792"/>
            <a:ext cx="4297680" cy="457200"/>
          </a:xfrm>
          <a:prstGeom prst="rect">
            <a:avLst/>
          </a:prstGeom>
          <a:noFill/>
          <a:ln/>
        </p:spPr>
        <p:txBody>
          <a:bodyPr wrap="square" rtlCol="0" anchor="ctr"/>
          <a:lstStyle/>
          <a:p>
            <a:pPr marL="0" indent="0">
              <a:buNone/>
            </a:pPr>
            <a:r>
              <a:rPr lang="en-US" sz="1200" dirty="0">
                <a:solidFill>
                  <a:srgbClr val="44566E"/>
                </a:solidFill>
                <a:latin typeface="Calibri" pitchFamily="34" charset="0"/>
                <a:ea typeface="Calibri" pitchFamily="34" charset="-122"/>
                <a:cs typeface="Calibri" pitchFamily="34" charset="-120"/>
              </a:rPr>
              <a:t>Channel · Date &amp; hour · Duration in minutes · Day of week</a:t>
            </a:r>
            <a:endParaRPr lang="en-US" sz="1200" dirty="0"/>
          </a:p>
        </p:txBody>
      </p:sp>
      <p:sp>
        <p:nvSpPr>
          <p:cNvPr id="19" name="Shape 16"/>
          <p:cNvSpPr/>
          <p:nvPr/>
        </p:nvSpPr>
        <p:spPr>
          <a:xfrm>
            <a:off x="502920" y="3694176"/>
            <a:ext cx="7315200" cy="914400"/>
          </a:xfrm>
          <a:prstGeom prst="roundRect">
            <a:avLst>
              <a:gd name="adj" fmla="val 6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0" name="Shape 17"/>
          <p:cNvSpPr/>
          <p:nvPr/>
        </p:nvSpPr>
        <p:spPr>
          <a:xfrm>
            <a:off x="502920" y="3694176"/>
            <a:ext cx="64008" cy="914400"/>
          </a:xfrm>
          <a:prstGeom prst="rect">
            <a:avLst/>
          </a:prstGeom>
          <a:solidFill>
            <a:srgbClr val="C9A227"/>
          </a:solidFill>
          <a:ln/>
        </p:spPr>
        <p:txBody>
          <a:bodyPr/>
          <a:lstStyle/>
          <a:p>
            <a:endParaRPr lang="en-ZA"/>
          </a:p>
        </p:txBody>
      </p:sp>
      <p:sp>
        <p:nvSpPr>
          <p:cNvPr id="21" name="Text 18"/>
          <p:cNvSpPr/>
          <p:nvPr/>
        </p:nvSpPr>
        <p:spPr>
          <a:xfrm>
            <a:off x="777240" y="3822192"/>
            <a:ext cx="2377440" cy="310896"/>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Business Case</a:t>
            </a:r>
            <a:endParaRPr lang="en-US" sz="1500" dirty="0"/>
          </a:p>
        </p:txBody>
      </p:sp>
      <p:sp>
        <p:nvSpPr>
          <p:cNvPr id="22" name="Text 19"/>
          <p:cNvSpPr/>
          <p:nvPr/>
        </p:nvSpPr>
        <p:spPr>
          <a:xfrm>
            <a:off x="777240" y="4169664"/>
            <a:ext cx="2468880" cy="310896"/>
          </a:xfrm>
          <a:prstGeom prst="rect">
            <a:avLst/>
          </a:prstGeom>
          <a:noFill/>
          <a:ln/>
        </p:spPr>
        <p:txBody>
          <a:bodyPr wrap="square" rtlCol="0" anchor="ctr"/>
          <a:lstStyle/>
          <a:p>
            <a:pPr marL="0" indent="0">
              <a:buNone/>
            </a:pPr>
            <a:r>
              <a:rPr lang="en-US" sz="1100" dirty="0">
                <a:solidFill>
                  <a:srgbClr val="5B6B80"/>
                </a:solidFill>
                <a:latin typeface="Calibri" pitchFamily="34" charset="0"/>
                <a:ea typeface="Calibri" pitchFamily="34" charset="-122"/>
                <a:cs typeface="Calibri" pitchFamily="34" charset="-120"/>
              </a:rPr>
              <a:t>CVM growth mandate from the CEO</a:t>
            </a:r>
            <a:endParaRPr lang="en-US" sz="1100" dirty="0"/>
          </a:p>
        </p:txBody>
      </p:sp>
      <p:sp>
        <p:nvSpPr>
          <p:cNvPr id="23" name="Text 20"/>
          <p:cNvSpPr/>
          <p:nvPr/>
        </p:nvSpPr>
        <p:spPr>
          <a:xfrm>
            <a:off x="3383280" y="3968496"/>
            <a:ext cx="4297680" cy="457200"/>
          </a:xfrm>
          <a:prstGeom prst="rect">
            <a:avLst/>
          </a:prstGeom>
          <a:noFill/>
          <a:ln/>
        </p:spPr>
        <p:txBody>
          <a:bodyPr wrap="square" rtlCol="0" anchor="ctr"/>
          <a:lstStyle/>
          <a:p>
            <a:pPr marL="0" indent="0">
              <a:buNone/>
            </a:pPr>
            <a:r>
              <a:rPr lang="en-US" sz="1200" dirty="0">
                <a:solidFill>
                  <a:srgbClr val="44566E"/>
                </a:solidFill>
                <a:latin typeface="Calibri" pitchFamily="34" charset="0"/>
                <a:ea typeface="Calibri" pitchFamily="34" charset="-122"/>
                <a:cs typeface="Calibri" pitchFamily="34" charset="-120"/>
              </a:rPr>
              <a:t>Objectives · Success measures · Questions to answer</a:t>
            </a:r>
            <a:endParaRPr lang="en-US" sz="1200" dirty="0"/>
          </a:p>
        </p:txBody>
      </p:sp>
      <p:sp>
        <p:nvSpPr>
          <p:cNvPr id="24" name="Shape 21"/>
          <p:cNvSpPr/>
          <p:nvPr/>
        </p:nvSpPr>
        <p:spPr>
          <a:xfrm>
            <a:off x="502920" y="4754880"/>
            <a:ext cx="7315200" cy="914400"/>
          </a:xfrm>
          <a:prstGeom prst="roundRect">
            <a:avLst>
              <a:gd name="adj" fmla="val 6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5" name="Shape 22"/>
          <p:cNvSpPr/>
          <p:nvPr/>
        </p:nvSpPr>
        <p:spPr>
          <a:xfrm>
            <a:off x="502920" y="4754880"/>
            <a:ext cx="64008" cy="914400"/>
          </a:xfrm>
          <a:prstGeom prst="rect">
            <a:avLst/>
          </a:prstGeom>
          <a:solidFill>
            <a:srgbClr val="0B1F3A"/>
          </a:solidFill>
          <a:ln/>
        </p:spPr>
        <p:txBody>
          <a:bodyPr/>
          <a:lstStyle/>
          <a:p>
            <a:endParaRPr lang="en-ZA"/>
          </a:p>
        </p:txBody>
      </p:sp>
      <p:sp>
        <p:nvSpPr>
          <p:cNvPr id="26" name="Text 23"/>
          <p:cNvSpPr/>
          <p:nvPr/>
        </p:nvSpPr>
        <p:spPr>
          <a:xfrm>
            <a:off x="777240" y="4882896"/>
            <a:ext cx="2377440" cy="310896"/>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Dashboards</a:t>
            </a:r>
            <a:endParaRPr lang="en-US" sz="1500" dirty="0"/>
          </a:p>
        </p:txBody>
      </p:sp>
      <p:sp>
        <p:nvSpPr>
          <p:cNvPr id="27" name="Text 24"/>
          <p:cNvSpPr/>
          <p:nvPr/>
        </p:nvSpPr>
        <p:spPr>
          <a:xfrm>
            <a:off x="777240" y="5230368"/>
            <a:ext cx="2468880" cy="310896"/>
          </a:xfrm>
          <a:prstGeom prst="rect">
            <a:avLst/>
          </a:prstGeom>
          <a:noFill/>
          <a:ln/>
        </p:spPr>
        <p:txBody>
          <a:bodyPr wrap="square" rtlCol="0" anchor="ctr"/>
          <a:lstStyle/>
          <a:p>
            <a:pPr marL="0" indent="0">
              <a:buNone/>
            </a:pPr>
            <a:r>
              <a:rPr lang="en-US" sz="1100" dirty="0">
                <a:solidFill>
                  <a:srgbClr val="5B6B80"/>
                </a:solidFill>
                <a:latin typeface="Calibri" pitchFamily="34" charset="0"/>
                <a:ea typeface="Calibri" pitchFamily="34" charset="-122"/>
                <a:cs typeface="Calibri" pitchFamily="34" charset="-120"/>
              </a:rPr>
              <a:t>Delivery layer and feedback loop</a:t>
            </a:r>
            <a:endParaRPr lang="en-US" sz="1100" dirty="0"/>
          </a:p>
        </p:txBody>
      </p:sp>
      <p:sp>
        <p:nvSpPr>
          <p:cNvPr id="28" name="Text 25"/>
          <p:cNvSpPr/>
          <p:nvPr/>
        </p:nvSpPr>
        <p:spPr>
          <a:xfrm>
            <a:off x="3383280" y="5029200"/>
            <a:ext cx="4297680" cy="457200"/>
          </a:xfrm>
          <a:prstGeom prst="rect">
            <a:avLst/>
          </a:prstGeom>
          <a:noFill/>
          <a:ln/>
        </p:spPr>
        <p:txBody>
          <a:bodyPr wrap="square" rtlCol="0" anchor="ctr"/>
          <a:lstStyle/>
          <a:p>
            <a:pPr marL="0" indent="0">
              <a:buNone/>
            </a:pPr>
            <a:r>
              <a:rPr lang="en-US" sz="1200" dirty="0">
                <a:solidFill>
                  <a:srgbClr val="44566E"/>
                </a:solidFill>
                <a:latin typeface="Calibri" pitchFamily="34" charset="0"/>
                <a:ea typeface="Calibri" pitchFamily="34" charset="-122"/>
                <a:cs typeface="Calibri" pitchFamily="34" charset="-120"/>
              </a:rPr>
              <a:t>Excel · Power BI · Looker Studio · Lovable web app</a:t>
            </a:r>
            <a:endParaRPr lang="en-US" sz="1200" dirty="0"/>
          </a:p>
        </p:txBody>
      </p:sp>
      <p:sp>
        <p:nvSpPr>
          <p:cNvPr id="29" name="Shape 26"/>
          <p:cNvSpPr/>
          <p:nvPr/>
        </p:nvSpPr>
        <p:spPr>
          <a:xfrm>
            <a:off x="8138160" y="1572768"/>
            <a:ext cx="3520440" cy="4206240"/>
          </a:xfrm>
          <a:prstGeom prst="roundRect">
            <a:avLst>
              <a:gd name="adj" fmla="val 1558"/>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30" name="Text 27"/>
          <p:cNvSpPr/>
          <p:nvPr/>
        </p:nvSpPr>
        <p:spPr>
          <a:xfrm>
            <a:off x="8412480" y="1783080"/>
            <a:ext cx="3017520" cy="274320"/>
          </a:xfrm>
          <a:prstGeom prst="rect">
            <a:avLst/>
          </a:prstGeom>
          <a:noFill/>
          <a:ln/>
        </p:spPr>
        <p:txBody>
          <a:bodyPr wrap="square" rtlCol="0" anchor="ctr"/>
          <a:lstStyle/>
          <a:p>
            <a:pPr marL="0" indent="0">
              <a:buNone/>
            </a:pPr>
            <a:r>
              <a:rPr lang="en-US" sz="1000" b="1" kern="0" spc="150" dirty="0">
                <a:solidFill>
                  <a:srgbClr val="C9A227"/>
                </a:solidFill>
                <a:latin typeface="Calibri" pitchFamily="34" charset="0"/>
                <a:ea typeface="Calibri" pitchFamily="34" charset="-122"/>
                <a:cs typeface="Calibri" pitchFamily="34" charset="-120"/>
              </a:rPr>
              <a:t>THE ANALYTICAL DATASET</a:t>
            </a:r>
            <a:endParaRPr lang="en-US" sz="1000" dirty="0"/>
          </a:p>
        </p:txBody>
      </p:sp>
      <p:sp>
        <p:nvSpPr>
          <p:cNvPr id="31" name="Text 28"/>
          <p:cNvSpPr/>
          <p:nvPr/>
        </p:nvSpPr>
        <p:spPr>
          <a:xfrm>
            <a:off x="8412480" y="2240280"/>
            <a:ext cx="3017520" cy="38404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9,980</a:t>
            </a:r>
            <a:endParaRPr lang="en-US" sz="2400" dirty="0"/>
          </a:p>
        </p:txBody>
      </p:sp>
      <p:sp>
        <p:nvSpPr>
          <p:cNvPr id="32" name="Text 29"/>
          <p:cNvSpPr/>
          <p:nvPr/>
        </p:nvSpPr>
        <p:spPr>
          <a:xfrm>
            <a:off x="8412480" y="2606040"/>
            <a:ext cx="3017520" cy="256032"/>
          </a:xfrm>
          <a:prstGeom prst="rect">
            <a:avLst/>
          </a:prstGeom>
          <a:noFill/>
          <a:ln/>
        </p:spPr>
        <p:txBody>
          <a:bodyPr wrap="square" rtlCol="0" anchor="ctr"/>
          <a:lstStyle/>
          <a:p>
            <a:pPr marL="0" indent="0">
              <a:buNone/>
            </a:pPr>
            <a:r>
              <a:rPr lang="en-US" sz="1100" dirty="0">
                <a:solidFill>
                  <a:srgbClr val="9DB6D4"/>
                </a:solidFill>
                <a:latin typeface="Calibri" pitchFamily="34" charset="0"/>
                <a:ea typeface="Calibri" pitchFamily="34" charset="-122"/>
                <a:cs typeface="Calibri" pitchFamily="34" charset="-120"/>
              </a:rPr>
              <a:t>Viewing sessions</a:t>
            </a:r>
            <a:endParaRPr lang="en-US" sz="1100" dirty="0"/>
          </a:p>
        </p:txBody>
      </p:sp>
      <p:sp>
        <p:nvSpPr>
          <p:cNvPr id="33" name="Text 30"/>
          <p:cNvSpPr/>
          <p:nvPr/>
        </p:nvSpPr>
        <p:spPr>
          <a:xfrm>
            <a:off x="8412480" y="2953512"/>
            <a:ext cx="3017520" cy="38404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1,522</a:t>
            </a:r>
            <a:endParaRPr lang="en-US" sz="2400" dirty="0"/>
          </a:p>
        </p:txBody>
      </p:sp>
      <p:sp>
        <p:nvSpPr>
          <p:cNvPr id="34" name="Text 31"/>
          <p:cNvSpPr/>
          <p:nvPr/>
        </p:nvSpPr>
        <p:spPr>
          <a:xfrm>
            <a:off x="8412480" y="3319272"/>
            <a:ext cx="3017520" cy="256032"/>
          </a:xfrm>
          <a:prstGeom prst="rect">
            <a:avLst/>
          </a:prstGeom>
          <a:noFill/>
          <a:ln/>
        </p:spPr>
        <p:txBody>
          <a:bodyPr wrap="square" rtlCol="0" anchor="ctr"/>
          <a:lstStyle/>
          <a:p>
            <a:pPr marL="0" indent="0">
              <a:buNone/>
            </a:pPr>
            <a:r>
              <a:rPr lang="en-US" sz="1100" dirty="0">
                <a:solidFill>
                  <a:srgbClr val="9DB6D4"/>
                </a:solidFill>
                <a:latin typeface="Calibri" pitchFamily="34" charset="0"/>
                <a:ea typeface="Calibri" pitchFamily="34" charset="-122"/>
                <a:cs typeface="Calibri" pitchFamily="34" charset="-120"/>
              </a:rPr>
              <a:t>Total viewing hours</a:t>
            </a:r>
            <a:endParaRPr lang="en-US" sz="1100" dirty="0"/>
          </a:p>
        </p:txBody>
      </p:sp>
      <p:sp>
        <p:nvSpPr>
          <p:cNvPr id="35" name="Text 32"/>
          <p:cNvSpPr/>
          <p:nvPr/>
        </p:nvSpPr>
        <p:spPr>
          <a:xfrm>
            <a:off x="8412480" y="3666744"/>
            <a:ext cx="3017520" cy="38404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16</a:t>
            </a:r>
            <a:endParaRPr lang="en-US" sz="2400" dirty="0"/>
          </a:p>
        </p:txBody>
      </p:sp>
      <p:sp>
        <p:nvSpPr>
          <p:cNvPr id="36" name="Text 33"/>
          <p:cNvSpPr/>
          <p:nvPr/>
        </p:nvSpPr>
        <p:spPr>
          <a:xfrm>
            <a:off x="8412480" y="4032504"/>
            <a:ext cx="3017520" cy="256032"/>
          </a:xfrm>
          <a:prstGeom prst="rect">
            <a:avLst/>
          </a:prstGeom>
          <a:noFill/>
          <a:ln/>
        </p:spPr>
        <p:txBody>
          <a:bodyPr wrap="square" rtlCol="0" anchor="ctr"/>
          <a:lstStyle/>
          <a:p>
            <a:pPr marL="0" indent="0">
              <a:buNone/>
            </a:pPr>
            <a:r>
              <a:rPr lang="en-US" sz="1100" dirty="0">
                <a:solidFill>
                  <a:srgbClr val="9DB6D4"/>
                </a:solidFill>
                <a:latin typeface="Calibri" pitchFamily="34" charset="0"/>
                <a:ea typeface="Calibri" pitchFamily="34" charset="-122"/>
                <a:cs typeface="Calibri" pitchFamily="34" charset="-120"/>
              </a:rPr>
              <a:t>Distinct channels</a:t>
            </a:r>
            <a:endParaRPr lang="en-US" sz="1100" dirty="0"/>
          </a:p>
        </p:txBody>
      </p:sp>
      <p:sp>
        <p:nvSpPr>
          <p:cNvPr id="37" name="Text 34"/>
          <p:cNvSpPr/>
          <p:nvPr/>
        </p:nvSpPr>
        <p:spPr>
          <a:xfrm>
            <a:off x="8412480" y="4379976"/>
            <a:ext cx="3017520" cy="38404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Jan–Mar</a:t>
            </a:r>
            <a:endParaRPr lang="en-US" sz="2400" dirty="0"/>
          </a:p>
        </p:txBody>
      </p:sp>
      <p:sp>
        <p:nvSpPr>
          <p:cNvPr id="38" name="Text 35"/>
          <p:cNvSpPr/>
          <p:nvPr/>
        </p:nvSpPr>
        <p:spPr>
          <a:xfrm>
            <a:off x="8412480" y="4745736"/>
            <a:ext cx="3017520" cy="256032"/>
          </a:xfrm>
          <a:prstGeom prst="rect">
            <a:avLst/>
          </a:prstGeom>
          <a:noFill/>
          <a:ln/>
        </p:spPr>
        <p:txBody>
          <a:bodyPr wrap="square" rtlCol="0" anchor="ctr"/>
          <a:lstStyle/>
          <a:p>
            <a:pPr marL="0" indent="0">
              <a:buNone/>
            </a:pPr>
            <a:r>
              <a:rPr lang="en-US" sz="1100" dirty="0">
                <a:solidFill>
                  <a:srgbClr val="9DB6D4"/>
                </a:solidFill>
                <a:latin typeface="Calibri" pitchFamily="34" charset="0"/>
                <a:ea typeface="Calibri" pitchFamily="34" charset="-122"/>
                <a:cs typeface="Calibri" pitchFamily="34" charset="-120"/>
              </a:rPr>
              <a:t>Observation window</a:t>
            </a:r>
            <a:endParaRPr lang="en-US" sz="1100" dirty="0"/>
          </a:p>
        </p:txBody>
      </p:sp>
      <p:sp>
        <p:nvSpPr>
          <p:cNvPr id="39" name="Text 36"/>
          <p:cNvSpPr/>
          <p:nvPr/>
        </p:nvSpPr>
        <p:spPr>
          <a:xfrm>
            <a:off x="8412480" y="5093208"/>
            <a:ext cx="3017520" cy="384048"/>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14</a:t>
            </a:r>
            <a:endParaRPr lang="en-US" sz="2400" dirty="0"/>
          </a:p>
        </p:txBody>
      </p:sp>
      <p:sp>
        <p:nvSpPr>
          <p:cNvPr id="40" name="Text 37"/>
          <p:cNvSpPr/>
          <p:nvPr/>
        </p:nvSpPr>
        <p:spPr>
          <a:xfrm>
            <a:off x="8412480" y="5458968"/>
            <a:ext cx="3017520" cy="256032"/>
          </a:xfrm>
          <a:prstGeom prst="rect">
            <a:avLst/>
          </a:prstGeom>
          <a:noFill/>
          <a:ln/>
        </p:spPr>
        <p:txBody>
          <a:bodyPr wrap="square" rtlCol="0" anchor="ctr"/>
          <a:lstStyle/>
          <a:p>
            <a:pPr marL="0" indent="0">
              <a:buNone/>
            </a:pPr>
            <a:r>
              <a:rPr lang="en-US" sz="1100" dirty="0">
                <a:solidFill>
                  <a:srgbClr val="9DB6D4"/>
                </a:solidFill>
                <a:latin typeface="Calibri" pitchFamily="34" charset="0"/>
                <a:ea typeface="Calibri" pitchFamily="34" charset="-122"/>
                <a:cs typeface="Calibri" pitchFamily="34" charset="-120"/>
              </a:rPr>
              <a:t>Engineered attributes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07</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Technology Stack</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06</a:t>
            </a:r>
            <a:endParaRPr lang="en-US" sz="900" dirty="0"/>
          </a:p>
        </p:txBody>
      </p:sp>
      <p:sp>
        <p:nvSpPr>
          <p:cNvPr id="9" name="Shape 6"/>
          <p:cNvSpPr/>
          <p:nvPr/>
        </p:nvSpPr>
        <p:spPr>
          <a:xfrm>
            <a:off x="502920" y="1600200"/>
            <a:ext cx="2743200" cy="4160520"/>
          </a:xfrm>
          <a:prstGeom prst="roundRect">
            <a:avLst>
              <a:gd name="adj" fmla="val 2000"/>
            </a:avLst>
          </a:prstGeom>
          <a:solidFill>
            <a:srgbClr val="F4F6FA"/>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00200"/>
            <a:ext cx="2743200" cy="54864"/>
          </a:xfrm>
          <a:prstGeom prst="rect">
            <a:avLst/>
          </a:prstGeom>
          <a:solidFill>
            <a:srgbClr val="1565C0"/>
          </a:solidFill>
          <a:ln/>
        </p:spPr>
        <p:txBody>
          <a:bodyPr/>
          <a:lstStyle/>
          <a:p>
            <a:endParaRPr lang="en-ZA"/>
          </a:p>
        </p:txBody>
      </p:sp>
      <p:sp>
        <p:nvSpPr>
          <p:cNvPr id="11" name="Text 8"/>
          <p:cNvSpPr/>
          <p:nvPr/>
        </p:nvSpPr>
        <p:spPr>
          <a:xfrm>
            <a:off x="758952" y="1810512"/>
            <a:ext cx="2286000" cy="274320"/>
          </a:xfrm>
          <a:prstGeom prst="rect">
            <a:avLst/>
          </a:prstGeom>
          <a:noFill/>
          <a:ln/>
        </p:spPr>
        <p:txBody>
          <a:bodyPr wrap="square" rtlCol="0" anchor="ctr"/>
          <a:lstStyle/>
          <a:p>
            <a:pPr marL="0" indent="0">
              <a:buNone/>
            </a:pPr>
            <a:r>
              <a:rPr lang="en-US" sz="1100" b="1" kern="0" spc="140" dirty="0">
                <a:solidFill>
                  <a:srgbClr val="1565C0"/>
                </a:solidFill>
                <a:latin typeface="Calibri" pitchFamily="34" charset="0"/>
                <a:ea typeface="Calibri" pitchFamily="34" charset="-122"/>
                <a:cs typeface="Calibri" pitchFamily="34" charset="-120"/>
              </a:rPr>
              <a:t>DATA ENGINEERING</a:t>
            </a:r>
            <a:endParaRPr lang="en-US" sz="1100" dirty="0"/>
          </a:p>
        </p:txBody>
      </p:sp>
      <p:sp>
        <p:nvSpPr>
          <p:cNvPr id="12" name="Shape 9"/>
          <p:cNvSpPr/>
          <p:nvPr/>
        </p:nvSpPr>
        <p:spPr>
          <a:xfrm>
            <a:off x="758952" y="2240280"/>
            <a:ext cx="223113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13" name="Shape 10"/>
          <p:cNvSpPr/>
          <p:nvPr/>
        </p:nvSpPr>
        <p:spPr>
          <a:xfrm>
            <a:off x="886968" y="2377440"/>
            <a:ext cx="402336" cy="402336"/>
          </a:xfrm>
          <a:prstGeom prst="roundRect">
            <a:avLst>
              <a:gd name="adj" fmla="val 22727"/>
            </a:avLst>
          </a:prstGeom>
          <a:solidFill>
            <a:srgbClr val="1565C0"/>
          </a:solidFill>
          <a:ln/>
        </p:spPr>
        <p:txBody>
          <a:bodyPr/>
          <a:lstStyle/>
          <a:p>
            <a:endParaRPr lang="en-ZA"/>
          </a:p>
        </p:txBody>
      </p:sp>
      <p:sp>
        <p:nvSpPr>
          <p:cNvPr id="14" name="Text 11"/>
          <p:cNvSpPr/>
          <p:nvPr/>
        </p:nvSpPr>
        <p:spPr>
          <a:xfrm>
            <a:off x="886968" y="2441448"/>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SQ</a:t>
            </a:r>
            <a:endParaRPr lang="en-US" sz="1100" dirty="0"/>
          </a:p>
        </p:txBody>
      </p:sp>
      <p:sp>
        <p:nvSpPr>
          <p:cNvPr id="15" name="Text 12"/>
          <p:cNvSpPr/>
          <p:nvPr/>
        </p:nvSpPr>
        <p:spPr>
          <a:xfrm>
            <a:off x="1417320" y="2331720"/>
            <a:ext cx="155448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SQL</a:t>
            </a:r>
            <a:endParaRPr lang="en-US" sz="1300" dirty="0"/>
          </a:p>
        </p:txBody>
      </p:sp>
      <p:sp>
        <p:nvSpPr>
          <p:cNvPr id="16" name="Text 13"/>
          <p:cNvSpPr/>
          <p:nvPr/>
        </p:nvSpPr>
        <p:spPr>
          <a:xfrm>
            <a:off x="1417320" y="2587752"/>
            <a:ext cx="155448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Cleaning, joins, aggregation</a:t>
            </a:r>
            <a:endParaRPr lang="en-US" sz="1050" dirty="0"/>
          </a:p>
        </p:txBody>
      </p:sp>
      <p:sp>
        <p:nvSpPr>
          <p:cNvPr id="17" name="Shape 14"/>
          <p:cNvSpPr/>
          <p:nvPr/>
        </p:nvSpPr>
        <p:spPr>
          <a:xfrm>
            <a:off x="758952" y="3081528"/>
            <a:ext cx="223113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18" name="Shape 15"/>
          <p:cNvSpPr/>
          <p:nvPr/>
        </p:nvSpPr>
        <p:spPr>
          <a:xfrm>
            <a:off x="886968" y="3218688"/>
            <a:ext cx="402336" cy="402336"/>
          </a:xfrm>
          <a:prstGeom prst="roundRect">
            <a:avLst>
              <a:gd name="adj" fmla="val 22727"/>
            </a:avLst>
          </a:prstGeom>
          <a:solidFill>
            <a:srgbClr val="1565C0"/>
          </a:solidFill>
          <a:ln/>
        </p:spPr>
        <p:txBody>
          <a:bodyPr/>
          <a:lstStyle/>
          <a:p>
            <a:endParaRPr lang="en-ZA"/>
          </a:p>
        </p:txBody>
      </p:sp>
      <p:sp>
        <p:nvSpPr>
          <p:cNvPr id="19" name="Text 16"/>
          <p:cNvSpPr/>
          <p:nvPr/>
        </p:nvSpPr>
        <p:spPr>
          <a:xfrm>
            <a:off x="886968" y="3282696"/>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a:t>
            </a:r>
            <a:endParaRPr lang="en-US" sz="1100" dirty="0"/>
          </a:p>
        </p:txBody>
      </p:sp>
      <p:sp>
        <p:nvSpPr>
          <p:cNvPr id="20" name="Text 17"/>
          <p:cNvSpPr/>
          <p:nvPr/>
        </p:nvSpPr>
        <p:spPr>
          <a:xfrm>
            <a:off x="1417320" y="3172968"/>
            <a:ext cx="155448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Databricks</a:t>
            </a:r>
            <a:endParaRPr lang="en-US" sz="1300" dirty="0"/>
          </a:p>
        </p:txBody>
      </p:sp>
      <p:sp>
        <p:nvSpPr>
          <p:cNvPr id="21" name="Text 18"/>
          <p:cNvSpPr/>
          <p:nvPr/>
        </p:nvSpPr>
        <p:spPr>
          <a:xfrm>
            <a:off x="1417320" y="3429000"/>
            <a:ext cx="155448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Scaled processing environment</a:t>
            </a:r>
            <a:endParaRPr lang="en-US" sz="1050" dirty="0"/>
          </a:p>
        </p:txBody>
      </p:sp>
      <p:sp>
        <p:nvSpPr>
          <p:cNvPr id="22" name="Shape 19"/>
          <p:cNvSpPr/>
          <p:nvPr/>
        </p:nvSpPr>
        <p:spPr>
          <a:xfrm>
            <a:off x="3502152" y="1600200"/>
            <a:ext cx="4206240" cy="4160520"/>
          </a:xfrm>
          <a:prstGeom prst="roundRect">
            <a:avLst>
              <a:gd name="adj" fmla="val 1319"/>
            </a:avLst>
          </a:prstGeom>
          <a:solidFill>
            <a:srgbClr val="F4F6FA"/>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3" name="Shape 20"/>
          <p:cNvSpPr/>
          <p:nvPr/>
        </p:nvSpPr>
        <p:spPr>
          <a:xfrm>
            <a:off x="3502152" y="1600200"/>
            <a:ext cx="4206240" cy="54864"/>
          </a:xfrm>
          <a:prstGeom prst="rect">
            <a:avLst/>
          </a:prstGeom>
          <a:solidFill>
            <a:srgbClr val="42A5F5"/>
          </a:solidFill>
          <a:ln/>
        </p:spPr>
        <p:txBody>
          <a:bodyPr/>
          <a:lstStyle/>
          <a:p>
            <a:endParaRPr lang="en-ZA"/>
          </a:p>
        </p:txBody>
      </p:sp>
      <p:sp>
        <p:nvSpPr>
          <p:cNvPr id="24" name="Text 21"/>
          <p:cNvSpPr/>
          <p:nvPr/>
        </p:nvSpPr>
        <p:spPr>
          <a:xfrm>
            <a:off x="3758184" y="1810512"/>
            <a:ext cx="3749040" cy="274320"/>
          </a:xfrm>
          <a:prstGeom prst="rect">
            <a:avLst/>
          </a:prstGeom>
          <a:noFill/>
          <a:ln/>
        </p:spPr>
        <p:txBody>
          <a:bodyPr wrap="square" rtlCol="0" anchor="ctr"/>
          <a:lstStyle/>
          <a:p>
            <a:pPr marL="0" indent="0">
              <a:buNone/>
            </a:pPr>
            <a:r>
              <a:rPr lang="en-US" sz="1100" b="1" kern="0" spc="140" dirty="0">
                <a:solidFill>
                  <a:srgbClr val="42A5F5"/>
                </a:solidFill>
                <a:latin typeface="Calibri" pitchFamily="34" charset="0"/>
                <a:ea typeface="Calibri" pitchFamily="34" charset="-122"/>
                <a:cs typeface="Calibri" pitchFamily="34" charset="-120"/>
              </a:rPr>
              <a:t>ANALYTICS &amp; VISUALISATION</a:t>
            </a:r>
            <a:endParaRPr lang="en-US" sz="1100" dirty="0"/>
          </a:p>
        </p:txBody>
      </p:sp>
      <p:sp>
        <p:nvSpPr>
          <p:cNvPr id="25" name="Shape 22"/>
          <p:cNvSpPr/>
          <p:nvPr/>
        </p:nvSpPr>
        <p:spPr>
          <a:xfrm>
            <a:off x="3758184" y="2240280"/>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26" name="Shape 23"/>
          <p:cNvSpPr/>
          <p:nvPr/>
        </p:nvSpPr>
        <p:spPr>
          <a:xfrm>
            <a:off x="3886200" y="2377440"/>
            <a:ext cx="402336" cy="402336"/>
          </a:xfrm>
          <a:prstGeom prst="roundRect">
            <a:avLst>
              <a:gd name="adj" fmla="val 22727"/>
            </a:avLst>
          </a:prstGeom>
          <a:solidFill>
            <a:srgbClr val="42A5F5"/>
          </a:solidFill>
          <a:ln/>
        </p:spPr>
        <p:txBody>
          <a:bodyPr/>
          <a:lstStyle/>
          <a:p>
            <a:endParaRPr lang="en-ZA"/>
          </a:p>
        </p:txBody>
      </p:sp>
      <p:sp>
        <p:nvSpPr>
          <p:cNvPr id="27" name="Text 24"/>
          <p:cNvSpPr/>
          <p:nvPr/>
        </p:nvSpPr>
        <p:spPr>
          <a:xfrm>
            <a:off x="3886200" y="2441448"/>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a:t>
            </a:r>
            <a:endParaRPr lang="en-US" sz="1100" dirty="0"/>
          </a:p>
        </p:txBody>
      </p:sp>
      <p:sp>
        <p:nvSpPr>
          <p:cNvPr id="28" name="Text 25"/>
          <p:cNvSpPr/>
          <p:nvPr/>
        </p:nvSpPr>
        <p:spPr>
          <a:xfrm>
            <a:off x="4416552" y="2331720"/>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Excel</a:t>
            </a:r>
            <a:endParaRPr lang="en-US" sz="1300" dirty="0"/>
          </a:p>
        </p:txBody>
      </p:sp>
      <p:sp>
        <p:nvSpPr>
          <p:cNvPr id="29" name="Text 26"/>
          <p:cNvSpPr/>
          <p:nvPr/>
        </p:nvSpPr>
        <p:spPr>
          <a:xfrm>
            <a:off x="4416552" y="2587752"/>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Analyst-level pivot dashboard</a:t>
            </a:r>
            <a:endParaRPr lang="en-US" sz="1050" dirty="0"/>
          </a:p>
        </p:txBody>
      </p:sp>
      <p:sp>
        <p:nvSpPr>
          <p:cNvPr id="30" name="Shape 27"/>
          <p:cNvSpPr/>
          <p:nvPr/>
        </p:nvSpPr>
        <p:spPr>
          <a:xfrm>
            <a:off x="3758184" y="3081528"/>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31" name="Shape 28"/>
          <p:cNvSpPr/>
          <p:nvPr/>
        </p:nvSpPr>
        <p:spPr>
          <a:xfrm>
            <a:off x="3886200" y="3218688"/>
            <a:ext cx="402336" cy="402336"/>
          </a:xfrm>
          <a:prstGeom prst="roundRect">
            <a:avLst>
              <a:gd name="adj" fmla="val 22727"/>
            </a:avLst>
          </a:prstGeom>
          <a:solidFill>
            <a:srgbClr val="42A5F5"/>
          </a:solidFill>
          <a:ln/>
        </p:spPr>
        <p:txBody>
          <a:bodyPr/>
          <a:lstStyle/>
          <a:p>
            <a:endParaRPr lang="en-ZA"/>
          </a:p>
        </p:txBody>
      </p:sp>
      <p:sp>
        <p:nvSpPr>
          <p:cNvPr id="32" name="Text 29"/>
          <p:cNvSpPr/>
          <p:nvPr/>
        </p:nvSpPr>
        <p:spPr>
          <a:xfrm>
            <a:off x="3886200" y="3282696"/>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a:t>
            </a:r>
            <a:endParaRPr lang="en-US" sz="1100" dirty="0"/>
          </a:p>
        </p:txBody>
      </p:sp>
      <p:sp>
        <p:nvSpPr>
          <p:cNvPr id="33" name="Text 30"/>
          <p:cNvSpPr/>
          <p:nvPr/>
        </p:nvSpPr>
        <p:spPr>
          <a:xfrm>
            <a:off x="4416552" y="3172968"/>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Power BI</a:t>
            </a:r>
            <a:endParaRPr lang="en-US" sz="1300" dirty="0"/>
          </a:p>
        </p:txBody>
      </p:sp>
      <p:sp>
        <p:nvSpPr>
          <p:cNvPr id="34" name="Text 31"/>
          <p:cNvSpPr/>
          <p:nvPr/>
        </p:nvSpPr>
        <p:spPr>
          <a:xfrm>
            <a:off x="4416552" y="3429000"/>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Management reporting</a:t>
            </a:r>
            <a:endParaRPr lang="en-US" sz="1050" dirty="0"/>
          </a:p>
        </p:txBody>
      </p:sp>
      <p:sp>
        <p:nvSpPr>
          <p:cNvPr id="35" name="Shape 32"/>
          <p:cNvSpPr/>
          <p:nvPr/>
        </p:nvSpPr>
        <p:spPr>
          <a:xfrm>
            <a:off x="3758184" y="3922776"/>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36" name="Shape 33"/>
          <p:cNvSpPr/>
          <p:nvPr/>
        </p:nvSpPr>
        <p:spPr>
          <a:xfrm>
            <a:off x="3886200" y="4059936"/>
            <a:ext cx="402336" cy="402336"/>
          </a:xfrm>
          <a:prstGeom prst="roundRect">
            <a:avLst>
              <a:gd name="adj" fmla="val 22727"/>
            </a:avLst>
          </a:prstGeom>
          <a:solidFill>
            <a:srgbClr val="42A5F5"/>
          </a:solidFill>
          <a:ln/>
        </p:spPr>
        <p:txBody>
          <a:bodyPr/>
          <a:lstStyle/>
          <a:p>
            <a:endParaRPr lang="en-ZA"/>
          </a:p>
        </p:txBody>
      </p:sp>
      <p:sp>
        <p:nvSpPr>
          <p:cNvPr id="37" name="Text 34"/>
          <p:cNvSpPr/>
          <p:nvPr/>
        </p:nvSpPr>
        <p:spPr>
          <a:xfrm>
            <a:off x="3886200" y="4123944"/>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t>
            </a:r>
            <a:endParaRPr lang="en-US" sz="1100" dirty="0"/>
          </a:p>
        </p:txBody>
      </p:sp>
      <p:sp>
        <p:nvSpPr>
          <p:cNvPr id="38" name="Text 35"/>
          <p:cNvSpPr/>
          <p:nvPr/>
        </p:nvSpPr>
        <p:spPr>
          <a:xfrm>
            <a:off x="4416552" y="4014216"/>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Looker Studio</a:t>
            </a:r>
            <a:endParaRPr lang="en-US" sz="1300" dirty="0"/>
          </a:p>
        </p:txBody>
      </p:sp>
      <p:sp>
        <p:nvSpPr>
          <p:cNvPr id="39" name="Text 36"/>
          <p:cNvSpPr/>
          <p:nvPr/>
        </p:nvSpPr>
        <p:spPr>
          <a:xfrm>
            <a:off x="4416552" y="4270248"/>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Stakeholder self-service</a:t>
            </a:r>
            <a:endParaRPr lang="en-US" sz="1050" dirty="0"/>
          </a:p>
        </p:txBody>
      </p:sp>
      <p:sp>
        <p:nvSpPr>
          <p:cNvPr id="40" name="Shape 37"/>
          <p:cNvSpPr/>
          <p:nvPr/>
        </p:nvSpPr>
        <p:spPr>
          <a:xfrm>
            <a:off x="3758184" y="4764024"/>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41" name="Shape 38"/>
          <p:cNvSpPr/>
          <p:nvPr/>
        </p:nvSpPr>
        <p:spPr>
          <a:xfrm>
            <a:off x="3886200" y="4901184"/>
            <a:ext cx="402336" cy="402336"/>
          </a:xfrm>
          <a:prstGeom prst="roundRect">
            <a:avLst>
              <a:gd name="adj" fmla="val 22727"/>
            </a:avLst>
          </a:prstGeom>
          <a:solidFill>
            <a:srgbClr val="42A5F5"/>
          </a:solidFill>
          <a:ln/>
        </p:spPr>
        <p:txBody>
          <a:bodyPr/>
          <a:lstStyle/>
          <a:p>
            <a:endParaRPr lang="en-ZA"/>
          </a:p>
        </p:txBody>
      </p:sp>
      <p:sp>
        <p:nvSpPr>
          <p:cNvPr id="42" name="Text 39"/>
          <p:cNvSpPr/>
          <p:nvPr/>
        </p:nvSpPr>
        <p:spPr>
          <a:xfrm>
            <a:off x="3886200" y="4965192"/>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t>
            </a:r>
            <a:endParaRPr lang="en-US" sz="1100" dirty="0"/>
          </a:p>
        </p:txBody>
      </p:sp>
      <p:sp>
        <p:nvSpPr>
          <p:cNvPr id="43" name="Text 40"/>
          <p:cNvSpPr/>
          <p:nvPr/>
        </p:nvSpPr>
        <p:spPr>
          <a:xfrm>
            <a:off x="4416552" y="4855464"/>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Lovable</a:t>
            </a:r>
            <a:endParaRPr lang="en-US" sz="1300" dirty="0"/>
          </a:p>
        </p:txBody>
      </p:sp>
      <p:sp>
        <p:nvSpPr>
          <p:cNvPr id="44" name="Text 41"/>
          <p:cNvSpPr/>
          <p:nvPr/>
        </p:nvSpPr>
        <p:spPr>
          <a:xfrm>
            <a:off x="4416552" y="5111496"/>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Live interactive web app</a:t>
            </a:r>
            <a:endParaRPr lang="en-US" sz="1050" dirty="0"/>
          </a:p>
        </p:txBody>
      </p:sp>
      <p:sp>
        <p:nvSpPr>
          <p:cNvPr id="45" name="Shape 42"/>
          <p:cNvSpPr/>
          <p:nvPr/>
        </p:nvSpPr>
        <p:spPr>
          <a:xfrm>
            <a:off x="7964424" y="1600200"/>
            <a:ext cx="4206240" cy="4160520"/>
          </a:xfrm>
          <a:prstGeom prst="roundRect">
            <a:avLst>
              <a:gd name="adj" fmla="val 1319"/>
            </a:avLst>
          </a:prstGeom>
          <a:solidFill>
            <a:srgbClr val="F4F6FA"/>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46" name="Shape 43"/>
          <p:cNvSpPr/>
          <p:nvPr/>
        </p:nvSpPr>
        <p:spPr>
          <a:xfrm>
            <a:off x="7964424" y="1600200"/>
            <a:ext cx="4206240" cy="54864"/>
          </a:xfrm>
          <a:prstGeom prst="rect">
            <a:avLst/>
          </a:prstGeom>
          <a:solidFill>
            <a:srgbClr val="C9A227"/>
          </a:solidFill>
          <a:ln/>
        </p:spPr>
        <p:txBody>
          <a:bodyPr/>
          <a:lstStyle/>
          <a:p>
            <a:endParaRPr lang="en-ZA"/>
          </a:p>
        </p:txBody>
      </p:sp>
      <p:sp>
        <p:nvSpPr>
          <p:cNvPr id="47" name="Text 44"/>
          <p:cNvSpPr/>
          <p:nvPr/>
        </p:nvSpPr>
        <p:spPr>
          <a:xfrm>
            <a:off x="8220456" y="1810512"/>
            <a:ext cx="3749040" cy="274320"/>
          </a:xfrm>
          <a:prstGeom prst="rect">
            <a:avLst/>
          </a:prstGeom>
          <a:noFill/>
          <a:ln/>
        </p:spPr>
        <p:txBody>
          <a:bodyPr wrap="square" rtlCol="0" anchor="ctr"/>
          <a:lstStyle/>
          <a:p>
            <a:pPr marL="0" indent="0">
              <a:buNone/>
            </a:pPr>
            <a:r>
              <a:rPr lang="en-US" sz="1100" b="1" kern="0" spc="140" dirty="0">
                <a:solidFill>
                  <a:srgbClr val="C9A227"/>
                </a:solidFill>
                <a:latin typeface="Calibri" pitchFamily="34" charset="0"/>
                <a:ea typeface="Calibri" pitchFamily="34" charset="-122"/>
                <a:cs typeface="Calibri" pitchFamily="34" charset="-120"/>
              </a:rPr>
              <a:t>DELIVERY &amp; COLLABORATION</a:t>
            </a:r>
            <a:endParaRPr lang="en-US" sz="1100" dirty="0"/>
          </a:p>
        </p:txBody>
      </p:sp>
      <p:sp>
        <p:nvSpPr>
          <p:cNvPr id="48" name="Shape 45"/>
          <p:cNvSpPr/>
          <p:nvPr/>
        </p:nvSpPr>
        <p:spPr>
          <a:xfrm>
            <a:off x="8220456" y="2240280"/>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49" name="Shape 46"/>
          <p:cNvSpPr/>
          <p:nvPr/>
        </p:nvSpPr>
        <p:spPr>
          <a:xfrm>
            <a:off x="8348472" y="2377440"/>
            <a:ext cx="402336" cy="402336"/>
          </a:xfrm>
          <a:prstGeom prst="roundRect">
            <a:avLst>
              <a:gd name="adj" fmla="val 22727"/>
            </a:avLst>
          </a:prstGeom>
          <a:solidFill>
            <a:srgbClr val="C9A227"/>
          </a:solidFill>
          <a:ln/>
        </p:spPr>
        <p:txBody>
          <a:bodyPr/>
          <a:lstStyle/>
          <a:p>
            <a:endParaRPr lang="en-ZA"/>
          </a:p>
        </p:txBody>
      </p:sp>
      <p:sp>
        <p:nvSpPr>
          <p:cNvPr id="50" name="Text 47"/>
          <p:cNvSpPr/>
          <p:nvPr/>
        </p:nvSpPr>
        <p:spPr>
          <a:xfrm>
            <a:off x="8348472" y="2441448"/>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a:t>
            </a:r>
            <a:endParaRPr lang="en-US" sz="1100" dirty="0"/>
          </a:p>
        </p:txBody>
      </p:sp>
      <p:sp>
        <p:nvSpPr>
          <p:cNvPr id="51" name="Text 48"/>
          <p:cNvSpPr/>
          <p:nvPr/>
        </p:nvSpPr>
        <p:spPr>
          <a:xfrm>
            <a:off x="8878824" y="2331720"/>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PowerPoint</a:t>
            </a:r>
            <a:endParaRPr lang="en-US" sz="1300" dirty="0"/>
          </a:p>
        </p:txBody>
      </p:sp>
      <p:sp>
        <p:nvSpPr>
          <p:cNvPr id="52" name="Text 49"/>
          <p:cNvSpPr/>
          <p:nvPr/>
        </p:nvSpPr>
        <p:spPr>
          <a:xfrm>
            <a:off x="8878824" y="2587752"/>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Executive storytelling</a:t>
            </a:r>
            <a:endParaRPr lang="en-US" sz="1050" dirty="0"/>
          </a:p>
        </p:txBody>
      </p:sp>
      <p:sp>
        <p:nvSpPr>
          <p:cNvPr id="53" name="Shape 50"/>
          <p:cNvSpPr/>
          <p:nvPr/>
        </p:nvSpPr>
        <p:spPr>
          <a:xfrm>
            <a:off x="8220456" y="3081528"/>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54" name="Shape 51"/>
          <p:cNvSpPr/>
          <p:nvPr/>
        </p:nvSpPr>
        <p:spPr>
          <a:xfrm>
            <a:off x="8348472" y="3218688"/>
            <a:ext cx="402336" cy="402336"/>
          </a:xfrm>
          <a:prstGeom prst="roundRect">
            <a:avLst>
              <a:gd name="adj" fmla="val 22727"/>
            </a:avLst>
          </a:prstGeom>
          <a:solidFill>
            <a:srgbClr val="C9A227"/>
          </a:solidFill>
          <a:ln/>
        </p:spPr>
        <p:txBody>
          <a:bodyPr/>
          <a:lstStyle/>
          <a:p>
            <a:endParaRPr lang="en-ZA"/>
          </a:p>
        </p:txBody>
      </p:sp>
      <p:sp>
        <p:nvSpPr>
          <p:cNvPr id="55" name="Text 52"/>
          <p:cNvSpPr/>
          <p:nvPr/>
        </p:nvSpPr>
        <p:spPr>
          <a:xfrm>
            <a:off x="8348472" y="3282696"/>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56" name="Text 53"/>
          <p:cNvSpPr/>
          <p:nvPr/>
        </p:nvSpPr>
        <p:spPr>
          <a:xfrm>
            <a:off x="8878824" y="3172968"/>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Canva</a:t>
            </a:r>
            <a:endParaRPr lang="en-US" sz="1300" dirty="0"/>
          </a:p>
        </p:txBody>
      </p:sp>
      <p:sp>
        <p:nvSpPr>
          <p:cNvPr id="57" name="Text 54"/>
          <p:cNvSpPr/>
          <p:nvPr/>
        </p:nvSpPr>
        <p:spPr>
          <a:xfrm>
            <a:off x="8878824" y="3429000"/>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Visual design assets</a:t>
            </a:r>
            <a:endParaRPr lang="en-US" sz="1050" dirty="0"/>
          </a:p>
        </p:txBody>
      </p:sp>
      <p:sp>
        <p:nvSpPr>
          <p:cNvPr id="58" name="Shape 55"/>
          <p:cNvSpPr/>
          <p:nvPr/>
        </p:nvSpPr>
        <p:spPr>
          <a:xfrm>
            <a:off x="8220456" y="3922776"/>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59" name="Shape 56"/>
          <p:cNvSpPr/>
          <p:nvPr/>
        </p:nvSpPr>
        <p:spPr>
          <a:xfrm>
            <a:off x="8348472" y="4059936"/>
            <a:ext cx="402336" cy="402336"/>
          </a:xfrm>
          <a:prstGeom prst="roundRect">
            <a:avLst>
              <a:gd name="adj" fmla="val 22727"/>
            </a:avLst>
          </a:prstGeom>
          <a:solidFill>
            <a:srgbClr val="C9A227"/>
          </a:solidFill>
          <a:ln/>
        </p:spPr>
        <p:txBody>
          <a:bodyPr/>
          <a:lstStyle/>
          <a:p>
            <a:endParaRPr lang="en-ZA"/>
          </a:p>
        </p:txBody>
      </p:sp>
      <p:sp>
        <p:nvSpPr>
          <p:cNvPr id="60" name="Text 57"/>
          <p:cNvSpPr/>
          <p:nvPr/>
        </p:nvSpPr>
        <p:spPr>
          <a:xfrm>
            <a:off x="8348472" y="4123944"/>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a:t>
            </a:r>
            <a:endParaRPr lang="en-US" sz="1100" dirty="0"/>
          </a:p>
        </p:txBody>
      </p:sp>
      <p:sp>
        <p:nvSpPr>
          <p:cNvPr id="61" name="Text 58"/>
          <p:cNvSpPr/>
          <p:nvPr/>
        </p:nvSpPr>
        <p:spPr>
          <a:xfrm>
            <a:off x="8878824" y="4014216"/>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Miro</a:t>
            </a:r>
            <a:endParaRPr lang="en-US" sz="1300" dirty="0"/>
          </a:p>
        </p:txBody>
      </p:sp>
      <p:sp>
        <p:nvSpPr>
          <p:cNvPr id="62" name="Text 59"/>
          <p:cNvSpPr/>
          <p:nvPr/>
        </p:nvSpPr>
        <p:spPr>
          <a:xfrm>
            <a:off x="8878824" y="4270248"/>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Solution architecture</a:t>
            </a:r>
            <a:endParaRPr lang="en-US" sz="1050" dirty="0"/>
          </a:p>
        </p:txBody>
      </p:sp>
      <p:sp>
        <p:nvSpPr>
          <p:cNvPr id="63" name="Shape 60"/>
          <p:cNvSpPr/>
          <p:nvPr/>
        </p:nvSpPr>
        <p:spPr>
          <a:xfrm>
            <a:off x="8220456" y="4764024"/>
            <a:ext cx="3694176" cy="676656"/>
          </a:xfrm>
          <a:prstGeom prst="roundRect">
            <a:avLst>
              <a:gd name="adj" fmla="val 8108"/>
            </a:avLst>
          </a:prstGeom>
          <a:solidFill>
            <a:srgbClr val="FFFFFF"/>
          </a:solidFill>
          <a:ln w="12700">
            <a:solidFill>
              <a:srgbClr val="DDE3EC"/>
            </a:solidFill>
            <a:prstDash val="solid"/>
          </a:ln>
        </p:spPr>
        <p:txBody>
          <a:bodyPr/>
          <a:lstStyle/>
          <a:p>
            <a:endParaRPr lang="en-ZA"/>
          </a:p>
        </p:txBody>
      </p:sp>
      <p:sp>
        <p:nvSpPr>
          <p:cNvPr id="64" name="Shape 61"/>
          <p:cNvSpPr/>
          <p:nvPr/>
        </p:nvSpPr>
        <p:spPr>
          <a:xfrm>
            <a:off x="8348472" y="4901184"/>
            <a:ext cx="402336" cy="402336"/>
          </a:xfrm>
          <a:prstGeom prst="roundRect">
            <a:avLst>
              <a:gd name="adj" fmla="val 22727"/>
            </a:avLst>
          </a:prstGeom>
          <a:solidFill>
            <a:srgbClr val="C9A227"/>
          </a:solidFill>
          <a:ln/>
        </p:spPr>
        <p:txBody>
          <a:bodyPr/>
          <a:lstStyle/>
          <a:p>
            <a:endParaRPr lang="en-ZA"/>
          </a:p>
        </p:txBody>
      </p:sp>
      <p:sp>
        <p:nvSpPr>
          <p:cNvPr id="65" name="Text 62"/>
          <p:cNvSpPr/>
          <p:nvPr/>
        </p:nvSpPr>
        <p:spPr>
          <a:xfrm>
            <a:off x="8348472" y="4965192"/>
            <a:ext cx="402336"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GI</a:t>
            </a:r>
            <a:endParaRPr lang="en-US" sz="1100" dirty="0"/>
          </a:p>
        </p:txBody>
      </p:sp>
      <p:sp>
        <p:nvSpPr>
          <p:cNvPr id="66" name="Text 63"/>
          <p:cNvSpPr/>
          <p:nvPr/>
        </p:nvSpPr>
        <p:spPr>
          <a:xfrm>
            <a:off x="8878824" y="4855464"/>
            <a:ext cx="3017520" cy="274320"/>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GitHub</a:t>
            </a:r>
            <a:endParaRPr lang="en-US" sz="1300" dirty="0"/>
          </a:p>
        </p:txBody>
      </p:sp>
      <p:sp>
        <p:nvSpPr>
          <p:cNvPr id="67" name="Text 64"/>
          <p:cNvSpPr/>
          <p:nvPr/>
        </p:nvSpPr>
        <p:spPr>
          <a:xfrm>
            <a:off x="8878824" y="5111496"/>
            <a:ext cx="3017520" cy="256032"/>
          </a:xfrm>
          <a:prstGeom prst="rect">
            <a:avLst/>
          </a:prstGeom>
          <a:noFill/>
          <a:ln/>
        </p:spPr>
        <p:txBody>
          <a:bodyPr wrap="square" rtlCol="0" anchor="ctr"/>
          <a:lstStyle/>
          <a:p>
            <a:pPr marL="0" indent="0">
              <a:buNone/>
            </a:pPr>
            <a:r>
              <a:rPr lang="en-US" sz="1050" dirty="0">
                <a:solidFill>
                  <a:srgbClr val="5B6B80"/>
                </a:solidFill>
                <a:latin typeface="Calibri" pitchFamily="34" charset="0"/>
                <a:ea typeface="Calibri" pitchFamily="34" charset="-122"/>
                <a:cs typeface="Calibri" pitchFamily="34" charset="-120"/>
              </a:rPr>
              <a:t>Version control &amp; documentation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08</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Analytics Workflow</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07</a:t>
            </a:r>
            <a:endParaRPr lang="en-US" sz="900" dirty="0"/>
          </a:p>
        </p:txBody>
      </p:sp>
      <p:sp>
        <p:nvSpPr>
          <p:cNvPr id="9" name="Shape 6"/>
          <p:cNvSpPr/>
          <p:nvPr/>
        </p:nvSpPr>
        <p:spPr>
          <a:xfrm>
            <a:off x="502920" y="1554480"/>
            <a:ext cx="3794760" cy="4206240"/>
          </a:xfrm>
          <a:prstGeom prst="roundRect">
            <a:avLst>
              <a:gd name="adj" fmla="val 1446"/>
            </a:avLst>
          </a:prstGeom>
          <a:solidFill>
            <a:srgbClr val="F4F6FA"/>
          </a:solidFill>
          <a:ln w="12700">
            <a:solidFill>
              <a:srgbClr val="DDE3EC"/>
            </a:solidFill>
            <a:prstDash val="solid"/>
          </a:ln>
        </p:spPr>
        <p:txBody>
          <a:bodyPr/>
          <a:lstStyle/>
          <a:p>
            <a:endParaRPr lang="en-ZA"/>
          </a:p>
        </p:txBody>
      </p:sp>
      <p:sp>
        <p:nvSpPr>
          <p:cNvPr id="10" name="Text 7"/>
          <p:cNvSpPr/>
          <p:nvPr/>
        </p:nvSpPr>
        <p:spPr>
          <a:xfrm>
            <a:off x="731520" y="1691640"/>
            <a:ext cx="3337560" cy="274320"/>
          </a:xfrm>
          <a:prstGeom prst="rect">
            <a:avLst/>
          </a:prstGeom>
          <a:noFill/>
          <a:ln/>
        </p:spPr>
        <p:txBody>
          <a:bodyPr wrap="square" rtlCol="0" anchor="ctr"/>
          <a:lstStyle/>
          <a:p>
            <a:pPr marL="0" indent="0">
              <a:buNone/>
            </a:pPr>
            <a:r>
              <a:rPr lang="en-US" sz="1050" b="1" kern="0" spc="140" dirty="0">
                <a:solidFill>
                  <a:srgbClr val="1565C0"/>
                </a:solidFill>
                <a:latin typeface="Calibri" pitchFamily="34" charset="0"/>
                <a:ea typeface="Calibri" pitchFamily="34" charset="-122"/>
                <a:cs typeface="Calibri" pitchFamily="34" charset="-120"/>
              </a:rPr>
              <a:t>01  INGEST &amp; ENGINEER</a:t>
            </a:r>
            <a:endParaRPr lang="en-US" sz="1050" dirty="0"/>
          </a:p>
        </p:txBody>
      </p:sp>
      <p:sp>
        <p:nvSpPr>
          <p:cNvPr id="11" name="Shape 8"/>
          <p:cNvSpPr/>
          <p:nvPr/>
        </p:nvSpPr>
        <p:spPr>
          <a:xfrm>
            <a:off x="4572000" y="1554480"/>
            <a:ext cx="3794760" cy="4206240"/>
          </a:xfrm>
          <a:prstGeom prst="roundRect">
            <a:avLst>
              <a:gd name="adj" fmla="val 1446"/>
            </a:avLst>
          </a:prstGeom>
          <a:solidFill>
            <a:srgbClr val="F4F6FA"/>
          </a:solidFill>
          <a:ln w="12700">
            <a:solidFill>
              <a:srgbClr val="DDE3EC"/>
            </a:solidFill>
            <a:prstDash val="solid"/>
          </a:ln>
        </p:spPr>
        <p:txBody>
          <a:bodyPr/>
          <a:lstStyle/>
          <a:p>
            <a:endParaRPr lang="en-ZA"/>
          </a:p>
        </p:txBody>
      </p:sp>
      <p:sp>
        <p:nvSpPr>
          <p:cNvPr id="12" name="Text 9"/>
          <p:cNvSpPr/>
          <p:nvPr/>
        </p:nvSpPr>
        <p:spPr>
          <a:xfrm>
            <a:off x="4800600" y="1691640"/>
            <a:ext cx="3337560" cy="274320"/>
          </a:xfrm>
          <a:prstGeom prst="rect">
            <a:avLst/>
          </a:prstGeom>
          <a:noFill/>
          <a:ln/>
        </p:spPr>
        <p:txBody>
          <a:bodyPr wrap="square" rtlCol="0" anchor="ctr"/>
          <a:lstStyle/>
          <a:p>
            <a:pPr marL="0" indent="0">
              <a:buNone/>
            </a:pPr>
            <a:r>
              <a:rPr lang="en-US" sz="1050" b="1" kern="0" spc="140" dirty="0">
                <a:solidFill>
                  <a:srgbClr val="42A5F5"/>
                </a:solidFill>
                <a:latin typeface="Calibri" pitchFamily="34" charset="0"/>
                <a:ea typeface="Calibri" pitchFamily="34" charset="-122"/>
                <a:cs typeface="Calibri" pitchFamily="34" charset="-120"/>
              </a:rPr>
              <a:t>02  SERVE</a:t>
            </a:r>
            <a:endParaRPr lang="en-US" sz="1050" dirty="0"/>
          </a:p>
        </p:txBody>
      </p:sp>
      <p:sp>
        <p:nvSpPr>
          <p:cNvPr id="13" name="Shape 10"/>
          <p:cNvSpPr/>
          <p:nvPr/>
        </p:nvSpPr>
        <p:spPr>
          <a:xfrm>
            <a:off x="8641080" y="1554480"/>
            <a:ext cx="3017520" cy="4206240"/>
          </a:xfrm>
          <a:prstGeom prst="roundRect">
            <a:avLst>
              <a:gd name="adj" fmla="val 1818"/>
            </a:avLst>
          </a:prstGeom>
          <a:solidFill>
            <a:srgbClr val="F4F6FA"/>
          </a:solidFill>
          <a:ln w="12700">
            <a:solidFill>
              <a:srgbClr val="DDE3EC"/>
            </a:solidFill>
            <a:prstDash val="solid"/>
          </a:ln>
        </p:spPr>
        <p:txBody>
          <a:bodyPr/>
          <a:lstStyle/>
          <a:p>
            <a:endParaRPr lang="en-ZA"/>
          </a:p>
        </p:txBody>
      </p:sp>
      <p:sp>
        <p:nvSpPr>
          <p:cNvPr id="14" name="Text 11"/>
          <p:cNvSpPr/>
          <p:nvPr/>
        </p:nvSpPr>
        <p:spPr>
          <a:xfrm>
            <a:off x="8869680" y="1691640"/>
            <a:ext cx="2560320" cy="274320"/>
          </a:xfrm>
          <a:prstGeom prst="rect">
            <a:avLst/>
          </a:prstGeom>
          <a:noFill/>
          <a:ln/>
        </p:spPr>
        <p:txBody>
          <a:bodyPr wrap="square" rtlCol="0" anchor="ctr"/>
          <a:lstStyle/>
          <a:p>
            <a:pPr marL="0" indent="0">
              <a:buNone/>
            </a:pPr>
            <a:r>
              <a:rPr lang="en-US" sz="1050" b="1" kern="0" spc="140" dirty="0">
                <a:solidFill>
                  <a:srgbClr val="C9A227"/>
                </a:solidFill>
                <a:latin typeface="Calibri" pitchFamily="34" charset="0"/>
                <a:ea typeface="Calibri" pitchFamily="34" charset="-122"/>
                <a:cs typeface="Calibri" pitchFamily="34" charset="-120"/>
              </a:rPr>
              <a:t>03  DECIDE</a:t>
            </a:r>
            <a:endParaRPr lang="en-US" sz="1050" dirty="0"/>
          </a:p>
        </p:txBody>
      </p:sp>
      <p:sp>
        <p:nvSpPr>
          <p:cNvPr id="15" name="Shape 12"/>
          <p:cNvSpPr/>
          <p:nvPr/>
        </p:nvSpPr>
        <p:spPr>
          <a:xfrm>
            <a:off x="777240" y="2103120"/>
            <a:ext cx="3246120" cy="475488"/>
          </a:xfrm>
          <a:prstGeom prst="roundRect">
            <a:avLst>
              <a:gd name="adj" fmla="val 11538"/>
            </a:avLst>
          </a:prstGeom>
          <a:solidFill>
            <a:srgbClr val="1565C0"/>
          </a:solidFill>
          <a:ln w="12700">
            <a:solidFill>
              <a:srgbClr val="1565C0"/>
            </a:solidFill>
            <a:prstDash val="solid"/>
          </a:ln>
        </p:spPr>
        <p:txBody>
          <a:bodyPr/>
          <a:lstStyle/>
          <a:p>
            <a:endParaRPr lang="en-ZA"/>
          </a:p>
        </p:txBody>
      </p:sp>
      <p:sp>
        <p:nvSpPr>
          <p:cNvPr id="16" name="Text 13"/>
          <p:cNvSpPr/>
          <p:nvPr/>
        </p:nvSpPr>
        <p:spPr>
          <a:xfrm>
            <a:off x="905256" y="2103120"/>
            <a:ext cx="2990088" cy="47548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Business Case</a:t>
            </a:r>
            <a:endParaRPr lang="en-US" sz="1150" dirty="0"/>
          </a:p>
        </p:txBody>
      </p:sp>
      <p:sp>
        <p:nvSpPr>
          <p:cNvPr id="17" name="Shape 14"/>
          <p:cNvSpPr/>
          <p:nvPr/>
        </p:nvSpPr>
        <p:spPr>
          <a:xfrm>
            <a:off x="2377440" y="2587752"/>
            <a:ext cx="10973" cy="201168"/>
          </a:xfrm>
          <a:prstGeom prst="rect">
            <a:avLst/>
          </a:prstGeom>
          <a:solidFill>
            <a:srgbClr val="B9C6D6"/>
          </a:solidFill>
          <a:ln/>
        </p:spPr>
        <p:txBody>
          <a:bodyPr/>
          <a:lstStyle/>
          <a:p>
            <a:endParaRPr lang="en-ZA"/>
          </a:p>
        </p:txBody>
      </p:sp>
      <p:sp>
        <p:nvSpPr>
          <p:cNvPr id="18" name="Shape 15"/>
          <p:cNvSpPr/>
          <p:nvPr/>
        </p:nvSpPr>
        <p:spPr>
          <a:xfrm>
            <a:off x="777240" y="2816352"/>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19" name="Text 16"/>
          <p:cNvSpPr/>
          <p:nvPr/>
        </p:nvSpPr>
        <p:spPr>
          <a:xfrm>
            <a:off x="905256" y="2816352"/>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Raw Data</a:t>
            </a:r>
            <a:endParaRPr lang="en-US" sz="1150" dirty="0"/>
          </a:p>
        </p:txBody>
      </p:sp>
      <p:sp>
        <p:nvSpPr>
          <p:cNvPr id="20" name="Shape 17"/>
          <p:cNvSpPr/>
          <p:nvPr/>
        </p:nvSpPr>
        <p:spPr>
          <a:xfrm>
            <a:off x="2377440" y="3300984"/>
            <a:ext cx="10973" cy="201168"/>
          </a:xfrm>
          <a:prstGeom prst="rect">
            <a:avLst/>
          </a:prstGeom>
          <a:solidFill>
            <a:srgbClr val="B9C6D6"/>
          </a:solidFill>
          <a:ln/>
        </p:spPr>
        <p:txBody>
          <a:bodyPr/>
          <a:lstStyle/>
          <a:p>
            <a:endParaRPr lang="en-ZA"/>
          </a:p>
        </p:txBody>
      </p:sp>
      <p:sp>
        <p:nvSpPr>
          <p:cNvPr id="21" name="Shape 18"/>
          <p:cNvSpPr/>
          <p:nvPr/>
        </p:nvSpPr>
        <p:spPr>
          <a:xfrm>
            <a:off x="777240" y="3529584"/>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22" name="Text 19"/>
          <p:cNvSpPr/>
          <p:nvPr/>
        </p:nvSpPr>
        <p:spPr>
          <a:xfrm>
            <a:off x="905256" y="3529584"/>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SQL Cleaning</a:t>
            </a:r>
            <a:endParaRPr lang="en-US" sz="1150" dirty="0"/>
          </a:p>
        </p:txBody>
      </p:sp>
      <p:sp>
        <p:nvSpPr>
          <p:cNvPr id="23" name="Shape 20"/>
          <p:cNvSpPr/>
          <p:nvPr/>
        </p:nvSpPr>
        <p:spPr>
          <a:xfrm>
            <a:off x="2377440" y="4014216"/>
            <a:ext cx="10973" cy="201168"/>
          </a:xfrm>
          <a:prstGeom prst="rect">
            <a:avLst/>
          </a:prstGeom>
          <a:solidFill>
            <a:srgbClr val="B9C6D6"/>
          </a:solidFill>
          <a:ln/>
        </p:spPr>
        <p:txBody>
          <a:bodyPr/>
          <a:lstStyle/>
          <a:p>
            <a:endParaRPr lang="en-ZA"/>
          </a:p>
        </p:txBody>
      </p:sp>
      <p:sp>
        <p:nvSpPr>
          <p:cNvPr id="24" name="Shape 21"/>
          <p:cNvSpPr/>
          <p:nvPr/>
        </p:nvSpPr>
        <p:spPr>
          <a:xfrm>
            <a:off x="777240" y="4242816"/>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25" name="Text 22"/>
          <p:cNvSpPr/>
          <p:nvPr/>
        </p:nvSpPr>
        <p:spPr>
          <a:xfrm>
            <a:off x="905256" y="4242816"/>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Feature Engineering</a:t>
            </a:r>
            <a:endParaRPr lang="en-US" sz="1150" dirty="0"/>
          </a:p>
        </p:txBody>
      </p:sp>
      <p:sp>
        <p:nvSpPr>
          <p:cNvPr id="26" name="Shape 23"/>
          <p:cNvSpPr/>
          <p:nvPr/>
        </p:nvSpPr>
        <p:spPr>
          <a:xfrm>
            <a:off x="777240" y="4956048"/>
            <a:ext cx="3246120" cy="475488"/>
          </a:xfrm>
          <a:prstGeom prst="roundRect">
            <a:avLst>
              <a:gd name="adj" fmla="val 11538"/>
            </a:avLst>
          </a:prstGeom>
          <a:solidFill>
            <a:srgbClr val="0B1F3A"/>
          </a:solidFill>
          <a:ln w="12700">
            <a:solidFill>
              <a:srgbClr val="0B1F3A"/>
            </a:solidFill>
            <a:prstDash val="solid"/>
          </a:ln>
        </p:spPr>
        <p:txBody>
          <a:bodyPr/>
          <a:lstStyle/>
          <a:p>
            <a:endParaRPr lang="en-ZA"/>
          </a:p>
        </p:txBody>
      </p:sp>
      <p:sp>
        <p:nvSpPr>
          <p:cNvPr id="27" name="Text 24"/>
          <p:cNvSpPr/>
          <p:nvPr/>
        </p:nvSpPr>
        <p:spPr>
          <a:xfrm>
            <a:off x="905256" y="4956048"/>
            <a:ext cx="2990088" cy="47548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Analytical Dataset  ·  9,980 rows</a:t>
            </a:r>
            <a:endParaRPr lang="en-US" sz="1150" dirty="0"/>
          </a:p>
        </p:txBody>
      </p:sp>
      <p:sp>
        <p:nvSpPr>
          <p:cNvPr id="28" name="Shape 25"/>
          <p:cNvSpPr/>
          <p:nvPr/>
        </p:nvSpPr>
        <p:spPr>
          <a:xfrm>
            <a:off x="2377440" y="4754880"/>
            <a:ext cx="10973" cy="201168"/>
          </a:xfrm>
          <a:prstGeom prst="rect">
            <a:avLst/>
          </a:prstGeom>
          <a:solidFill>
            <a:srgbClr val="B9C6D6"/>
          </a:solidFill>
          <a:ln/>
        </p:spPr>
        <p:txBody>
          <a:bodyPr/>
          <a:lstStyle/>
          <a:p>
            <a:endParaRPr lang="en-ZA"/>
          </a:p>
        </p:txBody>
      </p:sp>
      <p:sp>
        <p:nvSpPr>
          <p:cNvPr id="29" name="Shape 26"/>
          <p:cNvSpPr/>
          <p:nvPr/>
        </p:nvSpPr>
        <p:spPr>
          <a:xfrm>
            <a:off x="4846320" y="2103120"/>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30" name="Text 27"/>
          <p:cNvSpPr/>
          <p:nvPr/>
        </p:nvSpPr>
        <p:spPr>
          <a:xfrm>
            <a:off x="4974336" y="2103120"/>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Excel Dashboard</a:t>
            </a:r>
            <a:endParaRPr lang="en-US" sz="1150" dirty="0"/>
          </a:p>
        </p:txBody>
      </p:sp>
      <p:sp>
        <p:nvSpPr>
          <p:cNvPr id="31" name="Shape 28"/>
          <p:cNvSpPr/>
          <p:nvPr/>
        </p:nvSpPr>
        <p:spPr>
          <a:xfrm>
            <a:off x="4846320" y="2816352"/>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32" name="Text 29"/>
          <p:cNvSpPr/>
          <p:nvPr/>
        </p:nvSpPr>
        <p:spPr>
          <a:xfrm>
            <a:off x="4974336" y="2816352"/>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Power BI</a:t>
            </a:r>
            <a:endParaRPr lang="en-US" sz="1150" dirty="0"/>
          </a:p>
        </p:txBody>
      </p:sp>
      <p:sp>
        <p:nvSpPr>
          <p:cNvPr id="33" name="Shape 30"/>
          <p:cNvSpPr/>
          <p:nvPr/>
        </p:nvSpPr>
        <p:spPr>
          <a:xfrm>
            <a:off x="4846320" y="3529584"/>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34" name="Text 31"/>
          <p:cNvSpPr/>
          <p:nvPr/>
        </p:nvSpPr>
        <p:spPr>
          <a:xfrm>
            <a:off x="4974336" y="3529584"/>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Looker Studio</a:t>
            </a:r>
            <a:endParaRPr lang="en-US" sz="1150" dirty="0"/>
          </a:p>
        </p:txBody>
      </p:sp>
      <p:sp>
        <p:nvSpPr>
          <p:cNvPr id="35" name="Shape 32"/>
          <p:cNvSpPr/>
          <p:nvPr/>
        </p:nvSpPr>
        <p:spPr>
          <a:xfrm>
            <a:off x="4846320" y="4242816"/>
            <a:ext cx="324612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36" name="Text 33"/>
          <p:cNvSpPr/>
          <p:nvPr/>
        </p:nvSpPr>
        <p:spPr>
          <a:xfrm>
            <a:off x="4974336" y="4242816"/>
            <a:ext cx="299008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Lovable Web App</a:t>
            </a:r>
            <a:endParaRPr lang="en-US" sz="1150" dirty="0"/>
          </a:p>
        </p:txBody>
      </p:sp>
      <p:sp>
        <p:nvSpPr>
          <p:cNvPr id="37" name="Shape 34"/>
          <p:cNvSpPr/>
          <p:nvPr/>
        </p:nvSpPr>
        <p:spPr>
          <a:xfrm>
            <a:off x="4224528" y="2194560"/>
            <a:ext cx="10973" cy="2999232"/>
          </a:xfrm>
          <a:prstGeom prst="rect">
            <a:avLst/>
          </a:prstGeom>
          <a:solidFill>
            <a:srgbClr val="B9C6D6"/>
          </a:solidFill>
          <a:ln/>
        </p:spPr>
        <p:txBody>
          <a:bodyPr/>
          <a:lstStyle/>
          <a:p>
            <a:endParaRPr lang="en-ZA"/>
          </a:p>
        </p:txBody>
      </p:sp>
      <p:sp>
        <p:nvSpPr>
          <p:cNvPr id="38" name="Shape 35"/>
          <p:cNvSpPr/>
          <p:nvPr/>
        </p:nvSpPr>
        <p:spPr>
          <a:xfrm>
            <a:off x="4224528" y="2331720"/>
            <a:ext cx="621792" cy="10973"/>
          </a:xfrm>
          <a:prstGeom prst="rect">
            <a:avLst/>
          </a:prstGeom>
          <a:solidFill>
            <a:srgbClr val="B9C6D6"/>
          </a:solidFill>
          <a:ln/>
        </p:spPr>
        <p:txBody>
          <a:bodyPr/>
          <a:lstStyle/>
          <a:p>
            <a:endParaRPr lang="en-ZA"/>
          </a:p>
        </p:txBody>
      </p:sp>
      <p:sp>
        <p:nvSpPr>
          <p:cNvPr id="39" name="Shape 36"/>
          <p:cNvSpPr/>
          <p:nvPr/>
        </p:nvSpPr>
        <p:spPr>
          <a:xfrm>
            <a:off x="4224528" y="3044952"/>
            <a:ext cx="621792" cy="10973"/>
          </a:xfrm>
          <a:prstGeom prst="rect">
            <a:avLst/>
          </a:prstGeom>
          <a:solidFill>
            <a:srgbClr val="B9C6D6"/>
          </a:solidFill>
          <a:ln/>
        </p:spPr>
        <p:txBody>
          <a:bodyPr/>
          <a:lstStyle/>
          <a:p>
            <a:endParaRPr lang="en-ZA"/>
          </a:p>
        </p:txBody>
      </p:sp>
      <p:sp>
        <p:nvSpPr>
          <p:cNvPr id="40" name="Shape 37"/>
          <p:cNvSpPr/>
          <p:nvPr/>
        </p:nvSpPr>
        <p:spPr>
          <a:xfrm>
            <a:off x="4224528" y="3758184"/>
            <a:ext cx="621792" cy="10973"/>
          </a:xfrm>
          <a:prstGeom prst="rect">
            <a:avLst/>
          </a:prstGeom>
          <a:solidFill>
            <a:srgbClr val="B9C6D6"/>
          </a:solidFill>
          <a:ln/>
        </p:spPr>
        <p:txBody>
          <a:bodyPr/>
          <a:lstStyle/>
          <a:p>
            <a:endParaRPr lang="en-ZA"/>
          </a:p>
        </p:txBody>
      </p:sp>
      <p:sp>
        <p:nvSpPr>
          <p:cNvPr id="41" name="Shape 38"/>
          <p:cNvSpPr/>
          <p:nvPr/>
        </p:nvSpPr>
        <p:spPr>
          <a:xfrm>
            <a:off x="4224528" y="4471416"/>
            <a:ext cx="621792" cy="10973"/>
          </a:xfrm>
          <a:prstGeom prst="rect">
            <a:avLst/>
          </a:prstGeom>
          <a:solidFill>
            <a:srgbClr val="B9C6D6"/>
          </a:solidFill>
          <a:ln/>
        </p:spPr>
        <p:txBody>
          <a:bodyPr/>
          <a:lstStyle/>
          <a:p>
            <a:endParaRPr lang="en-ZA"/>
          </a:p>
        </p:txBody>
      </p:sp>
      <p:sp>
        <p:nvSpPr>
          <p:cNvPr id="42" name="Shape 39"/>
          <p:cNvSpPr/>
          <p:nvPr/>
        </p:nvSpPr>
        <p:spPr>
          <a:xfrm>
            <a:off x="4224528" y="5193792"/>
            <a:ext cx="219456" cy="10973"/>
          </a:xfrm>
          <a:prstGeom prst="rect">
            <a:avLst/>
          </a:prstGeom>
          <a:solidFill>
            <a:srgbClr val="B9C6D6"/>
          </a:solidFill>
          <a:ln/>
        </p:spPr>
        <p:txBody>
          <a:bodyPr/>
          <a:lstStyle/>
          <a:p>
            <a:endParaRPr lang="en-ZA"/>
          </a:p>
        </p:txBody>
      </p:sp>
      <p:sp>
        <p:nvSpPr>
          <p:cNvPr id="43" name="Text 40"/>
          <p:cNvSpPr/>
          <p:nvPr/>
        </p:nvSpPr>
        <p:spPr>
          <a:xfrm>
            <a:off x="4846320" y="5074920"/>
            <a:ext cx="3246120" cy="457200"/>
          </a:xfrm>
          <a:prstGeom prst="rect">
            <a:avLst/>
          </a:prstGeom>
          <a:noFill/>
          <a:ln/>
        </p:spPr>
        <p:txBody>
          <a:bodyPr wrap="square" rtlCol="0" anchor="ctr"/>
          <a:lstStyle/>
          <a:p>
            <a:pPr marL="0" indent="0">
              <a:buNone/>
            </a:pPr>
            <a:r>
              <a:rPr lang="en-US" sz="1050" i="1" dirty="0">
                <a:solidFill>
                  <a:srgbClr val="5B6B80"/>
                </a:solidFill>
                <a:latin typeface="Calibri" pitchFamily="34" charset="0"/>
                <a:ea typeface="Calibri" pitchFamily="34" charset="-122"/>
                <a:cs typeface="Calibri" pitchFamily="34" charset="-120"/>
              </a:rPr>
              <a:t>One certified source feeds every consumption layer</a:t>
            </a:r>
            <a:endParaRPr lang="en-US" sz="1050" dirty="0"/>
          </a:p>
        </p:txBody>
      </p:sp>
      <p:sp>
        <p:nvSpPr>
          <p:cNvPr id="44" name="Shape 41"/>
          <p:cNvSpPr/>
          <p:nvPr/>
        </p:nvSpPr>
        <p:spPr>
          <a:xfrm>
            <a:off x="8915400" y="2651760"/>
            <a:ext cx="2468880" cy="475488"/>
          </a:xfrm>
          <a:prstGeom prst="roundRect">
            <a:avLst>
              <a:gd name="adj" fmla="val 11538"/>
            </a:avLst>
          </a:prstGeom>
          <a:solidFill>
            <a:srgbClr val="FFFFFF"/>
          </a:solidFill>
          <a:ln w="12700">
            <a:solidFill>
              <a:srgbClr val="DDE3EC"/>
            </a:solidFill>
            <a:prstDash val="solid"/>
          </a:ln>
        </p:spPr>
        <p:txBody>
          <a:bodyPr/>
          <a:lstStyle/>
          <a:p>
            <a:endParaRPr lang="en-ZA"/>
          </a:p>
        </p:txBody>
      </p:sp>
      <p:sp>
        <p:nvSpPr>
          <p:cNvPr id="45" name="Text 42"/>
          <p:cNvSpPr/>
          <p:nvPr/>
        </p:nvSpPr>
        <p:spPr>
          <a:xfrm>
            <a:off x="9043416" y="2651760"/>
            <a:ext cx="2212848" cy="475488"/>
          </a:xfrm>
          <a:prstGeom prst="rect">
            <a:avLst/>
          </a:prstGeom>
          <a:noFill/>
          <a:ln/>
        </p:spPr>
        <p:txBody>
          <a:bodyPr wrap="square" rtlCol="0" anchor="ctr"/>
          <a:lstStyle/>
          <a:p>
            <a:pPr marL="0" indent="0">
              <a:buNone/>
            </a:pPr>
            <a:r>
              <a:rPr lang="en-US" sz="1150" b="1" dirty="0">
                <a:solidFill>
                  <a:srgbClr val="0B1F3A"/>
                </a:solidFill>
                <a:latin typeface="Calibri" pitchFamily="34" charset="0"/>
                <a:ea typeface="Calibri" pitchFamily="34" charset="-122"/>
                <a:cs typeface="Calibri" pitchFamily="34" charset="-120"/>
              </a:rPr>
              <a:t>Business Insights</a:t>
            </a:r>
            <a:endParaRPr lang="en-US" sz="1150" dirty="0"/>
          </a:p>
        </p:txBody>
      </p:sp>
      <p:sp>
        <p:nvSpPr>
          <p:cNvPr id="46" name="Shape 43"/>
          <p:cNvSpPr/>
          <p:nvPr/>
        </p:nvSpPr>
        <p:spPr>
          <a:xfrm>
            <a:off x="10149840" y="3154680"/>
            <a:ext cx="10973" cy="201168"/>
          </a:xfrm>
          <a:prstGeom prst="rect">
            <a:avLst/>
          </a:prstGeom>
          <a:solidFill>
            <a:srgbClr val="B9C6D6"/>
          </a:solidFill>
          <a:ln/>
        </p:spPr>
        <p:txBody>
          <a:bodyPr/>
          <a:lstStyle/>
          <a:p>
            <a:endParaRPr lang="en-ZA"/>
          </a:p>
        </p:txBody>
      </p:sp>
      <p:sp>
        <p:nvSpPr>
          <p:cNvPr id="47" name="Shape 44"/>
          <p:cNvSpPr/>
          <p:nvPr/>
        </p:nvSpPr>
        <p:spPr>
          <a:xfrm>
            <a:off x="8915400" y="3566160"/>
            <a:ext cx="2468880" cy="475488"/>
          </a:xfrm>
          <a:prstGeom prst="roundRect">
            <a:avLst>
              <a:gd name="adj" fmla="val 11538"/>
            </a:avLst>
          </a:prstGeom>
          <a:solidFill>
            <a:srgbClr val="C9A227"/>
          </a:solidFill>
          <a:ln w="12700">
            <a:solidFill>
              <a:srgbClr val="C9A227"/>
            </a:solidFill>
            <a:prstDash val="solid"/>
          </a:ln>
        </p:spPr>
        <p:txBody>
          <a:bodyPr/>
          <a:lstStyle/>
          <a:p>
            <a:endParaRPr lang="en-ZA"/>
          </a:p>
        </p:txBody>
      </p:sp>
      <p:sp>
        <p:nvSpPr>
          <p:cNvPr id="48" name="Text 45"/>
          <p:cNvSpPr/>
          <p:nvPr/>
        </p:nvSpPr>
        <p:spPr>
          <a:xfrm>
            <a:off x="9043416" y="3566160"/>
            <a:ext cx="2212848" cy="47548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Recommendations</a:t>
            </a:r>
            <a:endParaRPr lang="en-US" sz="1150" dirty="0"/>
          </a:p>
        </p:txBody>
      </p:sp>
      <p:sp>
        <p:nvSpPr>
          <p:cNvPr id="49" name="Shape 46"/>
          <p:cNvSpPr/>
          <p:nvPr/>
        </p:nvSpPr>
        <p:spPr>
          <a:xfrm>
            <a:off x="8321040" y="2889504"/>
            <a:ext cx="594360" cy="10973"/>
          </a:xfrm>
          <a:prstGeom prst="rect">
            <a:avLst/>
          </a:prstGeom>
          <a:solidFill>
            <a:srgbClr val="B9C6D6"/>
          </a:solidFill>
          <a:ln/>
        </p:spPr>
        <p:txBody>
          <a:bodyPr/>
          <a:lstStyle/>
          <a:p>
            <a:endParaRPr lang="en-ZA"/>
          </a:p>
        </p:txBody>
      </p:sp>
      <p:sp>
        <p:nvSpPr>
          <p:cNvPr id="50" name="Text 47"/>
          <p:cNvSpPr/>
          <p:nvPr/>
        </p:nvSpPr>
        <p:spPr>
          <a:xfrm>
            <a:off x="8915400" y="4297680"/>
            <a:ext cx="2468880" cy="457200"/>
          </a:xfrm>
          <a:prstGeom prst="rect">
            <a:avLst/>
          </a:prstGeom>
          <a:noFill/>
          <a:ln/>
        </p:spPr>
        <p:txBody>
          <a:bodyPr wrap="square"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Growth  ·  Engagement  ·  Retention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09</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SQL Data Engineering</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08</a:t>
            </a:r>
            <a:endParaRPr lang="en-US" sz="900" dirty="0"/>
          </a:p>
        </p:txBody>
      </p:sp>
      <p:sp>
        <p:nvSpPr>
          <p:cNvPr id="9" name="Shape 6"/>
          <p:cNvSpPr/>
          <p:nvPr/>
        </p:nvSpPr>
        <p:spPr>
          <a:xfrm>
            <a:off x="502920" y="1600200"/>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00200"/>
            <a:ext cx="54864" cy="603504"/>
          </a:xfrm>
          <a:prstGeom prst="rect">
            <a:avLst/>
          </a:prstGeom>
          <a:solidFill>
            <a:srgbClr val="1565C0"/>
          </a:solidFill>
          <a:ln/>
        </p:spPr>
        <p:txBody>
          <a:bodyPr/>
          <a:lstStyle/>
          <a:p>
            <a:endParaRPr lang="en-ZA"/>
          </a:p>
        </p:txBody>
      </p:sp>
      <p:sp>
        <p:nvSpPr>
          <p:cNvPr id="11" name="Text 8"/>
          <p:cNvSpPr/>
          <p:nvPr/>
        </p:nvSpPr>
        <p:spPr>
          <a:xfrm>
            <a:off x="749808" y="1655064"/>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Cleaning</a:t>
            </a:r>
            <a:endParaRPr lang="en-US" sz="1300" dirty="0"/>
          </a:p>
        </p:txBody>
      </p:sp>
      <p:sp>
        <p:nvSpPr>
          <p:cNvPr id="12" name="Text 9"/>
          <p:cNvSpPr/>
          <p:nvPr/>
        </p:nvSpPr>
        <p:spPr>
          <a:xfrm>
            <a:off x="2697480" y="1655064"/>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Nulls, blanks and invalid session durations resolved</a:t>
            </a:r>
            <a:endParaRPr lang="en-US" sz="1100" dirty="0"/>
          </a:p>
        </p:txBody>
      </p:sp>
      <p:sp>
        <p:nvSpPr>
          <p:cNvPr id="13" name="Shape 10"/>
          <p:cNvSpPr/>
          <p:nvPr/>
        </p:nvSpPr>
        <p:spPr>
          <a:xfrm>
            <a:off x="502920" y="2304288"/>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4" name="Shape 11"/>
          <p:cNvSpPr/>
          <p:nvPr/>
        </p:nvSpPr>
        <p:spPr>
          <a:xfrm>
            <a:off x="502920" y="2304288"/>
            <a:ext cx="54864" cy="603504"/>
          </a:xfrm>
          <a:prstGeom prst="rect">
            <a:avLst/>
          </a:prstGeom>
          <a:solidFill>
            <a:srgbClr val="42A5F5"/>
          </a:solidFill>
          <a:ln/>
        </p:spPr>
        <p:txBody>
          <a:bodyPr/>
          <a:lstStyle/>
          <a:p>
            <a:endParaRPr lang="en-ZA"/>
          </a:p>
        </p:txBody>
      </p:sp>
      <p:sp>
        <p:nvSpPr>
          <p:cNvPr id="15" name="Text 12"/>
          <p:cNvSpPr/>
          <p:nvPr/>
        </p:nvSpPr>
        <p:spPr>
          <a:xfrm>
            <a:off x="749808" y="2359152"/>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Standardisation</a:t>
            </a:r>
            <a:endParaRPr lang="en-US" sz="1300" dirty="0"/>
          </a:p>
        </p:txBody>
      </p:sp>
      <p:sp>
        <p:nvSpPr>
          <p:cNvPr id="16" name="Text 13"/>
          <p:cNvSpPr/>
          <p:nvPr/>
        </p:nvSpPr>
        <p:spPr>
          <a:xfrm>
            <a:off x="2697480" y="2359152"/>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Province, race and gender values normalised to one taxonomy</a:t>
            </a:r>
            <a:endParaRPr lang="en-US" sz="1100" dirty="0"/>
          </a:p>
        </p:txBody>
      </p:sp>
      <p:sp>
        <p:nvSpPr>
          <p:cNvPr id="17" name="Shape 14"/>
          <p:cNvSpPr/>
          <p:nvPr/>
        </p:nvSpPr>
        <p:spPr>
          <a:xfrm>
            <a:off x="502920" y="3008376"/>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8" name="Shape 15"/>
          <p:cNvSpPr/>
          <p:nvPr/>
        </p:nvSpPr>
        <p:spPr>
          <a:xfrm>
            <a:off x="502920" y="3008376"/>
            <a:ext cx="54864" cy="603504"/>
          </a:xfrm>
          <a:prstGeom prst="rect">
            <a:avLst/>
          </a:prstGeom>
          <a:solidFill>
            <a:srgbClr val="1565C0"/>
          </a:solidFill>
          <a:ln/>
        </p:spPr>
        <p:txBody>
          <a:bodyPr/>
          <a:lstStyle/>
          <a:p>
            <a:endParaRPr lang="en-ZA"/>
          </a:p>
        </p:txBody>
      </p:sp>
      <p:sp>
        <p:nvSpPr>
          <p:cNvPr id="19" name="Text 16"/>
          <p:cNvSpPr/>
          <p:nvPr/>
        </p:nvSpPr>
        <p:spPr>
          <a:xfrm>
            <a:off x="749808" y="3063240"/>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Feature Engineering</a:t>
            </a:r>
            <a:endParaRPr lang="en-US" sz="1300" dirty="0"/>
          </a:p>
        </p:txBody>
      </p:sp>
      <p:sp>
        <p:nvSpPr>
          <p:cNvPr id="20" name="Text 17"/>
          <p:cNvSpPr/>
          <p:nvPr/>
        </p:nvSpPr>
        <p:spPr>
          <a:xfrm>
            <a:off x="2697480" y="3063240"/>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Age groups, time-of-day bands, day classification</a:t>
            </a:r>
            <a:endParaRPr lang="en-US" sz="1100" dirty="0"/>
          </a:p>
        </p:txBody>
      </p:sp>
      <p:sp>
        <p:nvSpPr>
          <p:cNvPr id="21" name="Shape 18"/>
          <p:cNvSpPr/>
          <p:nvPr/>
        </p:nvSpPr>
        <p:spPr>
          <a:xfrm>
            <a:off x="502920" y="3712464"/>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2" name="Shape 19"/>
          <p:cNvSpPr/>
          <p:nvPr/>
        </p:nvSpPr>
        <p:spPr>
          <a:xfrm>
            <a:off x="502920" y="3712464"/>
            <a:ext cx="54864" cy="603504"/>
          </a:xfrm>
          <a:prstGeom prst="rect">
            <a:avLst/>
          </a:prstGeom>
          <a:solidFill>
            <a:srgbClr val="42A5F5"/>
          </a:solidFill>
          <a:ln/>
        </p:spPr>
        <p:txBody>
          <a:bodyPr/>
          <a:lstStyle/>
          <a:p>
            <a:endParaRPr lang="en-ZA"/>
          </a:p>
        </p:txBody>
      </p:sp>
      <p:sp>
        <p:nvSpPr>
          <p:cNvPr id="23" name="Text 20"/>
          <p:cNvSpPr/>
          <p:nvPr/>
        </p:nvSpPr>
        <p:spPr>
          <a:xfrm>
            <a:off x="749808" y="3767328"/>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Joins</a:t>
            </a:r>
            <a:endParaRPr lang="en-US" sz="1300" dirty="0"/>
          </a:p>
        </p:txBody>
      </p:sp>
      <p:sp>
        <p:nvSpPr>
          <p:cNvPr id="24" name="Text 21"/>
          <p:cNvSpPr/>
          <p:nvPr/>
        </p:nvSpPr>
        <p:spPr>
          <a:xfrm>
            <a:off x="2697480" y="3767328"/>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User profiles joined to session logs on user key</a:t>
            </a:r>
            <a:endParaRPr lang="en-US" sz="1100" dirty="0"/>
          </a:p>
        </p:txBody>
      </p:sp>
      <p:sp>
        <p:nvSpPr>
          <p:cNvPr id="25" name="Shape 22"/>
          <p:cNvSpPr/>
          <p:nvPr/>
        </p:nvSpPr>
        <p:spPr>
          <a:xfrm>
            <a:off x="502920" y="4416552"/>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6" name="Shape 23"/>
          <p:cNvSpPr/>
          <p:nvPr/>
        </p:nvSpPr>
        <p:spPr>
          <a:xfrm>
            <a:off x="502920" y="4416552"/>
            <a:ext cx="54864" cy="603504"/>
          </a:xfrm>
          <a:prstGeom prst="rect">
            <a:avLst/>
          </a:prstGeom>
          <a:solidFill>
            <a:srgbClr val="1565C0"/>
          </a:solidFill>
          <a:ln/>
        </p:spPr>
        <p:txBody>
          <a:bodyPr/>
          <a:lstStyle/>
          <a:p>
            <a:endParaRPr lang="en-ZA"/>
          </a:p>
        </p:txBody>
      </p:sp>
      <p:sp>
        <p:nvSpPr>
          <p:cNvPr id="27" name="Text 24"/>
          <p:cNvSpPr/>
          <p:nvPr/>
        </p:nvSpPr>
        <p:spPr>
          <a:xfrm>
            <a:off x="749808" y="4471416"/>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Aggregations</a:t>
            </a:r>
            <a:endParaRPr lang="en-US" sz="1300" dirty="0"/>
          </a:p>
        </p:txBody>
      </p:sp>
      <p:sp>
        <p:nvSpPr>
          <p:cNvPr id="28" name="Text 25"/>
          <p:cNvSpPr/>
          <p:nvPr/>
        </p:nvSpPr>
        <p:spPr>
          <a:xfrm>
            <a:off x="2697480" y="4471416"/>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Watch time and session counts by channel, segment, period</a:t>
            </a:r>
            <a:endParaRPr lang="en-US" sz="1100" dirty="0"/>
          </a:p>
        </p:txBody>
      </p:sp>
      <p:sp>
        <p:nvSpPr>
          <p:cNvPr id="29" name="Shape 26"/>
          <p:cNvSpPr/>
          <p:nvPr/>
        </p:nvSpPr>
        <p:spPr>
          <a:xfrm>
            <a:off x="502920" y="5120640"/>
            <a:ext cx="5486400" cy="603504"/>
          </a:xfrm>
          <a:prstGeom prst="roundRect">
            <a:avLst>
              <a:gd name="adj" fmla="val 90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0" name="Shape 27"/>
          <p:cNvSpPr/>
          <p:nvPr/>
        </p:nvSpPr>
        <p:spPr>
          <a:xfrm>
            <a:off x="502920" y="5120640"/>
            <a:ext cx="54864" cy="603504"/>
          </a:xfrm>
          <a:prstGeom prst="rect">
            <a:avLst/>
          </a:prstGeom>
          <a:solidFill>
            <a:srgbClr val="42A5F5"/>
          </a:solidFill>
          <a:ln/>
        </p:spPr>
        <p:txBody>
          <a:bodyPr/>
          <a:lstStyle/>
          <a:p>
            <a:endParaRPr lang="en-ZA"/>
          </a:p>
        </p:txBody>
      </p:sp>
      <p:sp>
        <p:nvSpPr>
          <p:cNvPr id="31" name="Text 28"/>
          <p:cNvSpPr/>
          <p:nvPr/>
        </p:nvSpPr>
        <p:spPr>
          <a:xfrm>
            <a:off x="749808" y="5175504"/>
            <a:ext cx="1920240" cy="493776"/>
          </a:xfrm>
          <a:prstGeom prst="rect">
            <a:avLst/>
          </a:prstGeom>
          <a:noFill/>
          <a:ln/>
        </p:spPr>
        <p:txBody>
          <a:bodyPr wrap="square"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Derived Columns</a:t>
            </a:r>
            <a:endParaRPr lang="en-US" sz="1300" dirty="0"/>
          </a:p>
        </p:txBody>
      </p:sp>
      <p:sp>
        <p:nvSpPr>
          <p:cNvPr id="32" name="Text 29"/>
          <p:cNvSpPr/>
          <p:nvPr/>
        </p:nvSpPr>
        <p:spPr>
          <a:xfrm>
            <a:off x="2697480" y="5175504"/>
            <a:ext cx="3154680" cy="493776"/>
          </a:xfrm>
          <a:prstGeom prst="rect">
            <a:avLst/>
          </a:prstGeom>
          <a:noFill/>
          <a:ln/>
        </p:spPr>
        <p:txBody>
          <a:bodyPr wrap="square" rtlCol="0" anchor="ctr"/>
          <a:lstStyle/>
          <a:p>
            <a:pPr marL="0" indent="0">
              <a:buNone/>
            </a:pPr>
            <a:r>
              <a:rPr lang="en-US" sz="1100" dirty="0">
                <a:solidFill>
                  <a:srgbClr val="53657D"/>
                </a:solidFill>
                <a:latin typeface="Calibri" pitchFamily="34" charset="0"/>
                <a:ea typeface="Calibri" pitchFamily="34" charset="-122"/>
                <a:cs typeface="Calibri" pitchFamily="34" charset="-120"/>
              </a:rPr>
              <a:t>Duration in minutes, screen-time brackets, contact flags</a:t>
            </a:r>
            <a:endParaRPr lang="en-US" sz="1100" dirty="0"/>
          </a:p>
        </p:txBody>
      </p:sp>
      <p:sp>
        <p:nvSpPr>
          <p:cNvPr id="33" name="Shape 30"/>
          <p:cNvSpPr/>
          <p:nvPr/>
        </p:nvSpPr>
        <p:spPr>
          <a:xfrm>
            <a:off x="6263640" y="1600200"/>
            <a:ext cx="5394960" cy="4160520"/>
          </a:xfrm>
          <a:prstGeom prst="roundRect">
            <a:avLst>
              <a:gd name="adj" fmla="val 1319"/>
            </a:avLst>
          </a:prstGeom>
          <a:solidFill>
            <a:srgbClr val="0E1B2E"/>
          </a:solidFill>
          <a:ln w="12700">
            <a:solidFill>
              <a:srgbClr val="0E1B2E"/>
            </a:solidFill>
            <a:prstDash val="solid"/>
          </a:ln>
          <a:effectLst>
            <a:outerShdw blurRad="101600" dist="25400" dir="5400000" algn="bl" rotWithShape="0">
              <a:srgbClr val="8FA3BF">
                <a:alpha val="18000"/>
              </a:srgbClr>
            </a:outerShdw>
          </a:effectLst>
        </p:spPr>
        <p:txBody>
          <a:bodyPr/>
          <a:lstStyle/>
          <a:p>
            <a:endParaRPr lang="en-ZA"/>
          </a:p>
        </p:txBody>
      </p:sp>
      <p:sp>
        <p:nvSpPr>
          <p:cNvPr id="34" name="Text 31"/>
          <p:cNvSpPr/>
          <p:nvPr/>
        </p:nvSpPr>
        <p:spPr>
          <a:xfrm>
            <a:off x="6492240" y="1783080"/>
            <a:ext cx="4937760" cy="274320"/>
          </a:xfrm>
          <a:prstGeom prst="rect">
            <a:avLst/>
          </a:prstGeom>
          <a:noFill/>
          <a:ln/>
        </p:spPr>
        <p:txBody>
          <a:bodyPr wrap="square" rtlCol="0" anchor="ctr"/>
          <a:lstStyle/>
          <a:p>
            <a:pPr marL="0" indent="0">
              <a:buNone/>
            </a:pPr>
            <a:r>
              <a:rPr lang="en-US" sz="950" b="1" kern="0" spc="150" dirty="0">
                <a:solidFill>
                  <a:srgbClr val="C9A227"/>
                </a:solidFill>
                <a:latin typeface="Calibri" pitchFamily="34" charset="0"/>
                <a:ea typeface="Calibri" pitchFamily="34" charset="-122"/>
                <a:cs typeface="Calibri" pitchFamily="34" charset="-120"/>
              </a:rPr>
              <a:t>REPRESENTATIVE TRANSFORMATION</a:t>
            </a:r>
            <a:endParaRPr lang="en-US" sz="950" dirty="0"/>
          </a:p>
        </p:txBody>
      </p:sp>
      <p:sp>
        <p:nvSpPr>
          <p:cNvPr id="35" name="Text 32"/>
          <p:cNvSpPr/>
          <p:nvPr/>
        </p:nvSpPr>
        <p:spPr>
          <a:xfrm>
            <a:off x="6492240" y="2103120"/>
            <a:ext cx="4983480" cy="3520440"/>
          </a:xfrm>
          <a:prstGeom prst="rect">
            <a:avLst/>
          </a:prstGeom>
          <a:noFill/>
          <a:ln/>
        </p:spPr>
        <p:txBody>
          <a:bodyPr wrap="square" rtlCol="0" anchor="t"/>
          <a:lstStyle/>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SELECT</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v.user_id,</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INITCAP(TRIM(u.province))        AS province,</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LOWER(TRIM(u.race))              AS race,</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CASE</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u.age &lt; 20 THEN 'Children &amp; Teens'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u.age &lt; 30 THEN 'Young Adults'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u.age &lt; 40 THEN 'Early Adults'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u.age &lt; 50 THEN 'Mid-Career Adults'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u.age &lt; 60 THEN 'Mature Adults'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ELSE 'Seniors'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END                              AS age_group,</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CASE</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HOUR(v.start_ts) BETWEEN 12 AND 14</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THEN '06. Afternoon'</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WHEN HOUR(v.start_ts) BETWEEN 15 AND 17</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THEN '07. Dusk'</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END                              AS time_of_day,</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DATEDIFF(MINUTE, v.start_ts, v.end_ts)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                                   AS duration_minutes</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FROM   viewership v</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JOIN   user_profiles u ON u.user_id = v.user_id</a:t>
            </a:r>
            <a:endParaRPr lang="en-US" sz="920" dirty="0"/>
          </a:p>
          <a:p>
            <a:pPr marL="0" indent="0">
              <a:lnSpc>
                <a:spcPts val="1250"/>
              </a:lnSpc>
              <a:buNone/>
            </a:pPr>
            <a:r>
              <a:rPr lang="en-US" sz="920" dirty="0">
                <a:solidFill>
                  <a:srgbClr val="CFE0F5"/>
                </a:solidFill>
                <a:latin typeface="Consolas" pitchFamily="34" charset="0"/>
                <a:ea typeface="Consolas" pitchFamily="34" charset="-122"/>
                <a:cs typeface="Consolas" pitchFamily="34" charset="-120"/>
              </a:rPr>
              <a:t>WHERE  v.end_ts &gt; v.start_ts;</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10</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Feature Engineering</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09</a:t>
            </a:r>
            <a:endParaRPr lang="en-US" sz="900" dirty="0"/>
          </a:p>
        </p:txBody>
      </p:sp>
      <p:sp>
        <p:nvSpPr>
          <p:cNvPr id="9" name="Shape 6"/>
          <p:cNvSpPr/>
          <p:nvPr/>
        </p:nvSpPr>
        <p:spPr>
          <a:xfrm>
            <a:off x="502920" y="1627632"/>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27632"/>
            <a:ext cx="2651760" cy="54864"/>
          </a:xfrm>
          <a:prstGeom prst="rect">
            <a:avLst/>
          </a:prstGeom>
          <a:solidFill>
            <a:srgbClr val="1565C0"/>
          </a:solidFill>
          <a:ln/>
        </p:spPr>
        <p:txBody>
          <a:bodyPr/>
          <a:lstStyle/>
          <a:p>
            <a:endParaRPr lang="en-ZA"/>
          </a:p>
        </p:txBody>
      </p:sp>
      <p:sp>
        <p:nvSpPr>
          <p:cNvPr id="11" name="Text 8"/>
          <p:cNvSpPr/>
          <p:nvPr/>
        </p:nvSpPr>
        <p:spPr>
          <a:xfrm>
            <a:off x="722376" y="1883664"/>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Age Groups</a:t>
            </a:r>
            <a:endParaRPr lang="en-US" sz="1450" dirty="0"/>
          </a:p>
        </p:txBody>
      </p:sp>
      <p:sp>
        <p:nvSpPr>
          <p:cNvPr id="12" name="Text 9"/>
          <p:cNvSpPr/>
          <p:nvPr/>
        </p:nvSpPr>
        <p:spPr>
          <a:xfrm>
            <a:off x="722376" y="2468880"/>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6 commercial bands from raw age</a:t>
            </a:r>
            <a:endParaRPr lang="en-US" sz="1150" dirty="0"/>
          </a:p>
        </p:txBody>
      </p:sp>
      <p:sp>
        <p:nvSpPr>
          <p:cNvPr id="13" name="Shape 10"/>
          <p:cNvSpPr/>
          <p:nvPr/>
        </p:nvSpPr>
        <p:spPr>
          <a:xfrm>
            <a:off x="722376" y="2999232"/>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14" name="Text 11"/>
          <p:cNvSpPr/>
          <p:nvPr/>
        </p:nvSpPr>
        <p:spPr>
          <a:xfrm>
            <a:off x="813816" y="2999232"/>
            <a:ext cx="2029968" cy="347472"/>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Early Adults = 41% of sessions</a:t>
            </a:r>
            <a:endParaRPr lang="en-US" sz="1050" dirty="0"/>
          </a:p>
        </p:txBody>
      </p:sp>
      <p:sp>
        <p:nvSpPr>
          <p:cNvPr id="15" name="Shape 12"/>
          <p:cNvSpPr/>
          <p:nvPr/>
        </p:nvSpPr>
        <p:spPr>
          <a:xfrm>
            <a:off x="3346704" y="1627632"/>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6" name="Shape 13"/>
          <p:cNvSpPr/>
          <p:nvPr/>
        </p:nvSpPr>
        <p:spPr>
          <a:xfrm>
            <a:off x="3346704" y="1627632"/>
            <a:ext cx="2651760" cy="54864"/>
          </a:xfrm>
          <a:prstGeom prst="rect">
            <a:avLst/>
          </a:prstGeom>
          <a:solidFill>
            <a:srgbClr val="42A5F5"/>
          </a:solidFill>
          <a:ln/>
        </p:spPr>
        <p:txBody>
          <a:bodyPr/>
          <a:lstStyle/>
          <a:p>
            <a:endParaRPr lang="en-ZA"/>
          </a:p>
        </p:txBody>
      </p:sp>
      <p:sp>
        <p:nvSpPr>
          <p:cNvPr id="17" name="Text 14"/>
          <p:cNvSpPr/>
          <p:nvPr/>
        </p:nvSpPr>
        <p:spPr>
          <a:xfrm>
            <a:off x="3566160" y="1883664"/>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Province</a:t>
            </a:r>
            <a:endParaRPr lang="en-US" sz="1450" dirty="0"/>
          </a:p>
        </p:txBody>
      </p:sp>
      <p:sp>
        <p:nvSpPr>
          <p:cNvPr id="18" name="Text 15"/>
          <p:cNvSpPr/>
          <p:nvPr/>
        </p:nvSpPr>
        <p:spPr>
          <a:xfrm>
            <a:off x="3566160" y="2468880"/>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9 provinces + Uncategorized</a:t>
            </a:r>
            <a:endParaRPr lang="en-US" sz="1150" dirty="0"/>
          </a:p>
        </p:txBody>
      </p:sp>
      <p:sp>
        <p:nvSpPr>
          <p:cNvPr id="19" name="Shape 16"/>
          <p:cNvSpPr/>
          <p:nvPr/>
        </p:nvSpPr>
        <p:spPr>
          <a:xfrm>
            <a:off x="3566160" y="2999232"/>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20" name="Text 17"/>
          <p:cNvSpPr/>
          <p:nvPr/>
        </p:nvSpPr>
        <p:spPr>
          <a:xfrm>
            <a:off x="3657600" y="2999232"/>
            <a:ext cx="2029968" cy="347472"/>
          </a:xfrm>
          <a:prstGeom prst="rect">
            <a:avLst/>
          </a:prstGeom>
          <a:noFill/>
          <a:ln/>
        </p:spPr>
        <p:txBody>
          <a:bodyPr wrap="square" rtlCol="0" anchor="ctr"/>
          <a:lstStyle/>
          <a:p>
            <a:pPr marL="0" indent="0">
              <a:buNone/>
            </a:pPr>
            <a:r>
              <a:rPr lang="en-US" sz="1050" b="1" dirty="0">
                <a:solidFill>
                  <a:srgbClr val="42A5F5"/>
                </a:solidFill>
                <a:latin typeface="Calibri" pitchFamily="34" charset="0"/>
                <a:ea typeface="Calibri" pitchFamily="34" charset="-122"/>
                <a:cs typeface="Calibri" pitchFamily="34" charset="-120"/>
              </a:rPr>
              <a:t>Gauteng = 37% of sessions</a:t>
            </a:r>
            <a:endParaRPr lang="en-US" sz="1050" dirty="0"/>
          </a:p>
        </p:txBody>
      </p:sp>
      <p:sp>
        <p:nvSpPr>
          <p:cNvPr id="21" name="Shape 18"/>
          <p:cNvSpPr/>
          <p:nvPr/>
        </p:nvSpPr>
        <p:spPr>
          <a:xfrm>
            <a:off x="6190488" y="1627632"/>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2" name="Shape 19"/>
          <p:cNvSpPr/>
          <p:nvPr/>
        </p:nvSpPr>
        <p:spPr>
          <a:xfrm>
            <a:off x="6190488" y="1627632"/>
            <a:ext cx="2651760" cy="54864"/>
          </a:xfrm>
          <a:prstGeom prst="rect">
            <a:avLst/>
          </a:prstGeom>
          <a:solidFill>
            <a:srgbClr val="1565C0"/>
          </a:solidFill>
          <a:ln/>
        </p:spPr>
        <p:txBody>
          <a:bodyPr/>
          <a:lstStyle/>
          <a:p>
            <a:endParaRPr lang="en-ZA"/>
          </a:p>
        </p:txBody>
      </p:sp>
      <p:sp>
        <p:nvSpPr>
          <p:cNvPr id="23" name="Text 20"/>
          <p:cNvSpPr/>
          <p:nvPr/>
        </p:nvSpPr>
        <p:spPr>
          <a:xfrm>
            <a:off x="6409944" y="1883664"/>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Time of Day</a:t>
            </a:r>
            <a:endParaRPr lang="en-US" sz="1450" dirty="0"/>
          </a:p>
        </p:txBody>
      </p:sp>
      <p:sp>
        <p:nvSpPr>
          <p:cNvPr id="24" name="Text 21"/>
          <p:cNvSpPr/>
          <p:nvPr/>
        </p:nvSpPr>
        <p:spPr>
          <a:xfrm>
            <a:off x="6409944" y="2468880"/>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11 ordered viewing periods</a:t>
            </a:r>
            <a:endParaRPr lang="en-US" sz="1150" dirty="0"/>
          </a:p>
        </p:txBody>
      </p:sp>
      <p:sp>
        <p:nvSpPr>
          <p:cNvPr id="25" name="Shape 22"/>
          <p:cNvSpPr/>
          <p:nvPr/>
        </p:nvSpPr>
        <p:spPr>
          <a:xfrm>
            <a:off x="6409944" y="2999232"/>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26" name="Text 23"/>
          <p:cNvSpPr/>
          <p:nvPr/>
        </p:nvSpPr>
        <p:spPr>
          <a:xfrm>
            <a:off x="6501384" y="2999232"/>
            <a:ext cx="2029968" cy="347472"/>
          </a:xfrm>
          <a:prstGeom prst="rect">
            <a:avLst/>
          </a:prstGeom>
          <a:noFill/>
          <a:ln/>
        </p:spPr>
        <p:txBody>
          <a:bodyPr wrap="square"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Afternoon peak = 1,904 sessions</a:t>
            </a:r>
            <a:endParaRPr lang="en-US" sz="1050" dirty="0"/>
          </a:p>
        </p:txBody>
      </p:sp>
      <p:sp>
        <p:nvSpPr>
          <p:cNvPr id="27" name="Shape 24"/>
          <p:cNvSpPr/>
          <p:nvPr/>
        </p:nvSpPr>
        <p:spPr>
          <a:xfrm>
            <a:off x="9034272" y="1627632"/>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8" name="Shape 25"/>
          <p:cNvSpPr/>
          <p:nvPr/>
        </p:nvSpPr>
        <p:spPr>
          <a:xfrm>
            <a:off x="9034272" y="1627632"/>
            <a:ext cx="2651760" cy="54864"/>
          </a:xfrm>
          <a:prstGeom prst="rect">
            <a:avLst/>
          </a:prstGeom>
          <a:solidFill>
            <a:srgbClr val="C9A227"/>
          </a:solidFill>
          <a:ln/>
        </p:spPr>
        <p:txBody>
          <a:bodyPr/>
          <a:lstStyle/>
          <a:p>
            <a:endParaRPr lang="en-ZA"/>
          </a:p>
        </p:txBody>
      </p:sp>
      <p:sp>
        <p:nvSpPr>
          <p:cNvPr id="29" name="Text 26"/>
          <p:cNvSpPr/>
          <p:nvPr/>
        </p:nvSpPr>
        <p:spPr>
          <a:xfrm>
            <a:off x="9253728" y="1883664"/>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Duration</a:t>
            </a:r>
            <a:endParaRPr lang="en-US" sz="1450" dirty="0"/>
          </a:p>
        </p:txBody>
      </p:sp>
      <p:sp>
        <p:nvSpPr>
          <p:cNvPr id="30" name="Text 27"/>
          <p:cNvSpPr/>
          <p:nvPr/>
        </p:nvSpPr>
        <p:spPr>
          <a:xfrm>
            <a:off x="9253728" y="2468880"/>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Session length in minutes</a:t>
            </a:r>
            <a:endParaRPr lang="en-US" sz="1150" dirty="0"/>
          </a:p>
        </p:txBody>
      </p:sp>
      <p:sp>
        <p:nvSpPr>
          <p:cNvPr id="31" name="Shape 28"/>
          <p:cNvSpPr/>
          <p:nvPr/>
        </p:nvSpPr>
        <p:spPr>
          <a:xfrm>
            <a:off x="9253728" y="2999232"/>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32" name="Text 29"/>
          <p:cNvSpPr/>
          <p:nvPr/>
        </p:nvSpPr>
        <p:spPr>
          <a:xfrm>
            <a:off x="9345168" y="2999232"/>
            <a:ext cx="2029968" cy="347472"/>
          </a:xfrm>
          <a:prstGeom prst="rect">
            <a:avLst/>
          </a:prstGeom>
          <a:noFill/>
          <a:ln/>
        </p:spPr>
        <p:txBody>
          <a:bodyPr wrap="square" rtlCol="0" anchor="ctr"/>
          <a:lstStyle/>
          <a:p>
            <a:pPr marL="0" indent="0">
              <a:buNone/>
            </a:pPr>
            <a:r>
              <a:rPr lang="en-US" sz="1050" b="1" dirty="0">
                <a:solidFill>
                  <a:srgbClr val="C9A227"/>
                </a:solidFill>
                <a:latin typeface="Calibri" pitchFamily="34" charset="0"/>
                <a:ea typeface="Calibri" pitchFamily="34" charset="-122"/>
                <a:cs typeface="Calibri" pitchFamily="34" charset="-120"/>
              </a:rPr>
              <a:t>Average 9.2 min per session</a:t>
            </a:r>
            <a:endParaRPr lang="en-US" sz="1050" dirty="0"/>
          </a:p>
        </p:txBody>
      </p:sp>
      <p:sp>
        <p:nvSpPr>
          <p:cNvPr id="33" name="Shape 30"/>
          <p:cNvSpPr/>
          <p:nvPr/>
        </p:nvSpPr>
        <p:spPr>
          <a:xfrm>
            <a:off x="502920" y="3712464"/>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4" name="Shape 31"/>
          <p:cNvSpPr/>
          <p:nvPr/>
        </p:nvSpPr>
        <p:spPr>
          <a:xfrm>
            <a:off x="502920" y="3712464"/>
            <a:ext cx="2651760" cy="54864"/>
          </a:xfrm>
          <a:prstGeom prst="rect">
            <a:avLst/>
          </a:prstGeom>
          <a:solidFill>
            <a:srgbClr val="42A5F5"/>
          </a:solidFill>
          <a:ln/>
        </p:spPr>
        <p:txBody>
          <a:bodyPr/>
          <a:lstStyle/>
          <a:p>
            <a:endParaRPr lang="en-ZA"/>
          </a:p>
        </p:txBody>
      </p:sp>
      <p:sp>
        <p:nvSpPr>
          <p:cNvPr id="35" name="Text 32"/>
          <p:cNvSpPr/>
          <p:nvPr/>
        </p:nvSpPr>
        <p:spPr>
          <a:xfrm>
            <a:off x="722376" y="3968496"/>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Email Flag</a:t>
            </a:r>
            <a:endParaRPr lang="en-US" sz="1450" dirty="0"/>
          </a:p>
        </p:txBody>
      </p:sp>
      <p:sp>
        <p:nvSpPr>
          <p:cNvPr id="36" name="Text 33"/>
          <p:cNvSpPr/>
          <p:nvPr/>
        </p:nvSpPr>
        <p:spPr>
          <a:xfrm>
            <a:off x="722376" y="4553712"/>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Contactability by email</a:t>
            </a:r>
            <a:endParaRPr lang="en-US" sz="1150" dirty="0"/>
          </a:p>
        </p:txBody>
      </p:sp>
      <p:sp>
        <p:nvSpPr>
          <p:cNvPr id="37" name="Shape 34"/>
          <p:cNvSpPr/>
          <p:nvPr/>
        </p:nvSpPr>
        <p:spPr>
          <a:xfrm>
            <a:off x="722376" y="5084064"/>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38" name="Text 35"/>
          <p:cNvSpPr/>
          <p:nvPr/>
        </p:nvSpPr>
        <p:spPr>
          <a:xfrm>
            <a:off x="813816" y="5084064"/>
            <a:ext cx="2029968" cy="347472"/>
          </a:xfrm>
          <a:prstGeom prst="rect">
            <a:avLst/>
          </a:prstGeom>
          <a:noFill/>
          <a:ln/>
        </p:spPr>
        <p:txBody>
          <a:bodyPr wrap="square" rtlCol="0" anchor="ctr"/>
          <a:lstStyle/>
          <a:p>
            <a:pPr marL="0" indent="0">
              <a:buNone/>
            </a:pPr>
            <a:r>
              <a:rPr lang="en-US" sz="1050" b="1" dirty="0">
                <a:solidFill>
                  <a:srgbClr val="42A5F5"/>
                </a:solidFill>
                <a:latin typeface="Calibri" pitchFamily="34" charset="0"/>
                <a:ea typeface="Calibri" pitchFamily="34" charset="-122"/>
                <a:cs typeface="Calibri" pitchFamily="34" charset="-120"/>
              </a:rPr>
              <a:t>100% contactable</a:t>
            </a:r>
            <a:endParaRPr lang="en-US" sz="1050" dirty="0"/>
          </a:p>
        </p:txBody>
      </p:sp>
      <p:sp>
        <p:nvSpPr>
          <p:cNvPr id="39" name="Shape 36"/>
          <p:cNvSpPr/>
          <p:nvPr/>
        </p:nvSpPr>
        <p:spPr>
          <a:xfrm>
            <a:off x="3346704" y="3712464"/>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40" name="Shape 37"/>
          <p:cNvSpPr/>
          <p:nvPr/>
        </p:nvSpPr>
        <p:spPr>
          <a:xfrm>
            <a:off x="3346704" y="3712464"/>
            <a:ext cx="2651760" cy="54864"/>
          </a:xfrm>
          <a:prstGeom prst="rect">
            <a:avLst/>
          </a:prstGeom>
          <a:solidFill>
            <a:srgbClr val="42A5F5"/>
          </a:solidFill>
          <a:ln/>
        </p:spPr>
        <p:txBody>
          <a:bodyPr/>
          <a:lstStyle/>
          <a:p>
            <a:endParaRPr lang="en-ZA"/>
          </a:p>
        </p:txBody>
      </p:sp>
      <p:sp>
        <p:nvSpPr>
          <p:cNvPr id="41" name="Text 38"/>
          <p:cNvSpPr/>
          <p:nvPr/>
        </p:nvSpPr>
        <p:spPr>
          <a:xfrm>
            <a:off x="3566160" y="3968496"/>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Social Media Flag</a:t>
            </a:r>
            <a:endParaRPr lang="en-US" sz="1450" dirty="0"/>
          </a:p>
        </p:txBody>
      </p:sp>
      <p:sp>
        <p:nvSpPr>
          <p:cNvPr id="42" name="Text 39"/>
          <p:cNvSpPr/>
          <p:nvPr/>
        </p:nvSpPr>
        <p:spPr>
          <a:xfrm>
            <a:off x="3566160" y="4553712"/>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Reachability on social</a:t>
            </a:r>
            <a:endParaRPr lang="en-US" sz="1150" dirty="0"/>
          </a:p>
        </p:txBody>
      </p:sp>
      <p:sp>
        <p:nvSpPr>
          <p:cNvPr id="43" name="Shape 40"/>
          <p:cNvSpPr/>
          <p:nvPr/>
        </p:nvSpPr>
        <p:spPr>
          <a:xfrm>
            <a:off x="3566160" y="5084064"/>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44" name="Text 41"/>
          <p:cNvSpPr/>
          <p:nvPr/>
        </p:nvSpPr>
        <p:spPr>
          <a:xfrm>
            <a:off x="3657600" y="5084064"/>
            <a:ext cx="2029968" cy="347472"/>
          </a:xfrm>
          <a:prstGeom prst="rect">
            <a:avLst/>
          </a:prstGeom>
          <a:noFill/>
          <a:ln/>
        </p:spPr>
        <p:txBody>
          <a:bodyPr wrap="square" rtlCol="0" anchor="ctr"/>
          <a:lstStyle/>
          <a:p>
            <a:pPr marL="0" indent="0">
              <a:buNone/>
            </a:pPr>
            <a:r>
              <a:rPr lang="en-US" sz="1050" b="1" dirty="0">
                <a:solidFill>
                  <a:srgbClr val="42A5F5"/>
                </a:solidFill>
                <a:latin typeface="Calibri" pitchFamily="34" charset="0"/>
                <a:ea typeface="Calibri" pitchFamily="34" charset="-122"/>
                <a:cs typeface="Calibri" pitchFamily="34" charset="-120"/>
              </a:rPr>
              <a:t>100% reachable</a:t>
            </a:r>
            <a:endParaRPr lang="en-US" sz="1050" dirty="0"/>
          </a:p>
        </p:txBody>
      </p:sp>
      <p:sp>
        <p:nvSpPr>
          <p:cNvPr id="45" name="Shape 42"/>
          <p:cNvSpPr/>
          <p:nvPr/>
        </p:nvSpPr>
        <p:spPr>
          <a:xfrm>
            <a:off x="6190488" y="3712464"/>
            <a:ext cx="26517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46" name="Shape 43"/>
          <p:cNvSpPr/>
          <p:nvPr/>
        </p:nvSpPr>
        <p:spPr>
          <a:xfrm>
            <a:off x="6190488" y="3712464"/>
            <a:ext cx="2651760" cy="54864"/>
          </a:xfrm>
          <a:prstGeom prst="rect">
            <a:avLst/>
          </a:prstGeom>
          <a:solidFill>
            <a:srgbClr val="0B1F3A"/>
          </a:solidFill>
          <a:ln/>
        </p:spPr>
        <p:txBody>
          <a:bodyPr/>
          <a:lstStyle/>
          <a:p>
            <a:endParaRPr lang="en-ZA"/>
          </a:p>
        </p:txBody>
      </p:sp>
      <p:sp>
        <p:nvSpPr>
          <p:cNvPr id="47" name="Text 44"/>
          <p:cNvSpPr/>
          <p:nvPr/>
        </p:nvSpPr>
        <p:spPr>
          <a:xfrm>
            <a:off x="6409944" y="3968496"/>
            <a:ext cx="2240280" cy="548640"/>
          </a:xfrm>
          <a:prstGeom prst="rect">
            <a:avLst/>
          </a:prstGeom>
          <a:noFill/>
          <a:ln/>
        </p:spPr>
        <p:txBody>
          <a:bodyPr wrap="square" rtlCol="0" anchor="ctr"/>
          <a:lstStyle/>
          <a:p>
            <a:pPr marL="0" indent="0">
              <a:buNone/>
            </a:pPr>
            <a:r>
              <a:rPr lang="en-US" sz="1450" b="1" dirty="0">
                <a:solidFill>
                  <a:srgbClr val="0B1F3A"/>
                </a:solidFill>
                <a:latin typeface="Trebuchet MS" pitchFamily="34" charset="0"/>
                <a:ea typeface="Trebuchet MS" pitchFamily="34" charset="-122"/>
                <a:cs typeface="Trebuchet MS" pitchFamily="34" charset="-120"/>
              </a:rPr>
              <a:t>Screen-Time Brackets</a:t>
            </a:r>
            <a:endParaRPr lang="en-US" sz="1450" dirty="0"/>
          </a:p>
        </p:txBody>
      </p:sp>
      <p:sp>
        <p:nvSpPr>
          <p:cNvPr id="48" name="Text 45"/>
          <p:cNvSpPr/>
          <p:nvPr/>
        </p:nvSpPr>
        <p:spPr>
          <a:xfrm>
            <a:off x="6409944" y="4553712"/>
            <a:ext cx="2240280" cy="502920"/>
          </a:xfrm>
          <a:prstGeom prst="rect">
            <a:avLst/>
          </a:prstGeom>
          <a:noFill/>
          <a:ln/>
        </p:spPr>
        <p:txBody>
          <a:bodyPr wrap="square" rtlCol="0" anchor="ctr"/>
          <a:lstStyle/>
          <a:p>
            <a:pPr marL="0" indent="0">
              <a:lnSpc>
                <a:spcPts val="1500"/>
              </a:lnSpc>
              <a:buNone/>
            </a:pPr>
            <a:r>
              <a:rPr lang="en-US" sz="1150" dirty="0">
                <a:solidFill>
                  <a:srgbClr val="53657D"/>
                </a:solidFill>
                <a:latin typeface="Calibri" pitchFamily="34" charset="0"/>
                <a:ea typeface="Calibri" pitchFamily="34" charset="-122"/>
                <a:cs typeface="Calibri" pitchFamily="34" charset="-120"/>
              </a:rPr>
              <a:t>No / Low / Mid / High usage</a:t>
            </a:r>
            <a:endParaRPr lang="en-US" sz="1150" dirty="0"/>
          </a:p>
        </p:txBody>
      </p:sp>
      <p:sp>
        <p:nvSpPr>
          <p:cNvPr id="49" name="Shape 46"/>
          <p:cNvSpPr/>
          <p:nvPr/>
        </p:nvSpPr>
        <p:spPr>
          <a:xfrm>
            <a:off x="6409944" y="5084064"/>
            <a:ext cx="2212848" cy="347472"/>
          </a:xfrm>
          <a:prstGeom prst="roundRect">
            <a:avLst>
              <a:gd name="adj" fmla="val 13158"/>
            </a:avLst>
          </a:prstGeom>
          <a:solidFill>
            <a:srgbClr val="F4F6FA"/>
          </a:solidFill>
          <a:ln w="12700">
            <a:solidFill>
              <a:srgbClr val="DDE3EC"/>
            </a:solidFill>
            <a:prstDash val="solid"/>
          </a:ln>
        </p:spPr>
        <p:txBody>
          <a:bodyPr/>
          <a:lstStyle/>
          <a:p>
            <a:endParaRPr lang="en-ZA"/>
          </a:p>
        </p:txBody>
      </p:sp>
      <p:sp>
        <p:nvSpPr>
          <p:cNvPr id="50" name="Text 47"/>
          <p:cNvSpPr/>
          <p:nvPr/>
        </p:nvSpPr>
        <p:spPr>
          <a:xfrm>
            <a:off x="6501384" y="5084064"/>
            <a:ext cx="2029968" cy="347472"/>
          </a:xfrm>
          <a:prstGeom prst="rect">
            <a:avLst/>
          </a:prstGeom>
          <a:noFill/>
          <a:ln/>
        </p:spPr>
        <p:txBody>
          <a:bodyPr wrap="square"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69% sit in No Usage</a:t>
            </a:r>
            <a:endParaRPr lang="en-US" sz="1050" dirty="0"/>
          </a:p>
        </p:txBody>
      </p:sp>
      <p:sp>
        <p:nvSpPr>
          <p:cNvPr id="51" name="Shape 48"/>
          <p:cNvSpPr/>
          <p:nvPr/>
        </p:nvSpPr>
        <p:spPr>
          <a:xfrm>
            <a:off x="9034272" y="3712464"/>
            <a:ext cx="2624328" cy="1874520"/>
          </a:xfrm>
          <a:prstGeom prst="roundRect">
            <a:avLst>
              <a:gd name="adj" fmla="val 2927"/>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52" name="Text 49"/>
          <p:cNvSpPr/>
          <p:nvPr/>
        </p:nvSpPr>
        <p:spPr>
          <a:xfrm>
            <a:off x="9253728" y="3977640"/>
            <a:ext cx="2194560" cy="640080"/>
          </a:xfrm>
          <a:prstGeom prst="rect">
            <a:avLst/>
          </a:prstGeom>
          <a:noFill/>
          <a:ln/>
        </p:spPr>
        <p:txBody>
          <a:bodyPr wrap="square"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14</a:t>
            </a:r>
            <a:endParaRPr lang="en-US" sz="4000" dirty="0"/>
          </a:p>
        </p:txBody>
      </p:sp>
      <p:sp>
        <p:nvSpPr>
          <p:cNvPr id="53" name="Text 50"/>
          <p:cNvSpPr/>
          <p:nvPr/>
        </p:nvSpPr>
        <p:spPr>
          <a:xfrm>
            <a:off x="9253728" y="4617720"/>
            <a:ext cx="2240280" cy="868680"/>
          </a:xfrm>
          <a:prstGeom prst="rect">
            <a:avLst/>
          </a:prstGeom>
          <a:noFill/>
          <a:ln/>
        </p:spPr>
        <p:txBody>
          <a:bodyPr wrap="square" rtlCol="0" anchor="ctr"/>
          <a:lstStyle/>
          <a:p>
            <a:pPr marL="0" indent="0">
              <a:lnSpc>
                <a:spcPts val="1500"/>
              </a:lnSpc>
              <a:buNone/>
            </a:pPr>
            <a:r>
              <a:rPr lang="en-US" sz="1150" dirty="0">
                <a:solidFill>
                  <a:srgbClr val="9DB6D4"/>
                </a:solidFill>
                <a:latin typeface="Calibri" pitchFamily="34" charset="0"/>
                <a:ea typeface="Calibri" pitchFamily="34" charset="-122"/>
                <a:cs typeface="Calibri" pitchFamily="34" charset="-120"/>
              </a:rPr>
              <a:t>modelled attributes now available to every dashboard from one certified table.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11</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Dashboard Overview</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10</a:t>
            </a:r>
            <a:endParaRPr lang="en-US" sz="900" dirty="0"/>
          </a:p>
        </p:txBody>
      </p:sp>
      <p:pic>
        <p:nvPicPr>
          <p:cNvPr id="9" name="Image 0" descr="preencoded.png"/>
          <p:cNvPicPr>
            <a:picLocks noChangeAspect="1"/>
          </p:cNvPicPr>
          <p:nvPr/>
        </p:nvPicPr>
        <p:blipFill>
          <a:blip r:embed="rId3"/>
          <a:stretch>
            <a:fillRect/>
          </a:stretch>
        </p:blipFill>
        <p:spPr>
          <a:xfrm>
            <a:off x="502920" y="1600200"/>
            <a:ext cx="5943600" cy="3712464"/>
          </a:xfrm>
          <a:prstGeom prst="rect">
            <a:avLst/>
          </a:prstGeom>
        </p:spPr>
      </p:pic>
      <p:sp>
        <p:nvSpPr>
          <p:cNvPr id="10" name="Shape 6"/>
          <p:cNvSpPr/>
          <p:nvPr/>
        </p:nvSpPr>
        <p:spPr>
          <a:xfrm>
            <a:off x="502920" y="1600200"/>
            <a:ext cx="5943600" cy="3712464"/>
          </a:xfrm>
          <a:prstGeom prst="rect">
            <a:avLst/>
          </a:prstGeom>
          <a:solidFill>
            <a:srgbClr val="FFFFFF">
              <a:alpha val="0"/>
            </a:srgbClr>
          </a:solidFill>
          <a:ln w="12700">
            <a:solidFill>
              <a:srgbClr val="DDE3EC"/>
            </a:solidFill>
            <a:prstDash val="solid"/>
          </a:ln>
        </p:spPr>
        <p:txBody>
          <a:bodyPr/>
          <a:lstStyle/>
          <a:p>
            <a:endParaRPr lang="en-ZA"/>
          </a:p>
        </p:txBody>
      </p:sp>
      <p:sp>
        <p:nvSpPr>
          <p:cNvPr id="11" name="Text 7"/>
          <p:cNvSpPr/>
          <p:nvPr/>
        </p:nvSpPr>
        <p:spPr>
          <a:xfrm>
            <a:off x="502920" y="5349240"/>
            <a:ext cx="5943600" cy="274320"/>
          </a:xfrm>
          <a:prstGeom prst="rect">
            <a:avLst/>
          </a:prstGeom>
          <a:noFill/>
          <a:ln/>
        </p:spPr>
        <p:txBody>
          <a:bodyPr wrap="square"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Lovable — live interactive analytics app</a:t>
            </a:r>
            <a:endParaRPr lang="en-US" sz="1100" dirty="0"/>
          </a:p>
        </p:txBody>
      </p:sp>
      <p:sp>
        <p:nvSpPr>
          <p:cNvPr id="12" name="Text 8"/>
          <p:cNvSpPr/>
          <p:nvPr/>
        </p:nvSpPr>
        <p:spPr>
          <a:xfrm>
            <a:off x="502920" y="5596128"/>
            <a:ext cx="5943600" cy="274320"/>
          </a:xfrm>
          <a:prstGeom prst="rect">
            <a:avLst/>
          </a:prstGeom>
          <a:noFill/>
          <a:ln/>
        </p:spPr>
        <p:txBody>
          <a:bodyPr wrap="square" rtlCol="0" anchor="ctr"/>
          <a:lstStyle/>
          <a:p>
            <a:pPr marL="0" indent="0">
              <a:buNone/>
            </a:pPr>
            <a:r>
              <a:rPr lang="en-US" sz="1000" dirty="0">
                <a:solidFill>
                  <a:srgbClr val="5B6B80"/>
                </a:solidFill>
                <a:latin typeface="Calibri" pitchFamily="34" charset="0"/>
                <a:ea typeface="Calibri" pitchFamily="34" charset="-122"/>
                <a:cs typeface="Calibri" pitchFamily="34" charset="-120"/>
              </a:rPr>
              <a:t>lumina-tv-analytics.lovable.app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12</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Executive KPI Dashboard</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11</a:t>
            </a:r>
            <a:endParaRPr lang="en-US" sz="900" dirty="0"/>
          </a:p>
        </p:txBody>
      </p:sp>
      <p:sp>
        <p:nvSpPr>
          <p:cNvPr id="9" name="Shape 6"/>
          <p:cNvSpPr/>
          <p:nvPr/>
        </p:nvSpPr>
        <p:spPr>
          <a:xfrm>
            <a:off x="502920" y="1600200"/>
            <a:ext cx="2157984" cy="1417320"/>
          </a:xfrm>
          <a:prstGeom prst="roundRect">
            <a:avLst>
              <a:gd name="adj" fmla="val 387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00200"/>
            <a:ext cx="54864" cy="1417320"/>
          </a:xfrm>
          <a:prstGeom prst="rect">
            <a:avLst/>
          </a:prstGeom>
          <a:solidFill>
            <a:srgbClr val="1565C0"/>
          </a:solidFill>
          <a:ln/>
        </p:spPr>
        <p:txBody>
          <a:bodyPr/>
          <a:lstStyle/>
          <a:p>
            <a:endParaRPr lang="en-ZA"/>
          </a:p>
        </p:txBody>
      </p:sp>
      <p:sp>
        <p:nvSpPr>
          <p:cNvPr id="11" name="Text 8"/>
          <p:cNvSpPr/>
          <p:nvPr/>
        </p:nvSpPr>
        <p:spPr>
          <a:xfrm>
            <a:off x="731520" y="1746504"/>
            <a:ext cx="1792224" cy="256032"/>
          </a:xfrm>
          <a:prstGeom prst="rect">
            <a:avLst/>
          </a:prstGeom>
          <a:noFill/>
          <a:ln/>
        </p:spPr>
        <p:txBody>
          <a:bodyPr wrap="square"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TOTAL VIEWING RECORDS</a:t>
            </a:r>
            <a:endParaRPr lang="en-US" sz="1000" dirty="0"/>
          </a:p>
        </p:txBody>
      </p:sp>
      <p:sp>
        <p:nvSpPr>
          <p:cNvPr id="12" name="Text 9"/>
          <p:cNvSpPr/>
          <p:nvPr/>
        </p:nvSpPr>
        <p:spPr>
          <a:xfrm>
            <a:off x="704088" y="2002536"/>
            <a:ext cx="1837944" cy="566928"/>
          </a:xfrm>
          <a:prstGeom prst="rect">
            <a:avLst/>
          </a:prstGeom>
          <a:noFill/>
          <a:ln/>
        </p:spPr>
        <p:txBody>
          <a:bodyPr wrap="square" rtlCol="0" anchor="ctr"/>
          <a:lstStyle/>
          <a:p>
            <a:pPr marL="0" indent="0">
              <a:buNone/>
            </a:pPr>
            <a:r>
              <a:rPr lang="en-US" sz="3400" b="1" dirty="0">
                <a:solidFill>
                  <a:srgbClr val="0B1F3A"/>
                </a:solidFill>
                <a:latin typeface="Trebuchet MS" pitchFamily="34" charset="0"/>
                <a:ea typeface="Trebuchet MS" pitchFamily="34" charset="-122"/>
                <a:cs typeface="Trebuchet MS" pitchFamily="34" charset="-120"/>
              </a:rPr>
              <a:t>9,980</a:t>
            </a:r>
            <a:endParaRPr lang="en-US" sz="3400" dirty="0"/>
          </a:p>
        </p:txBody>
      </p:sp>
      <p:sp>
        <p:nvSpPr>
          <p:cNvPr id="13" name="Text 10"/>
          <p:cNvSpPr/>
          <p:nvPr/>
        </p:nvSpPr>
        <p:spPr>
          <a:xfrm>
            <a:off x="731520" y="2569464"/>
            <a:ext cx="1792224" cy="274320"/>
          </a:xfrm>
          <a:prstGeom prst="rect">
            <a:avLst/>
          </a:prstGeom>
          <a:noFill/>
          <a:ln/>
        </p:spPr>
        <p:txBody>
          <a:bodyPr wrap="square" rtlCol="0" anchor="ctr"/>
          <a:lstStyle/>
          <a:p>
            <a:pPr marL="0" indent="0">
              <a:buNone/>
            </a:pPr>
            <a:r>
              <a:rPr lang="en-US" sz="1050" dirty="0">
                <a:solidFill>
                  <a:srgbClr val="1565C0"/>
                </a:solidFill>
                <a:latin typeface="Calibri" pitchFamily="34" charset="0"/>
                <a:ea typeface="Calibri" pitchFamily="34" charset="-122"/>
                <a:cs typeface="Calibri" pitchFamily="34" charset="-120"/>
              </a:rPr>
              <a:t>Jan–Mar observation window</a:t>
            </a:r>
            <a:endParaRPr lang="en-US" sz="1050" dirty="0"/>
          </a:p>
        </p:txBody>
      </p:sp>
      <p:sp>
        <p:nvSpPr>
          <p:cNvPr id="14" name="Shape 11"/>
          <p:cNvSpPr/>
          <p:nvPr/>
        </p:nvSpPr>
        <p:spPr>
          <a:xfrm>
            <a:off x="2798064" y="1600200"/>
            <a:ext cx="2157984" cy="1417320"/>
          </a:xfrm>
          <a:prstGeom prst="roundRect">
            <a:avLst>
              <a:gd name="adj" fmla="val 387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5" name="Shape 12"/>
          <p:cNvSpPr/>
          <p:nvPr/>
        </p:nvSpPr>
        <p:spPr>
          <a:xfrm>
            <a:off x="2798064" y="1600200"/>
            <a:ext cx="54864" cy="1417320"/>
          </a:xfrm>
          <a:prstGeom prst="rect">
            <a:avLst/>
          </a:prstGeom>
          <a:solidFill>
            <a:srgbClr val="42A5F5"/>
          </a:solidFill>
          <a:ln/>
        </p:spPr>
        <p:txBody>
          <a:bodyPr/>
          <a:lstStyle/>
          <a:p>
            <a:endParaRPr lang="en-ZA"/>
          </a:p>
        </p:txBody>
      </p:sp>
      <p:sp>
        <p:nvSpPr>
          <p:cNvPr id="16" name="Text 13"/>
          <p:cNvSpPr/>
          <p:nvPr/>
        </p:nvSpPr>
        <p:spPr>
          <a:xfrm>
            <a:off x="3026664" y="1746504"/>
            <a:ext cx="1792224" cy="256032"/>
          </a:xfrm>
          <a:prstGeom prst="rect">
            <a:avLst/>
          </a:prstGeom>
          <a:noFill/>
          <a:ln/>
        </p:spPr>
        <p:txBody>
          <a:bodyPr wrap="square"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TOTAL VIEWING HOURS</a:t>
            </a:r>
            <a:endParaRPr lang="en-US" sz="1000" dirty="0"/>
          </a:p>
        </p:txBody>
      </p:sp>
      <p:sp>
        <p:nvSpPr>
          <p:cNvPr id="17" name="Text 14"/>
          <p:cNvSpPr/>
          <p:nvPr/>
        </p:nvSpPr>
        <p:spPr>
          <a:xfrm>
            <a:off x="2999232" y="2002536"/>
            <a:ext cx="1837944" cy="566928"/>
          </a:xfrm>
          <a:prstGeom prst="rect">
            <a:avLst/>
          </a:prstGeom>
          <a:noFill/>
          <a:ln/>
        </p:spPr>
        <p:txBody>
          <a:bodyPr wrap="square" rtlCol="0" anchor="ctr"/>
          <a:lstStyle/>
          <a:p>
            <a:pPr marL="0" indent="0">
              <a:buNone/>
            </a:pPr>
            <a:r>
              <a:rPr lang="en-US" sz="3400" b="1" dirty="0">
                <a:solidFill>
                  <a:srgbClr val="0B1F3A"/>
                </a:solidFill>
                <a:latin typeface="Trebuchet MS" pitchFamily="34" charset="0"/>
                <a:ea typeface="Trebuchet MS" pitchFamily="34" charset="-122"/>
                <a:cs typeface="Trebuchet MS" pitchFamily="34" charset="-120"/>
              </a:rPr>
              <a:t>1,522</a:t>
            </a:r>
            <a:endParaRPr lang="en-US" sz="3400" dirty="0"/>
          </a:p>
        </p:txBody>
      </p:sp>
      <p:sp>
        <p:nvSpPr>
          <p:cNvPr id="18" name="Text 15"/>
          <p:cNvSpPr/>
          <p:nvPr/>
        </p:nvSpPr>
        <p:spPr>
          <a:xfrm>
            <a:off x="3026664" y="2569464"/>
            <a:ext cx="1792224" cy="274320"/>
          </a:xfrm>
          <a:prstGeom prst="rect">
            <a:avLst/>
          </a:prstGeom>
          <a:noFill/>
          <a:ln/>
        </p:spPr>
        <p:txBody>
          <a:bodyPr wrap="square" rtlCol="0" anchor="ctr"/>
          <a:lstStyle/>
          <a:p>
            <a:pPr marL="0" indent="0">
              <a:buNone/>
            </a:pPr>
            <a:r>
              <a:rPr lang="en-US" sz="1050" dirty="0">
                <a:solidFill>
                  <a:srgbClr val="42A5F5"/>
                </a:solidFill>
                <a:latin typeface="Calibri" pitchFamily="34" charset="0"/>
                <a:ea typeface="Calibri" pitchFamily="34" charset="-122"/>
                <a:cs typeface="Calibri" pitchFamily="34" charset="-120"/>
              </a:rPr>
              <a:t>91,334 minutes watched</a:t>
            </a:r>
            <a:endParaRPr lang="en-US" sz="1050" dirty="0"/>
          </a:p>
        </p:txBody>
      </p:sp>
      <p:sp>
        <p:nvSpPr>
          <p:cNvPr id="19" name="Shape 16"/>
          <p:cNvSpPr/>
          <p:nvPr/>
        </p:nvSpPr>
        <p:spPr>
          <a:xfrm>
            <a:off x="5093208" y="1600200"/>
            <a:ext cx="2157984" cy="1417320"/>
          </a:xfrm>
          <a:prstGeom prst="roundRect">
            <a:avLst>
              <a:gd name="adj" fmla="val 387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0" name="Shape 17"/>
          <p:cNvSpPr/>
          <p:nvPr/>
        </p:nvSpPr>
        <p:spPr>
          <a:xfrm>
            <a:off x="5093208" y="1600200"/>
            <a:ext cx="54864" cy="1417320"/>
          </a:xfrm>
          <a:prstGeom prst="rect">
            <a:avLst/>
          </a:prstGeom>
          <a:solidFill>
            <a:srgbClr val="C9A227"/>
          </a:solidFill>
          <a:ln/>
        </p:spPr>
        <p:txBody>
          <a:bodyPr/>
          <a:lstStyle/>
          <a:p>
            <a:endParaRPr lang="en-ZA"/>
          </a:p>
        </p:txBody>
      </p:sp>
      <p:sp>
        <p:nvSpPr>
          <p:cNvPr id="21" name="Text 18"/>
          <p:cNvSpPr/>
          <p:nvPr/>
        </p:nvSpPr>
        <p:spPr>
          <a:xfrm>
            <a:off x="5321808" y="1746504"/>
            <a:ext cx="1792224" cy="256032"/>
          </a:xfrm>
          <a:prstGeom prst="rect">
            <a:avLst/>
          </a:prstGeom>
          <a:noFill/>
          <a:ln/>
        </p:spPr>
        <p:txBody>
          <a:bodyPr wrap="square"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AVG SESSION DURATION</a:t>
            </a:r>
            <a:endParaRPr lang="en-US" sz="1000" dirty="0"/>
          </a:p>
        </p:txBody>
      </p:sp>
      <p:sp>
        <p:nvSpPr>
          <p:cNvPr id="22" name="Text 19"/>
          <p:cNvSpPr/>
          <p:nvPr/>
        </p:nvSpPr>
        <p:spPr>
          <a:xfrm>
            <a:off x="5294376" y="2002536"/>
            <a:ext cx="1837944" cy="566928"/>
          </a:xfrm>
          <a:prstGeom prst="rect">
            <a:avLst/>
          </a:prstGeom>
          <a:noFill/>
          <a:ln/>
        </p:spPr>
        <p:txBody>
          <a:bodyPr wrap="square" rtlCol="0" anchor="ctr"/>
          <a:lstStyle/>
          <a:p>
            <a:pPr marL="0" indent="0">
              <a:buNone/>
            </a:pPr>
            <a:r>
              <a:rPr lang="en-US" sz="3400" b="1" dirty="0">
                <a:solidFill>
                  <a:srgbClr val="0B1F3A"/>
                </a:solidFill>
                <a:latin typeface="Trebuchet MS" pitchFamily="34" charset="0"/>
                <a:ea typeface="Trebuchet MS" pitchFamily="34" charset="-122"/>
                <a:cs typeface="Trebuchet MS" pitchFamily="34" charset="-120"/>
              </a:rPr>
              <a:t>9.2 min</a:t>
            </a:r>
            <a:endParaRPr lang="en-US" sz="3400" dirty="0"/>
          </a:p>
        </p:txBody>
      </p:sp>
      <p:sp>
        <p:nvSpPr>
          <p:cNvPr id="23" name="Text 20"/>
          <p:cNvSpPr/>
          <p:nvPr/>
        </p:nvSpPr>
        <p:spPr>
          <a:xfrm>
            <a:off x="5321808" y="2569464"/>
            <a:ext cx="1792224" cy="274320"/>
          </a:xfrm>
          <a:prstGeom prst="rect">
            <a:avLst/>
          </a:prstGeom>
          <a:noFill/>
          <a:ln/>
        </p:spPr>
        <p:txBody>
          <a:bodyPr wrap="square" rtlCol="0" anchor="ctr"/>
          <a:lstStyle/>
          <a:p>
            <a:pPr marL="0" indent="0">
              <a:buNone/>
            </a:pPr>
            <a:r>
              <a:rPr lang="en-US" sz="1050" dirty="0">
                <a:solidFill>
                  <a:srgbClr val="C9A227"/>
                </a:solidFill>
                <a:latin typeface="Calibri" pitchFamily="34" charset="0"/>
                <a:ea typeface="Calibri" pitchFamily="34" charset="-122"/>
                <a:cs typeface="Calibri" pitchFamily="34" charset="-120"/>
              </a:rPr>
              <a:t>Engagement baseline</a:t>
            </a:r>
            <a:endParaRPr lang="en-US" sz="1050" dirty="0"/>
          </a:p>
        </p:txBody>
      </p:sp>
      <p:sp>
        <p:nvSpPr>
          <p:cNvPr id="24" name="Shape 21"/>
          <p:cNvSpPr/>
          <p:nvPr/>
        </p:nvSpPr>
        <p:spPr>
          <a:xfrm>
            <a:off x="7388352" y="1600200"/>
            <a:ext cx="2157984" cy="1417320"/>
          </a:xfrm>
          <a:prstGeom prst="roundRect">
            <a:avLst>
              <a:gd name="adj" fmla="val 387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5" name="Shape 22"/>
          <p:cNvSpPr/>
          <p:nvPr/>
        </p:nvSpPr>
        <p:spPr>
          <a:xfrm>
            <a:off x="7388352" y="1600200"/>
            <a:ext cx="54864" cy="1417320"/>
          </a:xfrm>
          <a:prstGeom prst="rect">
            <a:avLst/>
          </a:prstGeom>
          <a:solidFill>
            <a:srgbClr val="1565C0"/>
          </a:solidFill>
          <a:ln/>
        </p:spPr>
        <p:txBody>
          <a:bodyPr/>
          <a:lstStyle/>
          <a:p>
            <a:endParaRPr lang="en-ZA"/>
          </a:p>
        </p:txBody>
      </p:sp>
      <p:sp>
        <p:nvSpPr>
          <p:cNvPr id="26" name="Text 23"/>
          <p:cNvSpPr/>
          <p:nvPr/>
        </p:nvSpPr>
        <p:spPr>
          <a:xfrm>
            <a:off x="7616952" y="1746504"/>
            <a:ext cx="1792224" cy="256032"/>
          </a:xfrm>
          <a:prstGeom prst="rect">
            <a:avLst/>
          </a:prstGeom>
          <a:noFill/>
          <a:ln/>
        </p:spPr>
        <p:txBody>
          <a:bodyPr wrap="square"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ACTIVE CHANNELS</a:t>
            </a:r>
            <a:endParaRPr lang="en-US" sz="1000" dirty="0"/>
          </a:p>
        </p:txBody>
      </p:sp>
      <p:sp>
        <p:nvSpPr>
          <p:cNvPr id="27" name="Text 24"/>
          <p:cNvSpPr/>
          <p:nvPr/>
        </p:nvSpPr>
        <p:spPr>
          <a:xfrm>
            <a:off x="7589520" y="2002536"/>
            <a:ext cx="1837944" cy="566928"/>
          </a:xfrm>
          <a:prstGeom prst="rect">
            <a:avLst/>
          </a:prstGeom>
          <a:noFill/>
          <a:ln/>
        </p:spPr>
        <p:txBody>
          <a:bodyPr wrap="square" rtlCol="0" anchor="ctr"/>
          <a:lstStyle/>
          <a:p>
            <a:pPr marL="0" indent="0">
              <a:buNone/>
            </a:pPr>
            <a:r>
              <a:rPr lang="en-US" sz="3400" b="1" dirty="0">
                <a:solidFill>
                  <a:srgbClr val="0B1F3A"/>
                </a:solidFill>
                <a:latin typeface="Trebuchet MS" pitchFamily="34" charset="0"/>
                <a:ea typeface="Trebuchet MS" pitchFamily="34" charset="-122"/>
                <a:cs typeface="Trebuchet MS" pitchFamily="34" charset="-120"/>
              </a:rPr>
              <a:t>16</a:t>
            </a:r>
            <a:endParaRPr lang="en-US" sz="3400" dirty="0"/>
          </a:p>
        </p:txBody>
      </p:sp>
      <p:sp>
        <p:nvSpPr>
          <p:cNvPr id="28" name="Text 25"/>
          <p:cNvSpPr/>
          <p:nvPr/>
        </p:nvSpPr>
        <p:spPr>
          <a:xfrm>
            <a:off x="7616952" y="2569464"/>
            <a:ext cx="1792224" cy="274320"/>
          </a:xfrm>
          <a:prstGeom prst="rect">
            <a:avLst/>
          </a:prstGeom>
          <a:noFill/>
          <a:ln/>
        </p:spPr>
        <p:txBody>
          <a:bodyPr wrap="square" rtlCol="0" anchor="ctr"/>
          <a:lstStyle/>
          <a:p>
            <a:pPr marL="0" indent="0">
              <a:buNone/>
            </a:pPr>
            <a:r>
              <a:rPr lang="en-US" sz="1050" dirty="0">
                <a:solidFill>
                  <a:srgbClr val="1565C0"/>
                </a:solidFill>
                <a:latin typeface="Calibri" pitchFamily="34" charset="0"/>
                <a:ea typeface="Calibri" pitchFamily="34" charset="-122"/>
                <a:cs typeface="Calibri" pitchFamily="34" charset="-120"/>
              </a:rPr>
              <a:t>1 dominates at 27%</a:t>
            </a:r>
            <a:endParaRPr lang="en-US" sz="1050" dirty="0"/>
          </a:p>
        </p:txBody>
      </p:sp>
      <p:sp>
        <p:nvSpPr>
          <p:cNvPr id="29" name="Shape 26"/>
          <p:cNvSpPr/>
          <p:nvPr/>
        </p:nvSpPr>
        <p:spPr>
          <a:xfrm>
            <a:off x="9683496" y="1600200"/>
            <a:ext cx="1975104" cy="1417320"/>
          </a:xfrm>
          <a:prstGeom prst="roundRect">
            <a:avLst>
              <a:gd name="adj" fmla="val 387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0" name="Shape 27"/>
          <p:cNvSpPr/>
          <p:nvPr/>
        </p:nvSpPr>
        <p:spPr>
          <a:xfrm>
            <a:off x="9683496" y="1600200"/>
            <a:ext cx="54864" cy="1417320"/>
          </a:xfrm>
          <a:prstGeom prst="rect">
            <a:avLst/>
          </a:prstGeom>
          <a:solidFill>
            <a:srgbClr val="0B1F3A"/>
          </a:solidFill>
          <a:ln/>
        </p:spPr>
        <p:txBody>
          <a:bodyPr/>
          <a:lstStyle/>
          <a:p>
            <a:endParaRPr lang="en-ZA"/>
          </a:p>
        </p:txBody>
      </p:sp>
      <p:sp>
        <p:nvSpPr>
          <p:cNvPr id="31" name="Text 28"/>
          <p:cNvSpPr/>
          <p:nvPr/>
        </p:nvSpPr>
        <p:spPr>
          <a:xfrm>
            <a:off x="9912096" y="1746504"/>
            <a:ext cx="1609344" cy="256032"/>
          </a:xfrm>
          <a:prstGeom prst="rect">
            <a:avLst/>
          </a:prstGeom>
          <a:noFill/>
          <a:ln/>
        </p:spPr>
        <p:txBody>
          <a:bodyPr wrap="square" rtlCol="0" anchor="ctr"/>
          <a:lstStyle/>
          <a:p>
            <a:pPr marL="0" indent="0">
              <a:buNone/>
            </a:pPr>
            <a:r>
              <a:rPr lang="en-US" sz="1000" b="1" kern="0" spc="100" dirty="0">
                <a:solidFill>
                  <a:srgbClr val="5B6B80"/>
                </a:solidFill>
                <a:latin typeface="Calibri" pitchFamily="34" charset="0"/>
                <a:ea typeface="Calibri" pitchFamily="34" charset="-122"/>
                <a:cs typeface="Calibri" pitchFamily="34" charset="-120"/>
              </a:rPr>
              <a:t>SUBSCRIBERS</a:t>
            </a:r>
            <a:endParaRPr lang="en-US" sz="1000" dirty="0"/>
          </a:p>
        </p:txBody>
      </p:sp>
      <p:sp>
        <p:nvSpPr>
          <p:cNvPr id="32" name="Text 29"/>
          <p:cNvSpPr/>
          <p:nvPr/>
        </p:nvSpPr>
        <p:spPr>
          <a:xfrm>
            <a:off x="9884664" y="2002536"/>
            <a:ext cx="1655064" cy="566928"/>
          </a:xfrm>
          <a:prstGeom prst="rect">
            <a:avLst/>
          </a:prstGeom>
          <a:noFill/>
          <a:ln/>
        </p:spPr>
        <p:txBody>
          <a:bodyPr wrap="square" rtlCol="0" anchor="ctr"/>
          <a:lstStyle/>
          <a:p>
            <a:pPr marL="0" indent="0">
              <a:buNone/>
            </a:pPr>
            <a:r>
              <a:rPr lang="en-US" sz="3400" b="1" dirty="0">
                <a:solidFill>
                  <a:srgbClr val="0B1F3A"/>
                </a:solidFill>
                <a:latin typeface="Trebuchet MS" pitchFamily="34" charset="0"/>
              </a:rPr>
              <a:t>4386</a:t>
            </a:r>
            <a:endParaRPr lang="en-US" sz="3400" dirty="0"/>
          </a:p>
        </p:txBody>
      </p:sp>
      <p:sp>
        <p:nvSpPr>
          <p:cNvPr id="33" name="Text 30"/>
          <p:cNvSpPr/>
          <p:nvPr/>
        </p:nvSpPr>
        <p:spPr>
          <a:xfrm>
            <a:off x="9912096" y="2569464"/>
            <a:ext cx="1609344" cy="274320"/>
          </a:xfrm>
          <a:prstGeom prst="rect">
            <a:avLst/>
          </a:prstGeom>
          <a:noFill/>
          <a:ln/>
        </p:spPr>
        <p:txBody>
          <a:bodyPr wrap="square" rtlCol="0" anchor="ctr"/>
          <a:lstStyle/>
          <a:p>
            <a:pPr marL="0" indent="0">
              <a:buNone/>
            </a:pPr>
            <a:r>
              <a:rPr lang="en-US" sz="1050" dirty="0">
                <a:solidFill>
                  <a:srgbClr val="0B1F3A"/>
                </a:solidFill>
                <a:latin typeface="Calibri" pitchFamily="34" charset="0"/>
                <a:ea typeface="Calibri" pitchFamily="34" charset="-122"/>
                <a:cs typeface="Calibri" pitchFamily="34" charset="-120"/>
              </a:rPr>
              <a:t>Source: billing system</a:t>
            </a:r>
            <a:endParaRPr lang="en-US" sz="1050" dirty="0"/>
          </a:p>
        </p:txBody>
      </p:sp>
      <p:sp>
        <p:nvSpPr>
          <p:cNvPr id="34" name="Text 31"/>
          <p:cNvSpPr/>
          <p:nvPr/>
        </p:nvSpPr>
        <p:spPr>
          <a:xfrm>
            <a:off x="502920" y="3246120"/>
            <a:ext cx="6858000" cy="292608"/>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Monthly momentum — sessions grew 119% from January to March</a:t>
            </a:r>
            <a:endParaRPr lang="en-US" sz="1300" dirty="0"/>
          </a:p>
        </p:txBody>
      </p:sp>
      <p:graphicFrame>
        <p:nvGraphicFramePr>
          <p:cNvPr id="35" name="Chart 0"/>
          <p:cNvGraphicFramePr/>
          <p:nvPr/>
        </p:nvGraphicFramePr>
        <p:xfrm>
          <a:off x="365760" y="3566160"/>
          <a:ext cx="694944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36" name="Shape 32"/>
          <p:cNvSpPr/>
          <p:nvPr/>
        </p:nvSpPr>
        <p:spPr>
          <a:xfrm>
            <a:off x="7635240" y="3246120"/>
            <a:ext cx="4023360" cy="2560320"/>
          </a:xfrm>
          <a:prstGeom prst="roundRect">
            <a:avLst>
              <a:gd name="adj" fmla="val 2143"/>
            </a:avLst>
          </a:prstGeom>
          <a:solidFill>
            <a:srgbClr val="F4F6FA"/>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7" name="Text 33"/>
          <p:cNvSpPr/>
          <p:nvPr/>
        </p:nvSpPr>
        <p:spPr>
          <a:xfrm>
            <a:off x="7863840" y="3429000"/>
            <a:ext cx="3566160" cy="274320"/>
          </a:xfrm>
          <a:prstGeom prst="rect">
            <a:avLst/>
          </a:prstGeom>
          <a:noFill/>
          <a:ln/>
        </p:spPr>
        <p:txBody>
          <a:bodyPr wrap="square" rtlCol="0" anchor="ctr"/>
          <a:lstStyle/>
          <a:p>
            <a:pPr marL="0" indent="0">
              <a:buNone/>
            </a:pPr>
            <a:r>
              <a:rPr lang="en-US" sz="1000" b="1" kern="0" spc="150" dirty="0">
                <a:solidFill>
                  <a:srgbClr val="C9A227"/>
                </a:solidFill>
                <a:latin typeface="Calibri" pitchFamily="34" charset="0"/>
                <a:ea typeface="Calibri" pitchFamily="34" charset="-122"/>
                <a:cs typeface="Calibri" pitchFamily="34" charset="-120"/>
              </a:rPr>
              <a:t>WHAT THE KPIs SAY</a:t>
            </a:r>
            <a:endParaRPr lang="en-US" sz="1000" dirty="0"/>
          </a:p>
        </p:txBody>
      </p:sp>
      <p:sp>
        <p:nvSpPr>
          <p:cNvPr id="38" name="Text 34"/>
          <p:cNvSpPr/>
          <p:nvPr/>
        </p:nvSpPr>
        <p:spPr>
          <a:xfrm>
            <a:off x="7863840" y="3749040"/>
            <a:ext cx="3566160" cy="1828800"/>
          </a:xfrm>
          <a:prstGeom prst="rect">
            <a:avLst/>
          </a:prstGeom>
          <a:noFill/>
          <a:ln/>
        </p:spPr>
        <p:txBody>
          <a:bodyPr wrap="square" rtlCol="0" anchor="ctr"/>
          <a:lstStyle/>
          <a:p>
            <a:pPr marL="342900" indent="-342900">
              <a:lnSpc>
                <a:spcPts val="1553"/>
              </a:lnSpc>
              <a:spcAft>
                <a:spcPts val="800"/>
              </a:spcAft>
              <a:buSzPct val="100000"/>
              <a:buChar char="▪"/>
            </a:pPr>
            <a:r>
              <a:rPr lang="en-US" sz="1150" dirty="0">
                <a:solidFill>
                  <a:srgbClr val="2B3B52"/>
                </a:solidFill>
                <a:latin typeface="Calibri" pitchFamily="34" charset="0"/>
                <a:ea typeface="Calibri" pitchFamily="34" charset="-122"/>
                <a:cs typeface="Calibri" pitchFamily="34" charset="-120"/>
              </a:rPr>
              <a:t>Demand is accelerating — March alone carried 48% of quarterly sessions.</a:t>
            </a:r>
            <a:endParaRPr lang="en-US" sz="1150" dirty="0"/>
          </a:p>
          <a:p>
            <a:pPr marL="342900" indent="-342900">
              <a:lnSpc>
                <a:spcPts val="1553"/>
              </a:lnSpc>
              <a:spcAft>
                <a:spcPts val="800"/>
              </a:spcAft>
              <a:buSzPct val="100000"/>
              <a:buChar char="▪"/>
            </a:pPr>
            <a:r>
              <a:rPr lang="en-US" sz="1150" dirty="0">
                <a:solidFill>
                  <a:srgbClr val="2B3B52"/>
                </a:solidFill>
                <a:latin typeface="Calibri" pitchFamily="34" charset="0"/>
                <a:ea typeface="Calibri" pitchFamily="34" charset="-122"/>
                <a:cs typeface="Calibri" pitchFamily="34" charset="-120"/>
              </a:rPr>
              <a:t>Volume growth is not matched by depth: sessions remain ~9 minutes.</a:t>
            </a:r>
            <a:endParaRPr lang="en-US" sz="1150" dirty="0"/>
          </a:p>
          <a:p>
            <a:pPr marL="342900" indent="-342900">
              <a:lnSpc>
                <a:spcPts val="1553"/>
              </a:lnSpc>
              <a:spcAft>
                <a:spcPts val="800"/>
              </a:spcAft>
              <a:buSzPct val="100000"/>
              <a:buChar char="▪"/>
            </a:pPr>
            <a:r>
              <a:rPr lang="en-US" sz="1150" dirty="0">
                <a:solidFill>
                  <a:srgbClr val="2B3B52"/>
                </a:solidFill>
                <a:latin typeface="Calibri" pitchFamily="34" charset="0"/>
                <a:ea typeface="Calibri" pitchFamily="34" charset="-122"/>
                <a:cs typeface="Calibri" pitchFamily="34" charset="-120"/>
              </a:rPr>
              <a:t>69% of profiles fall in the No Usage screen-time bracket.</a:t>
            </a:r>
            <a:endParaRPr lang="en-US" sz="1150" dirty="0"/>
          </a:p>
          <a:p>
            <a:pPr marL="342900" indent="-342900">
              <a:lnSpc>
                <a:spcPts val="1553"/>
              </a:lnSpc>
              <a:spcAft>
                <a:spcPts val="800"/>
              </a:spcAft>
              <a:buSzPct val="100000"/>
              <a:buChar char="▪"/>
            </a:pPr>
            <a:r>
              <a:rPr lang="en-US" sz="1150" dirty="0">
                <a:solidFill>
                  <a:srgbClr val="2B3B52"/>
                </a:solidFill>
                <a:latin typeface="Calibri" pitchFamily="34" charset="0"/>
                <a:ea typeface="Calibri" pitchFamily="34" charset="-122"/>
                <a:cs typeface="Calibri" pitchFamily="34" charset="-120"/>
              </a:rPr>
              <a:t>Growth is therefore acquisition-led, not engagement-led.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13</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Channel Performance</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12</a:t>
            </a:r>
            <a:endParaRPr lang="en-US" sz="900" dirty="0"/>
          </a:p>
        </p:txBody>
      </p:sp>
      <p:sp>
        <p:nvSpPr>
          <p:cNvPr id="9" name="Text 6"/>
          <p:cNvSpPr/>
          <p:nvPr/>
        </p:nvSpPr>
        <p:spPr>
          <a:xfrm>
            <a:off x="502920" y="1572768"/>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Top channels by sessions</a:t>
            </a:r>
            <a:endParaRPr lang="en-US" sz="1300" dirty="0"/>
          </a:p>
        </p:txBody>
      </p:sp>
      <p:graphicFrame>
        <p:nvGraphicFramePr>
          <p:cNvPr id="10" name="Chart 0"/>
          <p:cNvGraphicFramePr/>
          <p:nvPr/>
        </p:nvGraphicFramePr>
        <p:xfrm>
          <a:off x="320040" y="1874520"/>
          <a:ext cx="57607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p:nvPr/>
        </p:nvSpPr>
        <p:spPr>
          <a:xfrm>
            <a:off x="6309360" y="1572768"/>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Average session duration (minutes)</a:t>
            </a:r>
            <a:endParaRPr lang="en-US" sz="1300" dirty="0"/>
          </a:p>
        </p:txBody>
      </p:sp>
      <p:graphicFrame>
        <p:nvGraphicFramePr>
          <p:cNvPr id="12" name="Chart 1"/>
          <p:cNvGraphicFramePr/>
          <p:nvPr/>
        </p:nvGraphicFramePr>
        <p:xfrm>
          <a:off x="6126480" y="1874520"/>
          <a:ext cx="57607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8"/>
          <p:cNvSpPr/>
          <p:nvPr/>
        </p:nvSpPr>
        <p:spPr>
          <a:xfrm>
            <a:off x="502920" y="4434840"/>
            <a:ext cx="3566160" cy="1371600"/>
          </a:xfrm>
          <a:prstGeom prst="roundRect">
            <a:avLst>
              <a:gd name="adj" fmla="val 4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4" name="Shape 9"/>
          <p:cNvSpPr/>
          <p:nvPr/>
        </p:nvSpPr>
        <p:spPr>
          <a:xfrm>
            <a:off x="502920" y="4434840"/>
            <a:ext cx="3566160" cy="54864"/>
          </a:xfrm>
          <a:prstGeom prst="rect">
            <a:avLst/>
          </a:prstGeom>
          <a:solidFill>
            <a:srgbClr val="1565C0"/>
          </a:solidFill>
          <a:ln/>
        </p:spPr>
        <p:txBody>
          <a:bodyPr/>
          <a:lstStyle/>
          <a:p>
            <a:endParaRPr lang="en-ZA"/>
          </a:p>
        </p:txBody>
      </p:sp>
      <p:sp>
        <p:nvSpPr>
          <p:cNvPr id="15" name="Text 10"/>
          <p:cNvSpPr/>
          <p:nvPr/>
        </p:nvSpPr>
        <p:spPr>
          <a:xfrm>
            <a:off x="722376" y="4553712"/>
            <a:ext cx="3154680" cy="292608"/>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Concentration risk</a:t>
            </a:r>
            <a:endParaRPr lang="en-US" sz="1300" dirty="0"/>
          </a:p>
        </p:txBody>
      </p:sp>
      <p:sp>
        <p:nvSpPr>
          <p:cNvPr id="16" name="Text 11"/>
          <p:cNvSpPr/>
          <p:nvPr/>
        </p:nvSpPr>
        <p:spPr>
          <a:xfrm>
            <a:off x="722376" y="4864608"/>
            <a:ext cx="3154680" cy="868680"/>
          </a:xfrm>
          <a:prstGeom prst="rect">
            <a:avLst/>
          </a:prstGeom>
          <a:noFill/>
          <a:ln/>
        </p:spPr>
        <p:txBody>
          <a:bodyPr wrap="square" rtlCol="0" anchor="ctr"/>
          <a:lstStyle/>
          <a:p>
            <a:pPr marL="0" indent="0">
              <a:lnSpc>
                <a:spcPts val="1500"/>
              </a:lnSpc>
              <a:buNone/>
            </a:pPr>
            <a:r>
              <a:rPr lang="en-US" sz="1100" dirty="0">
                <a:solidFill>
                  <a:srgbClr val="53657D"/>
                </a:solidFill>
                <a:latin typeface="Calibri" pitchFamily="34" charset="0"/>
                <a:ea typeface="Calibri" pitchFamily="34" charset="-122"/>
                <a:cs typeface="Calibri" pitchFamily="34" charset="-120"/>
              </a:rPr>
              <a:t>Sport = 41% of all sessions and 421 of 1,522 watch hours. A lost rights deal would remove roughly two-fifths of consumption overnight.</a:t>
            </a:r>
            <a:endParaRPr lang="en-US" sz="1100" dirty="0"/>
          </a:p>
        </p:txBody>
      </p:sp>
      <p:sp>
        <p:nvSpPr>
          <p:cNvPr id="17" name="Shape 12"/>
          <p:cNvSpPr/>
          <p:nvPr/>
        </p:nvSpPr>
        <p:spPr>
          <a:xfrm>
            <a:off x="4279392" y="4434840"/>
            <a:ext cx="3566160" cy="1371600"/>
          </a:xfrm>
          <a:prstGeom prst="roundRect">
            <a:avLst>
              <a:gd name="adj" fmla="val 40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8" name="Shape 13"/>
          <p:cNvSpPr/>
          <p:nvPr/>
        </p:nvSpPr>
        <p:spPr>
          <a:xfrm>
            <a:off x="4279392" y="4434840"/>
            <a:ext cx="3566160" cy="54864"/>
          </a:xfrm>
          <a:prstGeom prst="rect">
            <a:avLst/>
          </a:prstGeom>
          <a:solidFill>
            <a:srgbClr val="C9A227"/>
          </a:solidFill>
          <a:ln/>
        </p:spPr>
        <p:txBody>
          <a:bodyPr/>
          <a:lstStyle/>
          <a:p>
            <a:endParaRPr lang="en-ZA"/>
          </a:p>
        </p:txBody>
      </p:sp>
      <p:sp>
        <p:nvSpPr>
          <p:cNvPr id="19" name="Text 14"/>
          <p:cNvSpPr/>
          <p:nvPr/>
        </p:nvSpPr>
        <p:spPr>
          <a:xfrm>
            <a:off x="4498848" y="4553712"/>
            <a:ext cx="3154680" cy="292608"/>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Attention leaders</a:t>
            </a:r>
            <a:endParaRPr lang="en-US" sz="1300" dirty="0"/>
          </a:p>
        </p:txBody>
      </p:sp>
      <p:sp>
        <p:nvSpPr>
          <p:cNvPr id="20" name="Text 15"/>
          <p:cNvSpPr/>
          <p:nvPr/>
        </p:nvSpPr>
        <p:spPr>
          <a:xfrm>
            <a:off x="4498848" y="4864608"/>
            <a:ext cx="3154680" cy="868680"/>
          </a:xfrm>
          <a:prstGeom prst="rect">
            <a:avLst/>
          </a:prstGeom>
          <a:noFill/>
          <a:ln/>
        </p:spPr>
        <p:txBody>
          <a:bodyPr wrap="square" rtlCol="0" anchor="ctr"/>
          <a:lstStyle/>
          <a:p>
            <a:pPr marL="0" indent="0">
              <a:lnSpc>
                <a:spcPts val="1500"/>
              </a:lnSpc>
              <a:buNone/>
            </a:pPr>
            <a:r>
              <a:rPr lang="en-US" sz="1100" dirty="0">
                <a:solidFill>
                  <a:srgbClr val="53657D"/>
                </a:solidFill>
                <a:latin typeface="Calibri" pitchFamily="34" charset="0"/>
                <a:ea typeface="Calibri" pitchFamily="34" charset="-122"/>
                <a:cs typeface="Calibri" pitchFamily="34" charset="-120"/>
              </a:rPr>
              <a:t>MK (16.3 min) and SawSee (12.3 min) hold viewers ~40% longer than the portfolio average but carry under 4% of sessions.</a:t>
            </a:r>
            <a:endParaRPr lang="en-US" sz="1100" dirty="0"/>
          </a:p>
        </p:txBody>
      </p:sp>
      <p:sp>
        <p:nvSpPr>
          <p:cNvPr id="21" name="Shape 16"/>
          <p:cNvSpPr/>
          <p:nvPr/>
        </p:nvSpPr>
        <p:spPr>
          <a:xfrm>
            <a:off x="8055864" y="4434840"/>
            <a:ext cx="3566160" cy="1371600"/>
          </a:xfrm>
          <a:prstGeom prst="roundRect">
            <a:avLst>
              <a:gd name="adj" fmla="val 4000"/>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22" name="Text 17"/>
          <p:cNvSpPr/>
          <p:nvPr/>
        </p:nvSpPr>
        <p:spPr>
          <a:xfrm>
            <a:off x="8275320" y="4553712"/>
            <a:ext cx="3154680" cy="292608"/>
          </a:xfrm>
          <a:prstGeom prst="rect">
            <a:avLst/>
          </a:prstGeom>
          <a:noFill/>
          <a:ln/>
        </p:spPr>
        <p:txBody>
          <a:bodyPr wrap="square" rtlCol="0" anchor="ctr"/>
          <a:lstStyle/>
          <a:p>
            <a:pPr marL="0" indent="0">
              <a:buNone/>
            </a:pPr>
            <a:r>
              <a:rPr lang="en-US" sz="1300" b="1" dirty="0">
                <a:solidFill>
                  <a:srgbClr val="C9A227"/>
                </a:solidFill>
                <a:latin typeface="Trebuchet MS" pitchFamily="34" charset="0"/>
                <a:ea typeface="Trebuchet MS" pitchFamily="34" charset="-122"/>
                <a:cs typeface="Trebuchet MS" pitchFamily="34" charset="-120"/>
              </a:rPr>
              <a:t>Recommendation</a:t>
            </a:r>
            <a:endParaRPr lang="en-US" sz="1300" dirty="0"/>
          </a:p>
        </p:txBody>
      </p:sp>
      <p:sp>
        <p:nvSpPr>
          <p:cNvPr id="23" name="Text 18"/>
          <p:cNvSpPr/>
          <p:nvPr/>
        </p:nvSpPr>
        <p:spPr>
          <a:xfrm>
            <a:off x="8275320" y="4864608"/>
            <a:ext cx="3154680" cy="868680"/>
          </a:xfrm>
          <a:prstGeom prst="rect">
            <a:avLst/>
          </a:prstGeom>
          <a:noFill/>
          <a:ln/>
        </p:spPr>
        <p:txBody>
          <a:bodyPr wrap="square" rtlCol="0" anchor="ctr"/>
          <a:lstStyle/>
          <a:p>
            <a:pPr marL="0" indent="0">
              <a:lnSpc>
                <a:spcPts val="1500"/>
              </a:lnSpc>
              <a:buNone/>
            </a:pPr>
            <a:r>
              <a:rPr lang="en-US" sz="1100" dirty="0">
                <a:solidFill>
                  <a:srgbClr val="CFE0F5"/>
                </a:solidFill>
                <a:latin typeface="Calibri" pitchFamily="34" charset="0"/>
                <a:ea typeface="Calibri" pitchFamily="34" charset="-122"/>
                <a:cs typeface="Calibri" pitchFamily="34" charset="-120"/>
              </a:rPr>
              <a:t>Promote high-retention titles into sport adjacency slots and surface them in the recommendation rail post-match.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14</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Viewer Behaviour</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13</a:t>
            </a:r>
            <a:endParaRPr lang="en-US" sz="900" dirty="0"/>
          </a:p>
        </p:txBody>
      </p:sp>
      <p:sp>
        <p:nvSpPr>
          <p:cNvPr id="9" name="Text 6"/>
          <p:cNvSpPr/>
          <p:nvPr/>
        </p:nvSpPr>
        <p:spPr>
          <a:xfrm>
            <a:off x="502920" y="1572768"/>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Sessions by hour of day</a:t>
            </a:r>
            <a:endParaRPr lang="en-US" sz="1300" dirty="0"/>
          </a:p>
        </p:txBody>
      </p:sp>
      <p:graphicFrame>
        <p:nvGraphicFramePr>
          <p:cNvPr id="10" name="Chart 0"/>
          <p:cNvGraphicFramePr/>
          <p:nvPr/>
        </p:nvGraphicFramePr>
        <p:xfrm>
          <a:off x="320040" y="1874520"/>
          <a:ext cx="576072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p:nvPr/>
        </p:nvSpPr>
        <p:spPr>
          <a:xfrm>
            <a:off x="6309360" y="1572768"/>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Sessions by time-of-day band</a:t>
            </a:r>
            <a:endParaRPr lang="en-US" sz="1300" dirty="0"/>
          </a:p>
        </p:txBody>
      </p:sp>
      <p:graphicFrame>
        <p:nvGraphicFramePr>
          <p:cNvPr id="12" name="Chart 1"/>
          <p:cNvGraphicFramePr/>
          <p:nvPr/>
        </p:nvGraphicFramePr>
        <p:xfrm>
          <a:off x="6126480" y="1874520"/>
          <a:ext cx="576072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8"/>
          <p:cNvSpPr/>
          <p:nvPr/>
        </p:nvSpPr>
        <p:spPr>
          <a:xfrm>
            <a:off x="502920" y="4160520"/>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Weekday vs weekend split</a:t>
            </a:r>
            <a:endParaRPr lang="en-US" sz="1300" dirty="0"/>
          </a:p>
        </p:txBody>
      </p:sp>
      <p:graphicFrame>
        <p:nvGraphicFramePr>
          <p:cNvPr id="14" name="Chart 2"/>
          <p:cNvGraphicFramePr/>
          <p:nvPr/>
        </p:nvGraphicFramePr>
        <p:xfrm>
          <a:off x="320040" y="4343400"/>
          <a:ext cx="3840480" cy="173736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9"/>
          <p:cNvSpPr/>
          <p:nvPr/>
        </p:nvSpPr>
        <p:spPr>
          <a:xfrm>
            <a:off x="4480560" y="42062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6" name="Shape 10"/>
          <p:cNvSpPr/>
          <p:nvPr/>
        </p:nvSpPr>
        <p:spPr>
          <a:xfrm>
            <a:off x="4480560" y="4206240"/>
            <a:ext cx="3566160" cy="45720"/>
          </a:xfrm>
          <a:prstGeom prst="rect">
            <a:avLst/>
          </a:prstGeom>
          <a:solidFill>
            <a:srgbClr val="42A5F5"/>
          </a:solidFill>
          <a:ln/>
        </p:spPr>
        <p:txBody>
          <a:bodyPr/>
          <a:lstStyle/>
          <a:p>
            <a:endParaRPr lang="en-ZA"/>
          </a:p>
        </p:txBody>
      </p:sp>
      <p:sp>
        <p:nvSpPr>
          <p:cNvPr id="17" name="Text 11"/>
          <p:cNvSpPr/>
          <p:nvPr/>
        </p:nvSpPr>
        <p:spPr>
          <a:xfrm>
            <a:off x="4681728" y="4370832"/>
            <a:ext cx="3200400" cy="292608"/>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Monthly trend</a:t>
            </a:r>
            <a:endParaRPr lang="en-US" sz="1400" dirty="0"/>
          </a:p>
        </p:txBody>
      </p:sp>
      <p:sp>
        <p:nvSpPr>
          <p:cNvPr id="18" name="Text 12"/>
          <p:cNvSpPr/>
          <p:nvPr/>
        </p:nvSpPr>
        <p:spPr>
          <a:xfrm>
            <a:off x="4681728" y="4754880"/>
            <a:ext cx="3154680" cy="1463040"/>
          </a:xfrm>
          <a:prstGeom prst="rect">
            <a:avLst/>
          </a:prstGeom>
          <a:noFill/>
          <a:ln/>
        </p:spPr>
        <p:txBody>
          <a:bodyPr wrap="square" rtlCol="0" anchor="ctr"/>
          <a:lstStyle/>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Jan 2,199 → Feb 2,967 → Mar 4,814 sessions</a:t>
            </a:r>
            <a:endParaRPr lang="en-US" sz="1100" dirty="0"/>
          </a:p>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March carried 48% of the quarter</a:t>
            </a:r>
            <a:endParaRPr lang="en-US" sz="1100" dirty="0"/>
          </a:p>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Growth is volume-led, not depth-led</a:t>
            </a:r>
            <a:endParaRPr lang="en-US" sz="1100" dirty="0"/>
          </a:p>
        </p:txBody>
      </p:sp>
      <p:sp>
        <p:nvSpPr>
          <p:cNvPr id="19" name="Shape 13"/>
          <p:cNvSpPr/>
          <p:nvPr/>
        </p:nvSpPr>
        <p:spPr>
          <a:xfrm>
            <a:off x="8229600" y="4206240"/>
            <a:ext cx="342900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0" name="Shape 14"/>
          <p:cNvSpPr/>
          <p:nvPr/>
        </p:nvSpPr>
        <p:spPr>
          <a:xfrm>
            <a:off x="8229600" y="4206240"/>
            <a:ext cx="3429000" cy="45720"/>
          </a:xfrm>
          <a:prstGeom prst="rect">
            <a:avLst/>
          </a:prstGeom>
          <a:solidFill>
            <a:srgbClr val="C9A227"/>
          </a:solidFill>
          <a:ln/>
        </p:spPr>
        <p:txBody>
          <a:bodyPr/>
          <a:lstStyle/>
          <a:p>
            <a:endParaRPr lang="en-ZA"/>
          </a:p>
        </p:txBody>
      </p:sp>
      <p:sp>
        <p:nvSpPr>
          <p:cNvPr id="21" name="Text 15"/>
          <p:cNvSpPr/>
          <p:nvPr/>
        </p:nvSpPr>
        <p:spPr>
          <a:xfrm>
            <a:off x="8430768" y="4370832"/>
            <a:ext cx="3063240" cy="292608"/>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Peak windows</a:t>
            </a:r>
            <a:endParaRPr lang="en-US" sz="1400" dirty="0"/>
          </a:p>
        </p:txBody>
      </p:sp>
      <p:sp>
        <p:nvSpPr>
          <p:cNvPr id="22" name="Text 16"/>
          <p:cNvSpPr/>
          <p:nvPr/>
        </p:nvSpPr>
        <p:spPr>
          <a:xfrm>
            <a:off x="8430768" y="4754880"/>
            <a:ext cx="3017520" cy="1463040"/>
          </a:xfrm>
          <a:prstGeom prst="rect">
            <a:avLst/>
          </a:prstGeom>
          <a:noFill/>
          <a:ln/>
        </p:spPr>
        <p:txBody>
          <a:bodyPr wrap="square" rtlCol="0" anchor="ctr"/>
          <a:lstStyle/>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Plateau from 10:00 to 19:00</a:t>
            </a:r>
            <a:endParaRPr lang="en-US" sz="1100" dirty="0"/>
          </a:p>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Saturday strongest day (1,652)</a:t>
            </a:r>
            <a:endParaRPr lang="en-US" sz="1100" dirty="0"/>
          </a:p>
          <a:p>
            <a:pPr marL="342900" indent="-342900">
              <a:lnSpc>
                <a:spcPts val="1485"/>
              </a:lnSpc>
              <a:spcAft>
                <a:spcPts val="800"/>
              </a:spcAft>
              <a:buSzPct val="100000"/>
              <a:buChar char="▪"/>
            </a:pPr>
            <a:r>
              <a:rPr lang="en-US" sz="1100" dirty="0">
                <a:solidFill>
                  <a:srgbClr val="2B3B52"/>
                </a:solidFill>
                <a:latin typeface="Calibri" pitchFamily="34" charset="0"/>
                <a:ea typeface="Calibri" pitchFamily="34" charset="-122"/>
                <a:cs typeface="Calibri" pitchFamily="34" charset="-120"/>
              </a:rPr>
              <a:t>Post-21:00 demand falls ~70%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15</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Audience Segmentation</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14</a:t>
            </a:r>
            <a:endParaRPr lang="en-US" sz="900" dirty="0"/>
          </a:p>
        </p:txBody>
      </p:sp>
      <p:graphicFrame>
        <p:nvGraphicFramePr>
          <p:cNvPr id="9" name="Chart 0"/>
          <p:cNvGraphicFramePr/>
          <p:nvPr/>
        </p:nvGraphicFramePr>
        <p:xfrm>
          <a:off x="365760" y="1737360"/>
          <a:ext cx="36576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p:nvPr/>
        </p:nvSpPr>
        <p:spPr>
          <a:xfrm>
            <a:off x="502920" y="1572768"/>
            <a:ext cx="3200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Gender</a:t>
            </a:r>
            <a:endParaRPr lang="en-US" sz="1300" dirty="0"/>
          </a:p>
        </p:txBody>
      </p:sp>
      <p:sp>
        <p:nvSpPr>
          <p:cNvPr id="11" name="Text 7"/>
          <p:cNvSpPr/>
          <p:nvPr/>
        </p:nvSpPr>
        <p:spPr>
          <a:xfrm>
            <a:off x="4343400" y="1572768"/>
            <a:ext cx="3200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Age group</a:t>
            </a:r>
            <a:endParaRPr lang="en-US" sz="1300" dirty="0"/>
          </a:p>
        </p:txBody>
      </p:sp>
      <p:graphicFrame>
        <p:nvGraphicFramePr>
          <p:cNvPr id="12" name="Chart 1"/>
          <p:cNvGraphicFramePr/>
          <p:nvPr/>
        </p:nvGraphicFramePr>
        <p:xfrm>
          <a:off x="4160520" y="1828800"/>
          <a:ext cx="379476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8"/>
          <p:cNvSpPr/>
          <p:nvPr/>
        </p:nvSpPr>
        <p:spPr>
          <a:xfrm>
            <a:off x="8183880" y="1572768"/>
            <a:ext cx="3200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Race</a:t>
            </a:r>
            <a:endParaRPr lang="en-US" sz="1300" dirty="0"/>
          </a:p>
        </p:txBody>
      </p:sp>
      <p:graphicFrame>
        <p:nvGraphicFramePr>
          <p:cNvPr id="14" name="Chart 2"/>
          <p:cNvGraphicFramePr/>
          <p:nvPr/>
        </p:nvGraphicFramePr>
        <p:xfrm>
          <a:off x="8001000" y="1828800"/>
          <a:ext cx="3657600" cy="214884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9"/>
          <p:cNvSpPr/>
          <p:nvPr/>
        </p:nvSpPr>
        <p:spPr>
          <a:xfrm>
            <a:off x="502920" y="4114800"/>
            <a:ext cx="5486400" cy="27432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Province</a:t>
            </a:r>
            <a:endParaRPr lang="en-US" sz="1300" dirty="0"/>
          </a:p>
        </p:txBody>
      </p:sp>
      <p:graphicFrame>
        <p:nvGraphicFramePr>
          <p:cNvPr id="16" name="Chart 3"/>
          <p:cNvGraphicFramePr/>
          <p:nvPr/>
        </p:nvGraphicFramePr>
        <p:xfrm>
          <a:off x="320040" y="4389120"/>
          <a:ext cx="7680960" cy="1463040"/>
        </p:xfrm>
        <a:graphic>
          <a:graphicData uri="http://schemas.openxmlformats.org/drawingml/2006/chart">
            <c:chart xmlns:c="http://schemas.openxmlformats.org/drawingml/2006/chart" xmlns:r="http://schemas.openxmlformats.org/officeDocument/2006/relationships" r:id="rId6"/>
          </a:graphicData>
        </a:graphic>
      </p:graphicFrame>
      <p:sp>
        <p:nvSpPr>
          <p:cNvPr id="17" name="Shape 10"/>
          <p:cNvSpPr/>
          <p:nvPr/>
        </p:nvSpPr>
        <p:spPr>
          <a:xfrm>
            <a:off x="8183880" y="4224528"/>
            <a:ext cx="3474720" cy="1600200"/>
          </a:xfrm>
          <a:prstGeom prst="roundRect">
            <a:avLst>
              <a:gd name="adj" fmla="val 3429"/>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18" name="Text 11"/>
          <p:cNvSpPr/>
          <p:nvPr/>
        </p:nvSpPr>
        <p:spPr>
          <a:xfrm>
            <a:off x="8412480" y="4389120"/>
            <a:ext cx="3017520" cy="256032"/>
          </a:xfrm>
          <a:prstGeom prst="rect">
            <a:avLst/>
          </a:prstGeom>
          <a:noFill/>
          <a:ln/>
        </p:spPr>
        <p:txBody>
          <a:bodyPr wrap="square" rtlCol="0" anchor="ctr"/>
          <a:lstStyle/>
          <a:p>
            <a:pPr marL="0" indent="0">
              <a:buNone/>
            </a:pPr>
            <a:r>
              <a:rPr lang="en-US" sz="1000" b="1" kern="0" spc="140" dirty="0">
                <a:solidFill>
                  <a:srgbClr val="C9A227"/>
                </a:solidFill>
                <a:latin typeface="Calibri" pitchFamily="34" charset="0"/>
                <a:ea typeface="Calibri" pitchFamily="34" charset="-122"/>
                <a:cs typeface="Calibri" pitchFamily="34" charset="-120"/>
              </a:rPr>
              <a:t>WHERE THE HEADROOM IS</a:t>
            </a:r>
            <a:endParaRPr lang="en-US" sz="1000" dirty="0"/>
          </a:p>
        </p:txBody>
      </p:sp>
      <p:sp>
        <p:nvSpPr>
          <p:cNvPr id="19" name="Text 12"/>
          <p:cNvSpPr/>
          <p:nvPr/>
        </p:nvSpPr>
        <p:spPr>
          <a:xfrm>
            <a:off x="8412480" y="4663440"/>
            <a:ext cx="3063240" cy="1097280"/>
          </a:xfrm>
          <a:prstGeom prst="rect">
            <a:avLst/>
          </a:prstGeom>
          <a:noFill/>
          <a:ln/>
        </p:spPr>
        <p:txBody>
          <a:bodyPr wrap="square" rtlCol="0" anchor="ctr"/>
          <a:lstStyle/>
          <a:p>
            <a:pPr marL="0" indent="0">
              <a:lnSpc>
                <a:spcPts val="1500"/>
              </a:lnSpc>
              <a:buNone/>
            </a:pPr>
            <a:r>
              <a:rPr lang="en-US" sz="1100" dirty="0">
                <a:solidFill>
                  <a:srgbClr val="CFE0F5"/>
                </a:solidFill>
                <a:latin typeface="Calibri" pitchFamily="34" charset="0"/>
                <a:ea typeface="Calibri" pitchFamily="34" charset="-122"/>
                <a:cs typeface="Calibri" pitchFamily="34" charset="-120"/>
              </a:rPr>
              <a:t>Women are 9.8% of viewing. Under-20s are 5.4%. Six provinces together carry less than a third of sessions. These are the three underserved pools our growth targets should be written against.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16</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Business Insights</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15</a:t>
            </a:r>
            <a:endParaRPr lang="en-US" sz="900" dirty="0"/>
          </a:p>
        </p:txBody>
      </p:sp>
      <p:sp>
        <p:nvSpPr>
          <p:cNvPr id="9" name="Shape 6"/>
          <p:cNvSpPr/>
          <p:nvPr/>
        </p:nvSpPr>
        <p:spPr>
          <a:xfrm>
            <a:off x="502920" y="1572768"/>
            <a:ext cx="5532120" cy="1965960"/>
          </a:xfrm>
          <a:prstGeom prst="roundRect">
            <a:avLst>
              <a:gd name="adj" fmla="val 27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572768"/>
            <a:ext cx="5532120" cy="54864"/>
          </a:xfrm>
          <a:prstGeom prst="rect">
            <a:avLst/>
          </a:prstGeom>
          <a:solidFill>
            <a:srgbClr val="1565C0"/>
          </a:solidFill>
          <a:ln/>
        </p:spPr>
        <p:txBody>
          <a:bodyPr/>
          <a:lstStyle/>
          <a:p>
            <a:endParaRPr lang="en-ZA"/>
          </a:p>
        </p:txBody>
      </p:sp>
      <p:sp>
        <p:nvSpPr>
          <p:cNvPr id="11" name="Shape 8"/>
          <p:cNvSpPr/>
          <p:nvPr/>
        </p:nvSpPr>
        <p:spPr>
          <a:xfrm>
            <a:off x="722376" y="1792224"/>
            <a:ext cx="457200" cy="457200"/>
          </a:xfrm>
          <a:prstGeom prst="ellipse">
            <a:avLst/>
          </a:prstGeom>
          <a:solidFill>
            <a:srgbClr val="1565C0"/>
          </a:solidFill>
          <a:ln/>
        </p:spPr>
        <p:txBody>
          <a:bodyPr/>
          <a:lstStyle/>
          <a:p>
            <a:endParaRPr lang="en-ZA"/>
          </a:p>
        </p:txBody>
      </p:sp>
      <p:sp>
        <p:nvSpPr>
          <p:cNvPr id="12" name="Text 9"/>
          <p:cNvSpPr/>
          <p:nvPr/>
        </p:nvSpPr>
        <p:spPr>
          <a:xfrm>
            <a:off x="722376" y="1856232"/>
            <a:ext cx="457200" cy="310896"/>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01</a:t>
            </a:r>
            <a:endParaRPr lang="en-US" sz="1200" dirty="0"/>
          </a:p>
        </p:txBody>
      </p:sp>
      <p:sp>
        <p:nvSpPr>
          <p:cNvPr id="13" name="Text 10"/>
          <p:cNvSpPr/>
          <p:nvPr/>
        </p:nvSpPr>
        <p:spPr>
          <a:xfrm>
            <a:off x="1325880" y="1810512"/>
            <a:ext cx="4480560" cy="384048"/>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Sport carries the business</a:t>
            </a:r>
            <a:endParaRPr lang="en-US" sz="1500" dirty="0"/>
          </a:p>
        </p:txBody>
      </p:sp>
      <p:sp>
        <p:nvSpPr>
          <p:cNvPr id="14" name="Text 11"/>
          <p:cNvSpPr/>
          <p:nvPr/>
        </p:nvSpPr>
        <p:spPr>
          <a:xfrm>
            <a:off x="740664" y="2304288"/>
            <a:ext cx="1371600" cy="347472"/>
          </a:xfrm>
          <a:prstGeom prst="rect">
            <a:avLst/>
          </a:prstGeom>
          <a:noFill/>
          <a:ln/>
        </p:spPr>
        <p:txBody>
          <a:bodyPr wrap="square" rtlCol="0" anchor="ctr"/>
          <a:lstStyle/>
          <a:p>
            <a:pPr marL="0" indent="0">
              <a:buNone/>
            </a:pPr>
            <a:r>
              <a:rPr lang="en-US" sz="850" b="1" kern="0" spc="80" dirty="0">
                <a:solidFill>
                  <a:srgbClr val="1565C0"/>
                </a:solidFill>
                <a:latin typeface="Calibri" pitchFamily="34" charset="0"/>
                <a:ea typeface="Calibri" pitchFamily="34" charset="-122"/>
                <a:cs typeface="Calibri" pitchFamily="34" charset="-120"/>
              </a:rPr>
              <a:t>WHAT HAPPENED</a:t>
            </a:r>
            <a:endParaRPr lang="en-US" sz="850" dirty="0"/>
          </a:p>
        </p:txBody>
      </p:sp>
      <p:sp>
        <p:nvSpPr>
          <p:cNvPr id="15" name="Text 12"/>
          <p:cNvSpPr/>
          <p:nvPr/>
        </p:nvSpPr>
        <p:spPr>
          <a:xfrm>
            <a:off x="2148840" y="2304288"/>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SuperSport and the ICC Cricket World Cup drive 41% of sessions and 42% of watch hours.</a:t>
            </a:r>
            <a:endParaRPr lang="en-US" sz="1050" dirty="0"/>
          </a:p>
        </p:txBody>
      </p:sp>
      <p:sp>
        <p:nvSpPr>
          <p:cNvPr id="16" name="Text 13"/>
          <p:cNvSpPr/>
          <p:nvPr/>
        </p:nvSpPr>
        <p:spPr>
          <a:xfrm>
            <a:off x="740664" y="2706624"/>
            <a:ext cx="1371600" cy="347472"/>
          </a:xfrm>
          <a:prstGeom prst="rect">
            <a:avLst/>
          </a:prstGeom>
          <a:noFill/>
          <a:ln/>
        </p:spPr>
        <p:txBody>
          <a:bodyPr wrap="square" rtlCol="0" anchor="ctr"/>
          <a:lstStyle/>
          <a:p>
            <a:pPr marL="0" indent="0">
              <a:buNone/>
            </a:pPr>
            <a:r>
              <a:rPr lang="en-US" sz="850" b="1" kern="0" spc="80" dirty="0">
                <a:solidFill>
                  <a:srgbClr val="1565C0"/>
                </a:solidFill>
                <a:latin typeface="Calibri" pitchFamily="34" charset="0"/>
                <a:ea typeface="Calibri" pitchFamily="34" charset="-122"/>
                <a:cs typeface="Calibri" pitchFamily="34" charset="-120"/>
              </a:rPr>
              <a:t>WHY</a:t>
            </a:r>
            <a:endParaRPr lang="en-US" sz="850" dirty="0"/>
          </a:p>
        </p:txBody>
      </p:sp>
      <p:sp>
        <p:nvSpPr>
          <p:cNvPr id="17" name="Text 14"/>
          <p:cNvSpPr/>
          <p:nvPr/>
        </p:nvSpPr>
        <p:spPr>
          <a:xfrm>
            <a:off x="2148840" y="2706624"/>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Live sport is appointment content in a market where everything else is on-demand and substitutable.</a:t>
            </a:r>
            <a:endParaRPr lang="en-US" sz="1050" dirty="0"/>
          </a:p>
        </p:txBody>
      </p:sp>
      <p:sp>
        <p:nvSpPr>
          <p:cNvPr id="18" name="Text 15"/>
          <p:cNvSpPr/>
          <p:nvPr/>
        </p:nvSpPr>
        <p:spPr>
          <a:xfrm>
            <a:off x="740664" y="3108960"/>
            <a:ext cx="1371600" cy="347472"/>
          </a:xfrm>
          <a:prstGeom prst="rect">
            <a:avLst/>
          </a:prstGeom>
          <a:noFill/>
          <a:ln/>
        </p:spPr>
        <p:txBody>
          <a:bodyPr wrap="square" rtlCol="0" anchor="ctr"/>
          <a:lstStyle/>
          <a:p>
            <a:pPr marL="0" indent="0">
              <a:buNone/>
            </a:pPr>
            <a:r>
              <a:rPr lang="en-US" sz="850" b="1" kern="0" spc="80" dirty="0">
                <a:solidFill>
                  <a:srgbClr val="1565C0"/>
                </a:solidFill>
                <a:latin typeface="Calibri" pitchFamily="34" charset="0"/>
                <a:ea typeface="Calibri" pitchFamily="34" charset="-122"/>
                <a:cs typeface="Calibri" pitchFamily="34" charset="-120"/>
              </a:rPr>
              <a:t>BUSINESS IMPACT</a:t>
            </a:r>
            <a:endParaRPr lang="en-US" sz="850" dirty="0"/>
          </a:p>
        </p:txBody>
      </p:sp>
      <p:sp>
        <p:nvSpPr>
          <p:cNvPr id="19" name="Text 16"/>
          <p:cNvSpPr/>
          <p:nvPr/>
        </p:nvSpPr>
        <p:spPr>
          <a:xfrm>
            <a:off x="2148840" y="3108960"/>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A single rights loss removes ~2 in 5 viewing sessions. Concentration is our largest unhedged risk.</a:t>
            </a:r>
            <a:endParaRPr lang="en-US" sz="1050" dirty="0"/>
          </a:p>
        </p:txBody>
      </p:sp>
      <p:sp>
        <p:nvSpPr>
          <p:cNvPr id="20" name="Shape 17"/>
          <p:cNvSpPr/>
          <p:nvPr/>
        </p:nvSpPr>
        <p:spPr>
          <a:xfrm>
            <a:off x="6263640" y="1572768"/>
            <a:ext cx="5532120" cy="1965960"/>
          </a:xfrm>
          <a:prstGeom prst="roundRect">
            <a:avLst>
              <a:gd name="adj" fmla="val 27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1" name="Shape 18"/>
          <p:cNvSpPr/>
          <p:nvPr/>
        </p:nvSpPr>
        <p:spPr>
          <a:xfrm>
            <a:off x="6263640" y="1572768"/>
            <a:ext cx="5532120" cy="54864"/>
          </a:xfrm>
          <a:prstGeom prst="rect">
            <a:avLst/>
          </a:prstGeom>
          <a:solidFill>
            <a:srgbClr val="C9A227"/>
          </a:solidFill>
          <a:ln/>
        </p:spPr>
        <p:txBody>
          <a:bodyPr/>
          <a:lstStyle/>
          <a:p>
            <a:endParaRPr lang="en-ZA"/>
          </a:p>
        </p:txBody>
      </p:sp>
      <p:sp>
        <p:nvSpPr>
          <p:cNvPr id="22" name="Shape 19"/>
          <p:cNvSpPr/>
          <p:nvPr/>
        </p:nvSpPr>
        <p:spPr>
          <a:xfrm>
            <a:off x="6483096" y="1792224"/>
            <a:ext cx="457200" cy="457200"/>
          </a:xfrm>
          <a:prstGeom prst="ellipse">
            <a:avLst/>
          </a:prstGeom>
          <a:solidFill>
            <a:srgbClr val="C9A227"/>
          </a:solidFill>
          <a:ln/>
        </p:spPr>
        <p:txBody>
          <a:bodyPr/>
          <a:lstStyle/>
          <a:p>
            <a:endParaRPr lang="en-ZA"/>
          </a:p>
        </p:txBody>
      </p:sp>
      <p:sp>
        <p:nvSpPr>
          <p:cNvPr id="23" name="Text 20"/>
          <p:cNvSpPr/>
          <p:nvPr/>
        </p:nvSpPr>
        <p:spPr>
          <a:xfrm>
            <a:off x="6483096" y="1856232"/>
            <a:ext cx="457200" cy="310896"/>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02</a:t>
            </a:r>
            <a:endParaRPr lang="en-US" sz="1200" dirty="0"/>
          </a:p>
        </p:txBody>
      </p:sp>
      <p:sp>
        <p:nvSpPr>
          <p:cNvPr id="24" name="Text 21"/>
          <p:cNvSpPr/>
          <p:nvPr/>
        </p:nvSpPr>
        <p:spPr>
          <a:xfrm>
            <a:off x="7086600" y="1810512"/>
            <a:ext cx="4480560" cy="384048"/>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Engagement is shallow</a:t>
            </a:r>
            <a:endParaRPr lang="en-US" sz="1500" dirty="0"/>
          </a:p>
        </p:txBody>
      </p:sp>
      <p:sp>
        <p:nvSpPr>
          <p:cNvPr id="25" name="Text 22"/>
          <p:cNvSpPr/>
          <p:nvPr/>
        </p:nvSpPr>
        <p:spPr>
          <a:xfrm>
            <a:off x="6501384" y="2304288"/>
            <a:ext cx="1371600" cy="347472"/>
          </a:xfrm>
          <a:prstGeom prst="rect">
            <a:avLst/>
          </a:prstGeom>
          <a:noFill/>
          <a:ln/>
        </p:spPr>
        <p:txBody>
          <a:bodyPr wrap="square"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WHAT HAPPENED</a:t>
            </a:r>
            <a:endParaRPr lang="en-US" sz="850" dirty="0"/>
          </a:p>
        </p:txBody>
      </p:sp>
      <p:sp>
        <p:nvSpPr>
          <p:cNvPr id="26" name="Text 23"/>
          <p:cNvSpPr/>
          <p:nvPr/>
        </p:nvSpPr>
        <p:spPr>
          <a:xfrm>
            <a:off x="7909560" y="2304288"/>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Average session is 9.2 minutes and 69% of profiles sit in the No Usage screen-time bracket.</a:t>
            </a:r>
            <a:endParaRPr lang="en-US" sz="1050" dirty="0"/>
          </a:p>
        </p:txBody>
      </p:sp>
      <p:sp>
        <p:nvSpPr>
          <p:cNvPr id="27" name="Text 24"/>
          <p:cNvSpPr/>
          <p:nvPr/>
        </p:nvSpPr>
        <p:spPr>
          <a:xfrm>
            <a:off x="6501384" y="2706624"/>
            <a:ext cx="1371600" cy="347472"/>
          </a:xfrm>
          <a:prstGeom prst="rect">
            <a:avLst/>
          </a:prstGeom>
          <a:noFill/>
          <a:ln/>
        </p:spPr>
        <p:txBody>
          <a:bodyPr wrap="square"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WHY</a:t>
            </a:r>
            <a:endParaRPr lang="en-US" sz="850" dirty="0"/>
          </a:p>
        </p:txBody>
      </p:sp>
      <p:sp>
        <p:nvSpPr>
          <p:cNvPr id="28" name="Text 25"/>
          <p:cNvSpPr/>
          <p:nvPr/>
        </p:nvSpPr>
        <p:spPr>
          <a:xfrm>
            <a:off x="7909560" y="2706624"/>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Viewers sample rather than settle — discovery is weak and there is no next-title continuation.</a:t>
            </a:r>
            <a:endParaRPr lang="en-US" sz="1050" dirty="0"/>
          </a:p>
        </p:txBody>
      </p:sp>
      <p:sp>
        <p:nvSpPr>
          <p:cNvPr id="29" name="Text 26"/>
          <p:cNvSpPr/>
          <p:nvPr/>
        </p:nvSpPr>
        <p:spPr>
          <a:xfrm>
            <a:off x="6501384" y="3108960"/>
            <a:ext cx="1371600" cy="347472"/>
          </a:xfrm>
          <a:prstGeom prst="rect">
            <a:avLst/>
          </a:prstGeom>
          <a:noFill/>
          <a:ln/>
        </p:spPr>
        <p:txBody>
          <a:bodyPr wrap="square" rtlCol="0" anchor="ctr"/>
          <a:lstStyle/>
          <a:p>
            <a:pPr marL="0" indent="0">
              <a:buNone/>
            </a:pPr>
            <a:r>
              <a:rPr lang="en-US" sz="850" b="1" kern="0" spc="80" dirty="0">
                <a:solidFill>
                  <a:srgbClr val="C9A227"/>
                </a:solidFill>
                <a:latin typeface="Calibri" pitchFamily="34" charset="0"/>
                <a:ea typeface="Calibri" pitchFamily="34" charset="-122"/>
                <a:cs typeface="Calibri" pitchFamily="34" charset="-120"/>
              </a:rPr>
              <a:t>BUSINESS IMPACT</a:t>
            </a:r>
            <a:endParaRPr lang="en-US" sz="850" dirty="0"/>
          </a:p>
        </p:txBody>
      </p:sp>
      <p:sp>
        <p:nvSpPr>
          <p:cNvPr id="30" name="Text 27"/>
          <p:cNvSpPr/>
          <p:nvPr/>
        </p:nvSpPr>
        <p:spPr>
          <a:xfrm>
            <a:off x="7909560" y="3108960"/>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Low session depth suppresses ad inventory value and is the leading indicator of subscriber churn.</a:t>
            </a:r>
            <a:endParaRPr lang="en-US" sz="1050" dirty="0"/>
          </a:p>
        </p:txBody>
      </p:sp>
      <p:sp>
        <p:nvSpPr>
          <p:cNvPr id="31" name="Shape 28"/>
          <p:cNvSpPr/>
          <p:nvPr/>
        </p:nvSpPr>
        <p:spPr>
          <a:xfrm>
            <a:off x="502920" y="3730752"/>
            <a:ext cx="5532120" cy="1965960"/>
          </a:xfrm>
          <a:prstGeom prst="roundRect">
            <a:avLst>
              <a:gd name="adj" fmla="val 27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2" name="Shape 29"/>
          <p:cNvSpPr/>
          <p:nvPr/>
        </p:nvSpPr>
        <p:spPr>
          <a:xfrm>
            <a:off x="502920" y="3730752"/>
            <a:ext cx="5532120" cy="54864"/>
          </a:xfrm>
          <a:prstGeom prst="rect">
            <a:avLst/>
          </a:prstGeom>
          <a:solidFill>
            <a:srgbClr val="42A5F5"/>
          </a:solidFill>
          <a:ln/>
        </p:spPr>
        <p:txBody>
          <a:bodyPr/>
          <a:lstStyle/>
          <a:p>
            <a:endParaRPr lang="en-ZA"/>
          </a:p>
        </p:txBody>
      </p:sp>
      <p:sp>
        <p:nvSpPr>
          <p:cNvPr id="33" name="Shape 30"/>
          <p:cNvSpPr/>
          <p:nvPr/>
        </p:nvSpPr>
        <p:spPr>
          <a:xfrm>
            <a:off x="722376" y="3950208"/>
            <a:ext cx="457200" cy="457200"/>
          </a:xfrm>
          <a:prstGeom prst="ellipse">
            <a:avLst/>
          </a:prstGeom>
          <a:solidFill>
            <a:srgbClr val="42A5F5"/>
          </a:solidFill>
          <a:ln/>
        </p:spPr>
        <p:txBody>
          <a:bodyPr/>
          <a:lstStyle/>
          <a:p>
            <a:endParaRPr lang="en-ZA"/>
          </a:p>
        </p:txBody>
      </p:sp>
      <p:sp>
        <p:nvSpPr>
          <p:cNvPr id="34" name="Text 31"/>
          <p:cNvSpPr/>
          <p:nvPr/>
        </p:nvSpPr>
        <p:spPr>
          <a:xfrm>
            <a:off x="722376" y="4014216"/>
            <a:ext cx="457200" cy="310896"/>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03</a:t>
            </a:r>
            <a:endParaRPr lang="en-US" sz="1200" dirty="0"/>
          </a:p>
        </p:txBody>
      </p:sp>
      <p:sp>
        <p:nvSpPr>
          <p:cNvPr id="35" name="Text 32"/>
          <p:cNvSpPr/>
          <p:nvPr/>
        </p:nvSpPr>
        <p:spPr>
          <a:xfrm>
            <a:off x="1325880" y="3968496"/>
            <a:ext cx="4480560" cy="384048"/>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The audience is narrow</a:t>
            </a:r>
            <a:endParaRPr lang="en-US" sz="1500" dirty="0"/>
          </a:p>
        </p:txBody>
      </p:sp>
      <p:sp>
        <p:nvSpPr>
          <p:cNvPr id="36" name="Text 33"/>
          <p:cNvSpPr/>
          <p:nvPr/>
        </p:nvSpPr>
        <p:spPr>
          <a:xfrm>
            <a:off x="740664" y="4462272"/>
            <a:ext cx="1371600" cy="347472"/>
          </a:xfrm>
          <a:prstGeom prst="rect">
            <a:avLst/>
          </a:prstGeom>
          <a:noFill/>
          <a:ln/>
        </p:spPr>
        <p:txBody>
          <a:bodyPr wrap="square" rtlCol="0" anchor="ctr"/>
          <a:lstStyle/>
          <a:p>
            <a:pPr marL="0" indent="0">
              <a:buNone/>
            </a:pPr>
            <a:r>
              <a:rPr lang="en-US" sz="850" b="1" kern="0" spc="80" dirty="0">
                <a:solidFill>
                  <a:srgbClr val="42A5F5"/>
                </a:solidFill>
                <a:latin typeface="Calibri" pitchFamily="34" charset="0"/>
                <a:ea typeface="Calibri" pitchFamily="34" charset="-122"/>
                <a:cs typeface="Calibri" pitchFamily="34" charset="-120"/>
              </a:rPr>
              <a:t>WHAT HAPPENED</a:t>
            </a:r>
            <a:endParaRPr lang="en-US" sz="850" dirty="0"/>
          </a:p>
        </p:txBody>
      </p:sp>
      <p:sp>
        <p:nvSpPr>
          <p:cNvPr id="37" name="Text 34"/>
          <p:cNvSpPr/>
          <p:nvPr/>
        </p:nvSpPr>
        <p:spPr>
          <a:xfrm>
            <a:off x="2148840" y="4462272"/>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88% male, 41% Early Adults, 37% Gauteng. Women contribute under 10% of sessions.</a:t>
            </a:r>
            <a:endParaRPr lang="en-US" sz="1050" dirty="0"/>
          </a:p>
        </p:txBody>
      </p:sp>
      <p:sp>
        <p:nvSpPr>
          <p:cNvPr id="38" name="Text 35"/>
          <p:cNvSpPr/>
          <p:nvPr/>
        </p:nvSpPr>
        <p:spPr>
          <a:xfrm>
            <a:off x="740664" y="4864608"/>
            <a:ext cx="1371600" cy="347472"/>
          </a:xfrm>
          <a:prstGeom prst="rect">
            <a:avLst/>
          </a:prstGeom>
          <a:noFill/>
          <a:ln/>
        </p:spPr>
        <p:txBody>
          <a:bodyPr wrap="square" rtlCol="0" anchor="ctr"/>
          <a:lstStyle/>
          <a:p>
            <a:pPr marL="0" indent="0">
              <a:buNone/>
            </a:pPr>
            <a:r>
              <a:rPr lang="en-US" sz="850" b="1" kern="0" spc="80" dirty="0">
                <a:solidFill>
                  <a:srgbClr val="42A5F5"/>
                </a:solidFill>
                <a:latin typeface="Calibri" pitchFamily="34" charset="0"/>
                <a:ea typeface="Calibri" pitchFamily="34" charset="-122"/>
                <a:cs typeface="Calibri" pitchFamily="34" charset="-120"/>
              </a:rPr>
              <a:t>WHY</a:t>
            </a:r>
            <a:endParaRPr lang="en-US" sz="850" dirty="0"/>
          </a:p>
        </p:txBody>
      </p:sp>
      <p:sp>
        <p:nvSpPr>
          <p:cNvPr id="39" name="Text 36"/>
          <p:cNvSpPr/>
          <p:nvPr/>
        </p:nvSpPr>
        <p:spPr>
          <a:xfrm>
            <a:off x="2148840" y="4864608"/>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Content mix and marketing have optimised for the segment that already converts most easily.</a:t>
            </a:r>
            <a:endParaRPr lang="en-US" sz="1050" dirty="0"/>
          </a:p>
        </p:txBody>
      </p:sp>
      <p:sp>
        <p:nvSpPr>
          <p:cNvPr id="40" name="Text 37"/>
          <p:cNvSpPr/>
          <p:nvPr/>
        </p:nvSpPr>
        <p:spPr>
          <a:xfrm>
            <a:off x="740664" y="5266944"/>
            <a:ext cx="1371600" cy="347472"/>
          </a:xfrm>
          <a:prstGeom prst="rect">
            <a:avLst/>
          </a:prstGeom>
          <a:noFill/>
          <a:ln/>
        </p:spPr>
        <p:txBody>
          <a:bodyPr wrap="square" rtlCol="0" anchor="ctr"/>
          <a:lstStyle/>
          <a:p>
            <a:pPr marL="0" indent="0">
              <a:buNone/>
            </a:pPr>
            <a:r>
              <a:rPr lang="en-US" sz="850" b="1" kern="0" spc="80" dirty="0">
                <a:solidFill>
                  <a:srgbClr val="42A5F5"/>
                </a:solidFill>
                <a:latin typeface="Calibri" pitchFamily="34" charset="0"/>
                <a:ea typeface="Calibri" pitchFamily="34" charset="-122"/>
                <a:cs typeface="Calibri" pitchFamily="34" charset="-120"/>
              </a:rPr>
              <a:t>BUSINESS IMPACT</a:t>
            </a:r>
            <a:endParaRPr lang="en-US" sz="850" dirty="0"/>
          </a:p>
        </p:txBody>
      </p:sp>
      <p:sp>
        <p:nvSpPr>
          <p:cNvPr id="41" name="Text 38"/>
          <p:cNvSpPr/>
          <p:nvPr/>
        </p:nvSpPr>
        <p:spPr>
          <a:xfrm>
            <a:off x="2148840" y="5266944"/>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Three large underserved pools — women, under-20s and non-metro provinces — are growth headroom.</a:t>
            </a:r>
            <a:endParaRPr lang="en-US" sz="1050" dirty="0"/>
          </a:p>
        </p:txBody>
      </p:sp>
      <p:sp>
        <p:nvSpPr>
          <p:cNvPr id="42" name="Shape 39"/>
          <p:cNvSpPr/>
          <p:nvPr/>
        </p:nvSpPr>
        <p:spPr>
          <a:xfrm>
            <a:off x="6263640" y="3730752"/>
            <a:ext cx="5532120" cy="1965960"/>
          </a:xfrm>
          <a:prstGeom prst="roundRect">
            <a:avLst>
              <a:gd name="adj" fmla="val 2791"/>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43" name="Shape 40"/>
          <p:cNvSpPr/>
          <p:nvPr/>
        </p:nvSpPr>
        <p:spPr>
          <a:xfrm>
            <a:off x="6263640" y="3730752"/>
            <a:ext cx="5532120" cy="54864"/>
          </a:xfrm>
          <a:prstGeom prst="rect">
            <a:avLst/>
          </a:prstGeom>
          <a:solidFill>
            <a:srgbClr val="0B1F3A"/>
          </a:solidFill>
          <a:ln/>
        </p:spPr>
        <p:txBody>
          <a:bodyPr/>
          <a:lstStyle/>
          <a:p>
            <a:endParaRPr lang="en-ZA"/>
          </a:p>
        </p:txBody>
      </p:sp>
      <p:sp>
        <p:nvSpPr>
          <p:cNvPr id="44" name="Shape 41"/>
          <p:cNvSpPr/>
          <p:nvPr/>
        </p:nvSpPr>
        <p:spPr>
          <a:xfrm>
            <a:off x="6483096" y="3950208"/>
            <a:ext cx="457200" cy="457200"/>
          </a:xfrm>
          <a:prstGeom prst="ellipse">
            <a:avLst/>
          </a:prstGeom>
          <a:solidFill>
            <a:srgbClr val="0B1F3A"/>
          </a:solidFill>
          <a:ln/>
        </p:spPr>
        <p:txBody>
          <a:bodyPr/>
          <a:lstStyle/>
          <a:p>
            <a:endParaRPr lang="en-ZA"/>
          </a:p>
        </p:txBody>
      </p:sp>
      <p:sp>
        <p:nvSpPr>
          <p:cNvPr id="45" name="Text 42"/>
          <p:cNvSpPr/>
          <p:nvPr/>
        </p:nvSpPr>
        <p:spPr>
          <a:xfrm>
            <a:off x="6483096" y="4014216"/>
            <a:ext cx="457200" cy="310896"/>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04</a:t>
            </a:r>
            <a:endParaRPr lang="en-US" sz="1200" dirty="0"/>
          </a:p>
        </p:txBody>
      </p:sp>
      <p:sp>
        <p:nvSpPr>
          <p:cNvPr id="46" name="Text 43"/>
          <p:cNvSpPr/>
          <p:nvPr/>
        </p:nvSpPr>
        <p:spPr>
          <a:xfrm>
            <a:off x="7086600" y="3968496"/>
            <a:ext cx="4480560" cy="384048"/>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Demand is afternoon-shaped</a:t>
            </a:r>
            <a:endParaRPr lang="en-US" sz="1500" dirty="0"/>
          </a:p>
        </p:txBody>
      </p:sp>
      <p:sp>
        <p:nvSpPr>
          <p:cNvPr id="47" name="Text 44"/>
          <p:cNvSpPr/>
          <p:nvPr/>
        </p:nvSpPr>
        <p:spPr>
          <a:xfrm>
            <a:off x="6501384" y="4462272"/>
            <a:ext cx="1371600" cy="347472"/>
          </a:xfrm>
          <a:prstGeom prst="rect">
            <a:avLst/>
          </a:prstGeom>
          <a:noFill/>
          <a:ln/>
        </p:spPr>
        <p:txBody>
          <a:bodyPr wrap="square" rtlCol="0" anchor="ctr"/>
          <a:lstStyle/>
          <a:p>
            <a:pPr marL="0" indent="0">
              <a:buNone/>
            </a:pPr>
            <a:r>
              <a:rPr lang="en-US" sz="850" b="1" kern="0" spc="80" dirty="0">
                <a:solidFill>
                  <a:srgbClr val="0B1F3A"/>
                </a:solidFill>
                <a:latin typeface="Calibri" pitchFamily="34" charset="0"/>
                <a:ea typeface="Calibri" pitchFamily="34" charset="-122"/>
                <a:cs typeface="Calibri" pitchFamily="34" charset="-120"/>
              </a:rPr>
              <a:t>WHAT HAPPENED</a:t>
            </a:r>
            <a:endParaRPr lang="en-US" sz="850" dirty="0"/>
          </a:p>
        </p:txBody>
      </p:sp>
      <p:sp>
        <p:nvSpPr>
          <p:cNvPr id="48" name="Text 45"/>
          <p:cNvSpPr/>
          <p:nvPr/>
        </p:nvSpPr>
        <p:spPr>
          <a:xfrm>
            <a:off x="7909560" y="4462272"/>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Viewing peaks in the afternoon and holds to twilight; 69% of sessions are weekdays.</a:t>
            </a:r>
            <a:endParaRPr lang="en-US" sz="1050" dirty="0"/>
          </a:p>
        </p:txBody>
      </p:sp>
      <p:sp>
        <p:nvSpPr>
          <p:cNvPr id="49" name="Text 46"/>
          <p:cNvSpPr/>
          <p:nvPr/>
        </p:nvSpPr>
        <p:spPr>
          <a:xfrm>
            <a:off x="6501384" y="4864608"/>
            <a:ext cx="1371600" cy="347472"/>
          </a:xfrm>
          <a:prstGeom prst="rect">
            <a:avLst/>
          </a:prstGeom>
          <a:noFill/>
          <a:ln/>
        </p:spPr>
        <p:txBody>
          <a:bodyPr wrap="square" rtlCol="0" anchor="ctr"/>
          <a:lstStyle/>
          <a:p>
            <a:pPr marL="0" indent="0">
              <a:buNone/>
            </a:pPr>
            <a:r>
              <a:rPr lang="en-US" sz="850" b="1" kern="0" spc="80" dirty="0">
                <a:solidFill>
                  <a:srgbClr val="0B1F3A"/>
                </a:solidFill>
                <a:latin typeface="Calibri" pitchFamily="34" charset="0"/>
                <a:ea typeface="Calibri" pitchFamily="34" charset="-122"/>
                <a:cs typeface="Calibri" pitchFamily="34" charset="-120"/>
              </a:rPr>
              <a:t>WHY</a:t>
            </a:r>
            <a:endParaRPr lang="en-US" sz="850" dirty="0"/>
          </a:p>
        </p:txBody>
      </p:sp>
      <p:sp>
        <p:nvSpPr>
          <p:cNvPr id="50" name="Text 47"/>
          <p:cNvSpPr/>
          <p:nvPr/>
        </p:nvSpPr>
        <p:spPr>
          <a:xfrm>
            <a:off x="7909560" y="4864608"/>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Consumption follows daytime availability, not traditional evening prime-time assumptions.</a:t>
            </a:r>
            <a:endParaRPr lang="en-US" sz="1050" dirty="0"/>
          </a:p>
        </p:txBody>
      </p:sp>
      <p:sp>
        <p:nvSpPr>
          <p:cNvPr id="51" name="Text 48"/>
          <p:cNvSpPr/>
          <p:nvPr/>
        </p:nvSpPr>
        <p:spPr>
          <a:xfrm>
            <a:off x="6501384" y="5266944"/>
            <a:ext cx="1371600" cy="347472"/>
          </a:xfrm>
          <a:prstGeom prst="rect">
            <a:avLst/>
          </a:prstGeom>
          <a:noFill/>
          <a:ln/>
        </p:spPr>
        <p:txBody>
          <a:bodyPr wrap="square" rtlCol="0" anchor="ctr"/>
          <a:lstStyle/>
          <a:p>
            <a:pPr marL="0" indent="0">
              <a:buNone/>
            </a:pPr>
            <a:r>
              <a:rPr lang="en-US" sz="850" b="1" kern="0" spc="80" dirty="0">
                <a:solidFill>
                  <a:srgbClr val="0B1F3A"/>
                </a:solidFill>
                <a:latin typeface="Calibri" pitchFamily="34" charset="0"/>
                <a:ea typeface="Calibri" pitchFamily="34" charset="-122"/>
                <a:cs typeface="Calibri" pitchFamily="34" charset="-120"/>
              </a:rPr>
              <a:t>BUSINESS IMPACT</a:t>
            </a:r>
            <a:endParaRPr lang="en-US" sz="850" dirty="0"/>
          </a:p>
        </p:txBody>
      </p:sp>
      <p:sp>
        <p:nvSpPr>
          <p:cNvPr id="52" name="Text 49"/>
          <p:cNvSpPr/>
          <p:nvPr/>
        </p:nvSpPr>
        <p:spPr>
          <a:xfrm>
            <a:off x="7909560" y="5266944"/>
            <a:ext cx="3657600" cy="365760"/>
          </a:xfrm>
          <a:prstGeom prst="rect">
            <a:avLst/>
          </a:prstGeom>
          <a:noFill/>
          <a:ln/>
        </p:spPr>
        <p:txBody>
          <a:bodyPr wrap="square" rtlCol="0" anchor="ctr"/>
          <a:lstStyle/>
          <a:p>
            <a:pPr marL="0" indent="0">
              <a:lnSpc>
                <a:spcPts val="1300"/>
              </a:lnSpc>
              <a:buNone/>
            </a:pPr>
            <a:r>
              <a:rPr lang="en-US" sz="1050" dirty="0">
                <a:solidFill>
                  <a:srgbClr val="44566E"/>
                </a:solidFill>
                <a:latin typeface="Calibri" pitchFamily="34" charset="0"/>
                <a:ea typeface="Calibri" pitchFamily="34" charset="-122"/>
                <a:cs typeface="Calibri" pitchFamily="34" charset="-120"/>
              </a:rPr>
              <a:t>Scheduling and campaign send-times aligned to the 10:00–19:00 plateau lift reach at zero media cost.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17</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Recommendations</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16</a:t>
            </a:r>
            <a:endParaRPr lang="en-US" sz="900" dirty="0"/>
          </a:p>
        </p:txBody>
      </p:sp>
      <p:sp>
        <p:nvSpPr>
          <p:cNvPr id="9" name="Shape 6"/>
          <p:cNvSpPr/>
          <p:nvPr/>
        </p:nvSpPr>
        <p:spPr>
          <a:xfrm>
            <a:off x="502920" y="1572768"/>
            <a:ext cx="3566160" cy="384048"/>
          </a:xfrm>
          <a:prstGeom prst="roundRect">
            <a:avLst>
              <a:gd name="adj" fmla="val 11905"/>
            </a:avLst>
          </a:prstGeom>
          <a:solidFill>
            <a:srgbClr val="1565C0"/>
          </a:solidFill>
          <a:ln/>
        </p:spPr>
        <p:txBody>
          <a:bodyPr/>
          <a:lstStyle/>
          <a:p>
            <a:endParaRPr lang="en-ZA"/>
          </a:p>
        </p:txBody>
      </p:sp>
      <p:sp>
        <p:nvSpPr>
          <p:cNvPr id="10" name="Text 7"/>
          <p:cNvSpPr/>
          <p:nvPr/>
        </p:nvSpPr>
        <p:spPr>
          <a:xfrm>
            <a:off x="640080" y="1572768"/>
            <a:ext cx="3291840" cy="384048"/>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HIGH IMPACT  ·  THIS QUARTER</a:t>
            </a:r>
            <a:endParaRPr lang="en-US" sz="1000" dirty="0"/>
          </a:p>
        </p:txBody>
      </p:sp>
      <p:sp>
        <p:nvSpPr>
          <p:cNvPr id="11" name="Shape 8"/>
          <p:cNvSpPr/>
          <p:nvPr/>
        </p:nvSpPr>
        <p:spPr>
          <a:xfrm>
            <a:off x="4279392" y="1572768"/>
            <a:ext cx="3566160" cy="384048"/>
          </a:xfrm>
          <a:prstGeom prst="roundRect">
            <a:avLst>
              <a:gd name="adj" fmla="val 11905"/>
            </a:avLst>
          </a:prstGeom>
          <a:solidFill>
            <a:srgbClr val="C9A227"/>
          </a:solidFill>
          <a:ln/>
        </p:spPr>
        <p:txBody>
          <a:bodyPr/>
          <a:lstStyle/>
          <a:p>
            <a:endParaRPr lang="en-ZA"/>
          </a:p>
        </p:txBody>
      </p:sp>
      <p:sp>
        <p:nvSpPr>
          <p:cNvPr id="12" name="Text 9"/>
          <p:cNvSpPr/>
          <p:nvPr/>
        </p:nvSpPr>
        <p:spPr>
          <a:xfrm>
            <a:off x="4416552" y="1572768"/>
            <a:ext cx="3291840" cy="384048"/>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MEDIUM IMPACT  ·  NEXT QUARTER</a:t>
            </a:r>
            <a:endParaRPr lang="en-US" sz="1000" dirty="0"/>
          </a:p>
        </p:txBody>
      </p:sp>
      <p:sp>
        <p:nvSpPr>
          <p:cNvPr id="13" name="Shape 10"/>
          <p:cNvSpPr/>
          <p:nvPr/>
        </p:nvSpPr>
        <p:spPr>
          <a:xfrm>
            <a:off x="8055864" y="1572768"/>
            <a:ext cx="3566160" cy="384048"/>
          </a:xfrm>
          <a:prstGeom prst="roundRect">
            <a:avLst>
              <a:gd name="adj" fmla="val 11905"/>
            </a:avLst>
          </a:prstGeom>
          <a:solidFill>
            <a:srgbClr val="0B1F3A"/>
          </a:solidFill>
          <a:ln/>
        </p:spPr>
        <p:txBody>
          <a:bodyPr/>
          <a:lstStyle/>
          <a:p>
            <a:endParaRPr lang="en-ZA"/>
          </a:p>
        </p:txBody>
      </p:sp>
      <p:sp>
        <p:nvSpPr>
          <p:cNvPr id="14" name="Text 11"/>
          <p:cNvSpPr/>
          <p:nvPr/>
        </p:nvSpPr>
        <p:spPr>
          <a:xfrm>
            <a:off x="8193024" y="1572768"/>
            <a:ext cx="3291840" cy="384048"/>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FUTURE OPPORTUNITY  ·  FY27</a:t>
            </a:r>
            <a:endParaRPr lang="en-US" sz="1000" dirty="0"/>
          </a:p>
        </p:txBody>
      </p:sp>
      <p:sp>
        <p:nvSpPr>
          <p:cNvPr id="15" name="Shape 12"/>
          <p:cNvSpPr/>
          <p:nvPr/>
        </p:nvSpPr>
        <p:spPr>
          <a:xfrm>
            <a:off x="502920" y="2121408"/>
            <a:ext cx="3566160" cy="1737360"/>
          </a:xfrm>
          <a:prstGeom prst="roundRect">
            <a:avLst>
              <a:gd name="adj" fmla="val 3158"/>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6" name="Text 13"/>
          <p:cNvSpPr/>
          <p:nvPr/>
        </p:nvSpPr>
        <p:spPr>
          <a:xfrm>
            <a:off x="722376" y="2304288"/>
            <a:ext cx="3154680" cy="502920"/>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Sport-anchored retention play</a:t>
            </a:r>
            <a:endParaRPr lang="en-US" sz="1400" dirty="0"/>
          </a:p>
        </p:txBody>
      </p:sp>
      <p:sp>
        <p:nvSpPr>
          <p:cNvPr id="17" name="Text 14"/>
          <p:cNvSpPr/>
          <p:nvPr/>
        </p:nvSpPr>
        <p:spPr>
          <a:xfrm>
            <a:off x="722376" y="2807208"/>
            <a:ext cx="3154680" cy="731520"/>
          </a:xfrm>
          <a:prstGeom prst="rect">
            <a:avLst/>
          </a:prstGeom>
          <a:noFill/>
          <a:ln/>
        </p:spPr>
        <p:txBody>
          <a:bodyPr wrap="square" rtlCol="0" anchor="ctr"/>
          <a:lstStyle/>
          <a:p>
            <a:pPr marL="0" indent="0">
              <a:lnSpc>
                <a:spcPts val="1450"/>
              </a:lnSpc>
              <a:buNone/>
            </a:pPr>
            <a:r>
              <a:rPr lang="en-US" sz="1100" dirty="0">
                <a:solidFill>
                  <a:srgbClr val="53657D"/>
                </a:solidFill>
                <a:latin typeface="Calibri" pitchFamily="34" charset="0"/>
                <a:ea typeface="Calibri" pitchFamily="34" charset="-122"/>
                <a:cs typeface="Calibri" pitchFamily="34" charset="-120"/>
              </a:rPr>
              <a:t>Sequence high-retention titles (MK, SawSee, Africa Magic) into post-match rails to convert the 41% sport audience into multi-genre viewers.</a:t>
            </a:r>
            <a:endParaRPr lang="en-US" sz="1100" dirty="0"/>
          </a:p>
        </p:txBody>
      </p:sp>
      <p:sp>
        <p:nvSpPr>
          <p:cNvPr id="18" name="Text 15"/>
          <p:cNvSpPr/>
          <p:nvPr/>
        </p:nvSpPr>
        <p:spPr>
          <a:xfrm>
            <a:off x="722376" y="3493008"/>
            <a:ext cx="3154680" cy="201168"/>
          </a:xfrm>
          <a:prstGeom prst="rect">
            <a:avLst/>
          </a:prstGeom>
          <a:noFill/>
          <a:ln/>
        </p:spPr>
        <p:txBody>
          <a:bodyPr wrap="square" rtlCol="0" anchor="ctr"/>
          <a:lstStyle/>
          <a:p>
            <a:pPr marL="0" indent="0">
              <a:buNone/>
            </a:pPr>
            <a:r>
              <a:rPr lang="en-US" sz="950" dirty="0">
                <a:solidFill>
                  <a:srgbClr val="5B6B80"/>
                </a:solidFill>
                <a:latin typeface="Calibri" pitchFamily="34" charset="0"/>
                <a:ea typeface="Calibri" pitchFamily="34" charset="-122"/>
                <a:cs typeface="Calibri" pitchFamily="34" charset="-120"/>
              </a:rPr>
              <a:t>Owner: Content &amp; CVM</a:t>
            </a:r>
            <a:endParaRPr lang="en-US" sz="950" dirty="0"/>
          </a:p>
        </p:txBody>
      </p:sp>
      <p:sp>
        <p:nvSpPr>
          <p:cNvPr id="19" name="Text 16"/>
          <p:cNvSpPr/>
          <p:nvPr/>
        </p:nvSpPr>
        <p:spPr>
          <a:xfrm>
            <a:off x="722376" y="3639312"/>
            <a:ext cx="3154680" cy="201168"/>
          </a:xfrm>
          <a:prstGeom prst="rect">
            <a:avLst/>
          </a:prstGeom>
          <a:noFill/>
          <a:ln/>
        </p:spPr>
        <p:txBody>
          <a:bodyPr wrap="square" rtlCol="0" anchor="ctr"/>
          <a:lstStyle/>
          <a:p>
            <a:pPr marL="0" indent="0">
              <a:buNone/>
            </a:pPr>
            <a:r>
              <a:rPr lang="en-US" sz="950" b="1" dirty="0">
                <a:solidFill>
                  <a:srgbClr val="1565C0"/>
                </a:solidFill>
                <a:latin typeface="Calibri" pitchFamily="34" charset="0"/>
                <a:ea typeface="Calibri" pitchFamily="34" charset="-122"/>
                <a:cs typeface="Calibri" pitchFamily="34" charset="-120"/>
              </a:rPr>
              <a:t>Metric: avg session 9.2 → 12 min</a:t>
            </a:r>
            <a:endParaRPr lang="en-US" sz="950" dirty="0"/>
          </a:p>
        </p:txBody>
      </p:sp>
      <p:sp>
        <p:nvSpPr>
          <p:cNvPr id="20" name="Shape 17"/>
          <p:cNvSpPr/>
          <p:nvPr/>
        </p:nvSpPr>
        <p:spPr>
          <a:xfrm>
            <a:off x="502920" y="3995928"/>
            <a:ext cx="3566160" cy="1737360"/>
          </a:xfrm>
          <a:prstGeom prst="roundRect">
            <a:avLst>
              <a:gd name="adj" fmla="val 3158"/>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1" name="Text 18"/>
          <p:cNvSpPr/>
          <p:nvPr/>
        </p:nvSpPr>
        <p:spPr>
          <a:xfrm>
            <a:off x="722376" y="4178808"/>
            <a:ext cx="3154680" cy="502920"/>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Afternoon-first scheduling</a:t>
            </a:r>
            <a:endParaRPr lang="en-US" sz="1400" dirty="0"/>
          </a:p>
        </p:txBody>
      </p:sp>
      <p:sp>
        <p:nvSpPr>
          <p:cNvPr id="22" name="Text 19"/>
          <p:cNvSpPr/>
          <p:nvPr/>
        </p:nvSpPr>
        <p:spPr>
          <a:xfrm>
            <a:off x="722376" y="4681728"/>
            <a:ext cx="3154680" cy="731520"/>
          </a:xfrm>
          <a:prstGeom prst="rect">
            <a:avLst/>
          </a:prstGeom>
          <a:noFill/>
          <a:ln/>
        </p:spPr>
        <p:txBody>
          <a:bodyPr wrap="square" rtlCol="0" anchor="ctr"/>
          <a:lstStyle/>
          <a:p>
            <a:pPr marL="0" indent="0">
              <a:lnSpc>
                <a:spcPts val="1450"/>
              </a:lnSpc>
              <a:buNone/>
            </a:pPr>
            <a:r>
              <a:rPr lang="en-US" sz="1100" dirty="0">
                <a:solidFill>
                  <a:srgbClr val="53657D"/>
                </a:solidFill>
                <a:latin typeface="Calibri" pitchFamily="34" charset="0"/>
                <a:ea typeface="Calibri" pitchFamily="34" charset="-122"/>
                <a:cs typeface="Calibri" pitchFamily="34" charset="-120"/>
              </a:rPr>
              <a:t>Re-weight premieres and campaign send-times to the 10:00–19:00 demand plateau and Saturday peak.</a:t>
            </a:r>
            <a:endParaRPr lang="en-US" sz="1100" dirty="0"/>
          </a:p>
        </p:txBody>
      </p:sp>
      <p:sp>
        <p:nvSpPr>
          <p:cNvPr id="23" name="Text 20"/>
          <p:cNvSpPr/>
          <p:nvPr/>
        </p:nvSpPr>
        <p:spPr>
          <a:xfrm>
            <a:off x="722376" y="5367528"/>
            <a:ext cx="3154680" cy="201168"/>
          </a:xfrm>
          <a:prstGeom prst="rect">
            <a:avLst/>
          </a:prstGeom>
          <a:noFill/>
          <a:ln/>
        </p:spPr>
        <p:txBody>
          <a:bodyPr wrap="square" rtlCol="0" anchor="ctr"/>
          <a:lstStyle/>
          <a:p>
            <a:pPr marL="0" indent="0">
              <a:buNone/>
            </a:pPr>
            <a:r>
              <a:rPr lang="en-US" sz="950" dirty="0">
                <a:solidFill>
                  <a:srgbClr val="5B6B80"/>
                </a:solidFill>
                <a:latin typeface="Calibri" pitchFamily="34" charset="0"/>
                <a:ea typeface="Calibri" pitchFamily="34" charset="-122"/>
                <a:cs typeface="Calibri" pitchFamily="34" charset="-120"/>
              </a:rPr>
              <a:t>Owner: Scheduling &amp; Marketing</a:t>
            </a:r>
            <a:endParaRPr lang="en-US" sz="950" dirty="0"/>
          </a:p>
        </p:txBody>
      </p:sp>
      <p:sp>
        <p:nvSpPr>
          <p:cNvPr id="24" name="Text 21"/>
          <p:cNvSpPr/>
          <p:nvPr/>
        </p:nvSpPr>
        <p:spPr>
          <a:xfrm>
            <a:off x="722376" y="5513832"/>
            <a:ext cx="3154680" cy="201168"/>
          </a:xfrm>
          <a:prstGeom prst="rect">
            <a:avLst/>
          </a:prstGeom>
          <a:noFill/>
          <a:ln/>
        </p:spPr>
        <p:txBody>
          <a:bodyPr wrap="square" rtlCol="0" anchor="ctr"/>
          <a:lstStyle/>
          <a:p>
            <a:pPr marL="0" indent="0">
              <a:buNone/>
            </a:pPr>
            <a:r>
              <a:rPr lang="en-US" sz="950" b="1" dirty="0">
                <a:solidFill>
                  <a:srgbClr val="1565C0"/>
                </a:solidFill>
                <a:latin typeface="Calibri" pitchFamily="34" charset="0"/>
                <a:ea typeface="Calibri" pitchFamily="34" charset="-122"/>
                <a:cs typeface="Calibri" pitchFamily="34" charset="-120"/>
              </a:rPr>
              <a:t>Metric: +15% weekday reach</a:t>
            </a:r>
            <a:endParaRPr lang="en-US" sz="950" dirty="0"/>
          </a:p>
        </p:txBody>
      </p:sp>
      <p:sp>
        <p:nvSpPr>
          <p:cNvPr id="25" name="Shape 22"/>
          <p:cNvSpPr/>
          <p:nvPr/>
        </p:nvSpPr>
        <p:spPr>
          <a:xfrm>
            <a:off x="4279392" y="2121408"/>
            <a:ext cx="3566160" cy="1737360"/>
          </a:xfrm>
          <a:prstGeom prst="roundRect">
            <a:avLst>
              <a:gd name="adj" fmla="val 3158"/>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6" name="Text 23"/>
          <p:cNvSpPr/>
          <p:nvPr/>
        </p:nvSpPr>
        <p:spPr>
          <a:xfrm>
            <a:off x="4498848" y="2304288"/>
            <a:ext cx="3154680" cy="502920"/>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Underserved audience acquisition</a:t>
            </a:r>
            <a:endParaRPr lang="en-US" sz="1400" dirty="0"/>
          </a:p>
        </p:txBody>
      </p:sp>
      <p:sp>
        <p:nvSpPr>
          <p:cNvPr id="27" name="Text 24"/>
          <p:cNvSpPr/>
          <p:nvPr/>
        </p:nvSpPr>
        <p:spPr>
          <a:xfrm>
            <a:off x="4498848" y="2807208"/>
            <a:ext cx="3154680" cy="731520"/>
          </a:xfrm>
          <a:prstGeom prst="rect">
            <a:avLst/>
          </a:prstGeom>
          <a:noFill/>
          <a:ln/>
        </p:spPr>
        <p:txBody>
          <a:bodyPr wrap="square" rtlCol="0" anchor="ctr"/>
          <a:lstStyle/>
          <a:p>
            <a:pPr marL="0" indent="0">
              <a:lnSpc>
                <a:spcPts val="1450"/>
              </a:lnSpc>
              <a:buNone/>
            </a:pPr>
            <a:r>
              <a:rPr lang="en-US" sz="1100" dirty="0">
                <a:solidFill>
                  <a:srgbClr val="53657D"/>
                </a:solidFill>
                <a:latin typeface="Calibri" pitchFamily="34" charset="0"/>
                <a:ea typeface="Calibri" pitchFamily="34" charset="-122"/>
                <a:cs typeface="Calibri" pitchFamily="34" charset="-120"/>
              </a:rPr>
              <a:t>Targeted acquisition for women (9.8% of viewing) and under-20s (5.4%) with a dedicated content slate and creative.</a:t>
            </a:r>
            <a:endParaRPr lang="en-US" sz="1100" dirty="0"/>
          </a:p>
        </p:txBody>
      </p:sp>
      <p:sp>
        <p:nvSpPr>
          <p:cNvPr id="28" name="Text 25"/>
          <p:cNvSpPr/>
          <p:nvPr/>
        </p:nvSpPr>
        <p:spPr>
          <a:xfrm>
            <a:off x="4498848" y="3493008"/>
            <a:ext cx="3154680" cy="201168"/>
          </a:xfrm>
          <a:prstGeom prst="rect">
            <a:avLst/>
          </a:prstGeom>
          <a:noFill/>
          <a:ln/>
        </p:spPr>
        <p:txBody>
          <a:bodyPr wrap="square" rtlCol="0" anchor="ctr"/>
          <a:lstStyle/>
          <a:p>
            <a:pPr marL="0" indent="0">
              <a:buNone/>
            </a:pPr>
            <a:r>
              <a:rPr lang="en-US" sz="950" dirty="0">
                <a:solidFill>
                  <a:srgbClr val="5B6B80"/>
                </a:solidFill>
                <a:latin typeface="Calibri" pitchFamily="34" charset="0"/>
                <a:ea typeface="Calibri" pitchFamily="34" charset="-122"/>
                <a:cs typeface="Calibri" pitchFamily="34" charset="-120"/>
              </a:rPr>
              <a:t>Owner: Marketing &amp; CVM</a:t>
            </a:r>
            <a:endParaRPr lang="en-US" sz="950" dirty="0"/>
          </a:p>
        </p:txBody>
      </p:sp>
      <p:sp>
        <p:nvSpPr>
          <p:cNvPr id="29" name="Text 26"/>
          <p:cNvSpPr/>
          <p:nvPr/>
        </p:nvSpPr>
        <p:spPr>
          <a:xfrm>
            <a:off x="4498848" y="3639312"/>
            <a:ext cx="3154680" cy="201168"/>
          </a:xfrm>
          <a:prstGeom prst="rect">
            <a:avLst/>
          </a:prstGeom>
          <a:noFill/>
          <a:ln/>
        </p:spPr>
        <p:txBody>
          <a:bodyPr wrap="square" rtlCol="0" anchor="ctr"/>
          <a:lstStyle/>
          <a:p>
            <a:pPr marL="0" indent="0">
              <a:buNone/>
            </a:pPr>
            <a:r>
              <a:rPr lang="en-US" sz="950" b="1" dirty="0">
                <a:solidFill>
                  <a:srgbClr val="C9A227"/>
                </a:solidFill>
                <a:latin typeface="Calibri" pitchFamily="34" charset="0"/>
                <a:ea typeface="Calibri" pitchFamily="34" charset="-122"/>
                <a:cs typeface="Calibri" pitchFamily="34" charset="-120"/>
              </a:rPr>
              <a:t>Metric: female share 9.8% → 18%</a:t>
            </a:r>
            <a:endParaRPr lang="en-US" sz="950" dirty="0"/>
          </a:p>
        </p:txBody>
      </p:sp>
      <p:sp>
        <p:nvSpPr>
          <p:cNvPr id="30" name="Shape 27"/>
          <p:cNvSpPr/>
          <p:nvPr/>
        </p:nvSpPr>
        <p:spPr>
          <a:xfrm>
            <a:off x="8055864" y="2121408"/>
            <a:ext cx="3566160" cy="1737360"/>
          </a:xfrm>
          <a:prstGeom prst="roundRect">
            <a:avLst>
              <a:gd name="adj" fmla="val 3158"/>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31" name="Text 28"/>
          <p:cNvSpPr/>
          <p:nvPr/>
        </p:nvSpPr>
        <p:spPr>
          <a:xfrm>
            <a:off x="8275320" y="2304288"/>
            <a:ext cx="3154680" cy="502920"/>
          </a:xfrm>
          <a:prstGeom prst="rect">
            <a:avLst/>
          </a:prstGeom>
          <a:noFill/>
          <a:ln/>
        </p:spPr>
        <p:txBody>
          <a:bodyPr wrap="square" rtlCol="0" anchor="ctr"/>
          <a:lstStyle/>
          <a:p>
            <a:pPr marL="0" indent="0">
              <a:buNone/>
            </a:pPr>
            <a:r>
              <a:rPr lang="en-US" sz="1400" b="1" dirty="0">
                <a:solidFill>
                  <a:srgbClr val="0B1F3A"/>
                </a:solidFill>
                <a:latin typeface="Trebuchet MS" pitchFamily="34" charset="0"/>
                <a:ea typeface="Trebuchet MS" pitchFamily="34" charset="-122"/>
                <a:cs typeface="Trebuchet MS" pitchFamily="34" charset="-120"/>
              </a:rPr>
              <a:t>Predictive engagement engine</a:t>
            </a:r>
            <a:endParaRPr lang="en-US" sz="1400" dirty="0"/>
          </a:p>
        </p:txBody>
      </p:sp>
      <p:sp>
        <p:nvSpPr>
          <p:cNvPr id="32" name="Text 29"/>
          <p:cNvSpPr/>
          <p:nvPr/>
        </p:nvSpPr>
        <p:spPr>
          <a:xfrm>
            <a:off x="8275320" y="2807208"/>
            <a:ext cx="3154680" cy="731520"/>
          </a:xfrm>
          <a:prstGeom prst="rect">
            <a:avLst/>
          </a:prstGeom>
          <a:noFill/>
          <a:ln/>
        </p:spPr>
        <p:txBody>
          <a:bodyPr wrap="square" rtlCol="0" anchor="ctr"/>
          <a:lstStyle/>
          <a:p>
            <a:pPr marL="0" indent="0">
              <a:lnSpc>
                <a:spcPts val="1450"/>
              </a:lnSpc>
              <a:buNone/>
            </a:pPr>
            <a:r>
              <a:rPr lang="en-US" sz="1100" dirty="0">
                <a:solidFill>
                  <a:srgbClr val="53657D"/>
                </a:solidFill>
                <a:latin typeface="Calibri" pitchFamily="34" charset="0"/>
                <a:ea typeface="Calibri" pitchFamily="34" charset="-122"/>
                <a:cs typeface="Calibri" pitchFamily="34" charset="-120"/>
              </a:rPr>
              <a:t>Churn propensity and next-best-title models feeding a personalised recommendation rail across the estate.</a:t>
            </a:r>
            <a:endParaRPr lang="en-US" sz="1100" dirty="0"/>
          </a:p>
        </p:txBody>
      </p:sp>
      <p:sp>
        <p:nvSpPr>
          <p:cNvPr id="33" name="Text 30"/>
          <p:cNvSpPr/>
          <p:nvPr/>
        </p:nvSpPr>
        <p:spPr>
          <a:xfrm>
            <a:off x="8275320" y="3493008"/>
            <a:ext cx="3154680" cy="201168"/>
          </a:xfrm>
          <a:prstGeom prst="rect">
            <a:avLst/>
          </a:prstGeom>
          <a:noFill/>
          <a:ln/>
        </p:spPr>
        <p:txBody>
          <a:bodyPr wrap="square" rtlCol="0" anchor="ctr"/>
          <a:lstStyle/>
          <a:p>
            <a:pPr marL="0" indent="0">
              <a:buNone/>
            </a:pPr>
            <a:r>
              <a:rPr lang="en-US" sz="950" dirty="0">
                <a:solidFill>
                  <a:srgbClr val="5B6B80"/>
                </a:solidFill>
                <a:latin typeface="Calibri" pitchFamily="34" charset="0"/>
                <a:ea typeface="Calibri" pitchFamily="34" charset="-122"/>
                <a:cs typeface="Calibri" pitchFamily="34" charset="-120"/>
              </a:rPr>
              <a:t>Owner: Data &amp; Engineering</a:t>
            </a:r>
            <a:endParaRPr lang="en-US" sz="950" dirty="0"/>
          </a:p>
        </p:txBody>
      </p:sp>
      <p:sp>
        <p:nvSpPr>
          <p:cNvPr id="34" name="Text 31"/>
          <p:cNvSpPr/>
          <p:nvPr/>
        </p:nvSpPr>
        <p:spPr>
          <a:xfrm>
            <a:off x="8275320" y="3639312"/>
            <a:ext cx="3154680" cy="201168"/>
          </a:xfrm>
          <a:prstGeom prst="rect">
            <a:avLst/>
          </a:prstGeom>
          <a:noFill/>
          <a:ln/>
        </p:spPr>
        <p:txBody>
          <a:bodyPr wrap="square" rtlCol="0" anchor="ctr"/>
          <a:lstStyle/>
          <a:p>
            <a:pPr marL="0" indent="0">
              <a:buNone/>
            </a:pPr>
            <a:r>
              <a:rPr lang="en-US" sz="950" b="1" dirty="0">
                <a:solidFill>
                  <a:srgbClr val="0B1F3A"/>
                </a:solidFill>
                <a:latin typeface="Calibri" pitchFamily="34" charset="0"/>
                <a:ea typeface="Calibri" pitchFamily="34" charset="-122"/>
                <a:cs typeface="Calibri" pitchFamily="34" charset="-120"/>
              </a:rPr>
              <a:t>Metric: churn model AUC &gt; 0.75</a:t>
            </a:r>
            <a:endParaRPr lang="en-US" sz="950" dirty="0"/>
          </a:p>
        </p:txBody>
      </p:sp>
      <p:sp>
        <p:nvSpPr>
          <p:cNvPr id="35" name="Shape 32"/>
          <p:cNvSpPr/>
          <p:nvPr/>
        </p:nvSpPr>
        <p:spPr>
          <a:xfrm>
            <a:off x="502920" y="5870448"/>
            <a:ext cx="11155680" cy="457200"/>
          </a:xfrm>
          <a:prstGeom prst="roundRect">
            <a:avLst>
              <a:gd name="adj" fmla="val 10000"/>
            </a:avLst>
          </a:prstGeom>
          <a:solidFill>
            <a:srgbClr val="F4F6FA"/>
          </a:solidFill>
          <a:ln w="12700">
            <a:solidFill>
              <a:srgbClr val="DDE3EC"/>
            </a:solidFill>
            <a:prstDash val="solid"/>
          </a:ln>
        </p:spPr>
        <p:txBody>
          <a:bodyPr/>
          <a:lstStyle/>
          <a:p>
            <a:endParaRPr lang="en-ZA"/>
          </a:p>
        </p:txBody>
      </p:sp>
      <p:sp>
        <p:nvSpPr>
          <p:cNvPr id="36" name="Text 33"/>
          <p:cNvSpPr/>
          <p:nvPr/>
        </p:nvSpPr>
        <p:spPr>
          <a:xfrm>
            <a:off x="777240" y="5870448"/>
            <a:ext cx="10607040" cy="457200"/>
          </a:xfrm>
          <a:prstGeom prst="rect">
            <a:avLst/>
          </a:prstGeom>
          <a:noFill/>
          <a:ln/>
        </p:spPr>
        <p:txBody>
          <a:bodyPr wrap="square"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Decision requested today:  </a:t>
            </a:r>
            <a:r>
              <a:rPr lang="en-US" sz="1250" dirty="0">
                <a:solidFill>
                  <a:srgbClr val="44566E"/>
                </a:solidFill>
                <a:latin typeface="Calibri" pitchFamily="34" charset="0"/>
                <a:ea typeface="Calibri" pitchFamily="34" charset="-122"/>
                <a:cs typeface="Calibri" pitchFamily="34" charset="-120"/>
              </a:rPr>
              <a:t>approve the two high-impact plays for immediate execution and mandate a FY27 business case for the predictive engine.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18</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Future Roadmap</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17</a:t>
            </a:r>
            <a:endParaRPr lang="en-US" sz="900" dirty="0"/>
          </a:p>
        </p:txBody>
      </p:sp>
      <p:sp>
        <p:nvSpPr>
          <p:cNvPr id="9" name="Shape 6"/>
          <p:cNvSpPr/>
          <p:nvPr/>
        </p:nvSpPr>
        <p:spPr>
          <a:xfrm>
            <a:off x="1280160" y="3063240"/>
            <a:ext cx="9601200" cy="27432"/>
          </a:xfrm>
          <a:prstGeom prst="rect">
            <a:avLst/>
          </a:prstGeom>
          <a:solidFill>
            <a:srgbClr val="DDE3EC"/>
          </a:solidFill>
          <a:ln/>
        </p:spPr>
        <p:txBody>
          <a:bodyPr/>
          <a:lstStyle/>
          <a:p>
            <a:endParaRPr lang="en-ZA"/>
          </a:p>
        </p:txBody>
      </p:sp>
      <p:sp>
        <p:nvSpPr>
          <p:cNvPr id="10" name="Shape 7"/>
          <p:cNvSpPr/>
          <p:nvPr/>
        </p:nvSpPr>
        <p:spPr>
          <a:xfrm>
            <a:off x="2231136" y="2916936"/>
            <a:ext cx="310896" cy="310896"/>
          </a:xfrm>
          <a:prstGeom prst="ellipse">
            <a:avLst/>
          </a:prstGeom>
          <a:solidFill>
            <a:srgbClr val="1565C0"/>
          </a:solidFill>
          <a:ln/>
        </p:spPr>
        <p:txBody>
          <a:bodyPr/>
          <a:lstStyle/>
          <a:p>
            <a:endParaRPr lang="en-ZA"/>
          </a:p>
        </p:txBody>
      </p:sp>
      <p:sp>
        <p:nvSpPr>
          <p:cNvPr id="11" name="Text 8"/>
          <p:cNvSpPr/>
          <p:nvPr/>
        </p:nvSpPr>
        <p:spPr>
          <a:xfrm>
            <a:off x="640080" y="1691640"/>
            <a:ext cx="3474720" cy="256032"/>
          </a:xfrm>
          <a:prstGeom prst="rect">
            <a:avLst/>
          </a:prstGeom>
          <a:noFill/>
          <a:ln/>
        </p:spPr>
        <p:txBody>
          <a:bodyPr wrap="square" rtlCol="0" anchor="ctr"/>
          <a:lstStyle/>
          <a:p>
            <a:pPr marL="0" indent="0" algn="ctr">
              <a:buNone/>
            </a:pPr>
            <a:r>
              <a:rPr lang="en-US" sz="1000" b="1" kern="0" spc="150" dirty="0">
                <a:solidFill>
                  <a:srgbClr val="1565C0"/>
                </a:solidFill>
                <a:latin typeface="Calibri" pitchFamily="34" charset="0"/>
                <a:ea typeface="Calibri" pitchFamily="34" charset="-122"/>
                <a:cs typeface="Calibri" pitchFamily="34" charset="-120"/>
              </a:rPr>
              <a:t>HORIZON 1</a:t>
            </a:r>
            <a:endParaRPr lang="en-US" sz="1000" dirty="0"/>
          </a:p>
        </p:txBody>
      </p:sp>
      <p:sp>
        <p:nvSpPr>
          <p:cNvPr id="12" name="Text 9"/>
          <p:cNvSpPr/>
          <p:nvPr/>
        </p:nvSpPr>
        <p:spPr>
          <a:xfrm>
            <a:off x="640080" y="1965960"/>
            <a:ext cx="3474720" cy="274320"/>
          </a:xfrm>
          <a:prstGeom prst="rect">
            <a:avLst/>
          </a:prstGeom>
          <a:noFill/>
          <a:ln/>
        </p:spPr>
        <p:txBody>
          <a:bodyPr wrap="square" rtlCol="0" anchor="ctr"/>
          <a:lstStyle/>
          <a:p>
            <a:pPr marL="0" indent="0" algn="ctr">
              <a:buNone/>
            </a:pPr>
            <a:r>
              <a:rPr lang="en-US" sz="1200" dirty="0">
                <a:solidFill>
                  <a:srgbClr val="5B6B80"/>
                </a:solidFill>
                <a:latin typeface="Calibri" pitchFamily="34" charset="0"/>
                <a:ea typeface="Calibri" pitchFamily="34" charset="-122"/>
                <a:cs typeface="Calibri" pitchFamily="34" charset="-120"/>
              </a:rPr>
              <a:t>Now</a:t>
            </a:r>
            <a:endParaRPr lang="en-US" sz="1200" dirty="0"/>
          </a:p>
        </p:txBody>
      </p:sp>
      <p:sp>
        <p:nvSpPr>
          <p:cNvPr id="13" name="Text 10"/>
          <p:cNvSpPr/>
          <p:nvPr/>
        </p:nvSpPr>
        <p:spPr>
          <a:xfrm>
            <a:off x="640080" y="2286000"/>
            <a:ext cx="3474720" cy="548640"/>
          </a:xfrm>
          <a:prstGeom prst="rect">
            <a:avLst/>
          </a:prstGeom>
          <a:noFill/>
          <a:ln/>
        </p:spPr>
        <p:txBody>
          <a:bodyPr wrap="square" rtlCol="0" anchor="ctr"/>
          <a:lstStyle/>
          <a:p>
            <a:pPr marL="0" indent="0" algn="ctr">
              <a:buNone/>
            </a:pPr>
            <a:r>
              <a:rPr lang="en-US" sz="1700" b="1" dirty="0">
                <a:solidFill>
                  <a:srgbClr val="0B1F3A"/>
                </a:solidFill>
                <a:latin typeface="Trebuchet MS" pitchFamily="34" charset="0"/>
                <a:ea typeface="Trebuchet MS" pitchFamily="34" charset="-122"/>
                <a:cs typeface="Trebuchet MS" pitchFamily="34" charset="-120"/>
              </a:rPr>
              <a:t>Descriptive analytics</a:t>
            </a:r>
            <a:endParaRPr lang="en-US" sz="1700" dirty="0"/>
          </a:p>
        </p:txBody>
      </p:sp>
      <p:sp>
        <p:nvSpPr>
          <p:cNvPr id="14" name="Shape 11"/>
          <p:cNvSpPr/>
          <p:nvPr/>
        </p:nvSpPr>
        <p:spPr>
          <a:xfrm>
            <a:off x="640080" y="3429000"/>
            <a:ext cx="3474720" cy="2194560"/>
          </a:xfrm>
          <a:prstGeom prst="roundRect">
            <a:avLst>
              <a:gd name="adj" fmla="val 25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5" name="Shape 12"/>
          <p:cNvSpPr/>
          <p:nvPr/>
        </p:nvSpPr>
        <p:spPr>
          <a:xfrm>
            <a:off x="640080" y="3429000"/>
            <a:ext cx="3474720" cy="54864"/>
          </a:xfrm>
          <a:prstGeom prst="rect">
            <a:avLst/>
          </a:prstGeom>
          <a:solidFill>
            <a:srgbClr val="1565C0"/>
          </a:solidFill>
          <a:ln/>
        </p:spPr>
        <p:txBody>
          <a:bodyPr/>
          <a:lstStyle/>
          <a:p>
            <a:endParaRPr lang="en-ZA"/>
          </a:p>
        </p:txBody>
      </p:sp>
      <p:sp>
        <p:nvSpPr>
          <p:cNvPr id="16" name="Text 13"/>
          <p:cNvSpPr/>
          <p:nvPr/>
        </p:nvSpPr>
        <p:spPr>
          <a:xfrm>
            <a:off x="896112" y="3639312"/>
            <a:ext cx="2971800" cy="146304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Certified analytical dataset</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Four executive dashboards</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Monthly reporting rhythm</a:t>
            </a:r>
            <a:endParaRPr lang="en-US" sz="1200" dirty="0"/>
          </a:p>
        </p:txBody>
      </p:sp>
      <p:sp>
        <p:nvSpPr>
          <p:cNvPr id="17" name="Shape 14"/>
          <p:cNvSpPr/>
          <p:nvPr/>
        </p:nvSpPr>
        <p:spPr>
          <a:xfrm>
            <a:off x="6025896" y="2916936"/>
            <a:ext cx="310896" cy="310896"/>
          </a:xfrm>
          <a:prstGeom prst="ellipse">
            <a:avLst/>
          </a:prstGeom>
          <a:solidFill>
            <a:srgbClr val="42A5F5"/>
          </a:solidFill>
          <a:ln/>
        </p:spPr>
        <p:txBody>
          <a:bodyPr/>
          <a:lstStyle/>
          <a:p>
            <a:endParaRPr lang="en-ZA"/>
          </a:p>
        </p:txBody>
      </p:sp>
      <p:sp>
        <p:nvSpPr>
          <p:cNvPr id="18" name="Text 15"/>
          <p:cNvSpPr/>
          <p:nvPr/>
        </p:nvSpPr>
        <p:spPr>
          <a:xfrm>
            <a:off x="4434840" y="1691640"/>
            <a:ext cx="3474720" cy="256032"/>
          </a:xfrm>
          <a:prstGeom prst="rect">
            <a:avLst/>
          </a:prstGeom>
          <a:noFill/>
          <a:ln/>
        </p:spPr>
        <p:txBody>
          <a:bodyPr wrap="square" rtlCol="0" anchor="ctr"/>
          <a:lstStyle/>
          <a:p>
            <a:pPr marL="0" indent="0" algn="ctr">
              <a:buNone/>
            </a:pPr>
            <a:r>
              <a:rPr lang="en-US" sz="1000" b="1" kern="0" spc="150" dirty="0">
                <a:solidFill>
                  <a:srgbClr val="42A5F5"/>
                </a:solidFill>
                <a:latin typeface="Calibri" pitchFamily="34" charset="0"/>
                <a:ea typeface="Calibri" pitchFamily="34" charset="-122"/>
                <a:cs typeface="Calibri" pitchFamily="34" charset="-120"/>
              </a:rPr>
              <a:t>HORIZON 2</a:t>
            </a:r>
            <a:endParaRPr lang="en-US" sz="1000" dirty="0"/>
          </a:p>
        </p:txBody>
      </p:sp>
      <p:sp>
        <p:nvSpPr>
          <p:cNvPr id="19" name="Text 16"/>
          <p:cNvSpPr/>
          <p:nvPr/>
        </p:nvSpPr>
        <p:spPr>
          <a:xfrm>
            <a:off x="4434840" y="1965960"/>
            <a:ext cx="3474720" cy="274320"/>
          </a:xfrm>
          <a:prstGeom prst="rect">
            <a:avLst/>
          </a:prstGeom>
          <a:noFill/>
          <a:ln/>
        </p:spPr>
        <p:txBody>
          <a:bodyPr wrap="square" rtlCol="0" anchor="ctr"/>
          <a:lstStyle/>
          <a:p>
            <a:pPr marL="0" indent="0" algn="ctr">
              <a:buNone/>
            </a:pPr>
            <a:r>
              <a:rPr lang="en-US" sz="1200" dirty="0">
                <a:solidFill>
                  <a:srgbClr val="5B6B80"/>
                </a:solidFill>
                <a:latin typeface="Calibri" pitchFamily="34" charset="0"/>
                <a:ea typeface="Calibri" pitchFamily="34" charset="-122"/>
                <a:cs typeface="Calibri" pitchFamily="34" charset="-120"/>
              </a:rPr>
              <a:t>6–12 months</a:t>
            </a:r>
            <a:endParaRPr lang="en-US" sz="1200" dirty="0"/>
          </a:p>
        </p:txBody>
      </p:sp>
      <p:sp>
        <p:nvSpPr>
          <p:cNvPr id="20" name="Text 17"/>
          <p:cNvSpPr/>
          <p:nvPr/>
        </p:nvSpPr>
        <p:spPr>
          <a:xfrm>
            <a:off x="4434840" y="2286000"/>
            <a:ext cx="3474720" cy="548640"/>
          </a:xfrm>
          <a:prstGeom prst="rect">
            <a:avLst/>
          </a:prstGeom>
          <a:noFill/>
          <a:ln/>
        </p:spPr>
        <p:txBody>
          <a:bodyPr wrap="square" rtlCol="0" anchor="ctr"/>
          <a:lstStyle/>
          <a:p>
            <a:pPr marL="0" indent="0" algn="ctr">
              <a:buNone/>
            </a:pPr>
            <a:r>
              <a:rPr lang="en-US" sz="1700" b="1" dirty="0">
                <a:solidFill>
                  <a:srgbClr val="0B1F3A"/>
                </a:solidFill>
                <a:latin typeface="Trebuchet MS" pitchFamily="34" charset="0"/>
                <a:ea typeface="Trebuchet MS" pitchFamily="34" charset="-122"/>
                <a:cs typeface="Trebuchet MS" pitchFamily="34" charset="-120"/>
              </a:rPr>
              <a:t>Predictive analytics</a:t>
            </a:r>
            <a:endParaRPr lang="en-US" sz="1700" dirty="0"/>
          </a:p>
        </p:txBody>
      </p:sp>
      <p:sp>
        <p:nvSpPr>
          <p:cNvPr id="21" name="Shape 18"/>
          <p:cNvSpPr/>
          <p:nvPr/>
        </p:nvSpPr>
        <p:spPr>
          <a:xfrm>
            <a:off x="4434840" y="3429000"/>
            <a:ext cx="3474720" cy="2194560"/>
          </a:xfrm>
          <a:prstGeom prst="roundRect">
            <a:avLst>
              <a:gd name="adj" fmla="val 25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2" name="Shape 19"/>
          <p:cNvSpPr/>
          <p:nvPr/>
        </p:nvSpPr>
        <p:spPr>
          <a:xfrm>
            <a:off x="4434840" y="3429000"/>
            <a:ext cx="3474720" cy="54864"/>
          </a:xfrm>
          <a:prstGeom prst="rect">
            <a:avLst/>
          </a:prstGeom>
          <a:solidFill>
            <a:srgbClr val="42A5F5"/>
          </a:solidFill>
          <a:ln/>
        </p:spPr>
        <p:txBody>
          <a:bodyPr/>
          <a:lstStyle/>
          <a:p>
            <a:endParaRPr lang="en-ZA"/>
          </a:p>
        </p:txBody>
      </p:sp>
      <p:sp>
        <p:nvSpPr>
          <p:cNvPr id="23" name="Text 20"/>
          <p:cNvSpPr/>
          <p:nvPr/>
        </p:nvSpPr>
        <p:spPr>
          <a:xfrm>
            <a:off x="4690872" y="3639312"/>
            <a:ext cx="2971800" cy="146304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Churn propensity modelling</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Engagement forecasting</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Segment-level demand models</a:t>
            </a:r>
            <a:endParaRPr lang="en-US" sz="1200" dirty="0"/>
          </a:p>
        </p:txBody>
      </p:sp>
      <p:sp>
        <p:nvSpPr>
          <p:cNvPr id="24" name="Shape 21"/>
          <p:cNvSpPr/>
          <p:nvPr/>
        </p:nvSpPr>
        <p:spPr>
          <a:xfrm>
            <a:off x="9820656" y="2916936"/>
            <a:ext cx="310896" cy="310896"/>
          </a:xfrm>
          <a:prstGeom prst="ellipse">
            <a:avLst/>
          </a:prstGeom>
          <a:solidFill>
            <a:srgbClr val="C9A227"/>
          </a:solidFill>
          <a:ln/>
        </p:spPr>
        <p:txBody>
          <a:bodyPr/>
          <a:lstStyle/>
          <a:p>
            <a:endParaRPr lang="en-ZA"/>
          </a:p>
        </p:txBody>
      </p:sp>
      <p:sp>
        <p:nvSpPr>
          <p:cNvPr id="25" name="Text 22"/>
          <p:cNvSpPr/>
          <p:nvPr/>
        </p:nvSpPr>
        <p:spPr>
          <a:xfrm>
            <a:off x="8229600" y="1691640"/>
            <a:ext cx="3474720" cy="256032"/>
          </a:xfrm>
          <a:prstGeom prst="rect">
            <a:avLst/>
          </a:prstGeom>
          <a:noFill/>
          <a:ln/>
        </p:spPr>
        <p:txBody>
          <a:bodyPr wrap="square" rtlCol="0" anchor="ctr"/>
          <a:lstStyle/>
          <a:p>
            <a:pPr marL="0" indent="0" algn="ctr">
              <a:buNone/>
            </a:pPr>
            <a:r>
              <a:rPr lang="en-US" sz="1000" b="1" kern="0" spc="150" dirty="0">
                <a:solidFill>
                  <a:srgbClr val="C9A227"/>
                </a:solidFill>
                <a:latin typeface="Calibri" pitchFamily="34" charset="0"/>
                <a:ea typeface="Calibri" pitchFamily="34" charset="-122"/>
                <a:cs typeface="Calibri" pitchFamily="34" charset="-120"/>
              </a:rPr>
              <a:t>HORIZON 3</a:t>
            </a:r>
            <a:endParaRPr lang="en-US" sz="1000" dirty="0"/>
          </a:p>
        </p:txBody>
      </p:sp>
      <p:sp>
        <p:nvSpPr>
          <p:cNvPr id="26" name="Text 23"/>
          <p:cNvSpPr/>
          <p:nvPr/>
        </p:nvSpPr>
        <p:spPr>
          <a:xfrm>
            <a:off x="8229600" y="1965960"/>
            <a:ext cx="3474720" cy="274320"/>
          </a:xfrm>
          <a:prstGeom prst="rect">
            <a:avLst/>
          </a:prstGeom>
          <a:noFill/>
          <a:ln/>
        </p:spPr>
        <p:txBody>
          <a:bodyPr wrap="square" rtlCol="0" anchor="ctr"/>
          <a:lstStyle/>
          <a:p>
            <a:pPr marL="0" indent="0" algn="ctr">
              <a:buNone/>
            </a:pPr>
            <a:r>
              <a:rPr lang="en-US" sz="1200" dirty="0">
                <a:solidFill>
                  <a:srgbClr val="5B6B80"/>
                </a:solidFill>
                <a:latin typeface="Calibri" pitchFamily="34" charset="0"/>
                <a:ea typeface="Calibri" pitchFamily="34" charset="-122"/>
                <a:cs typeface="Calibri" pitchFamily="34" charset="-120"/>
              </a:rPr>
              <a:t>12–24 months</a:t>
            </a:r>
            <a:endParaRPr lang="en-US" sz="1200" dirty="0"/>
          </a:p>
        </p:txBody>
      </p:sp>
      <p:sp>
        <p:nvSpPr>
          <p:cNvPr id="27" name="Text 24"/>
          <p:cNvSpPr/>
          <p:nvPr/>
        </p:nvSpPr>
        <p:spPr>
          <a:xfrm>
            <a:off x="8229600" y="2286000"/>
            <a:ext cx="3474720" cy="548640"/>
          </a:xfrm>
          <a:prstGeom prst="rect">
            <a:avLst/>
          </a:prstGeom>
          <a:noFill/>
          <a:ln/>
        </p:spPr>
        <p:txBody>
          <a:bodyPr wrap="square" rtlCol="0" anchor="ctr"/>
          <a:lstStyle/>
          <a:p>
            <a:pPr marL="0" indent="0" algn="ctr">
              <a:buNone/>
            </a:pPr>
            <a:r>
              <a:rPr lang="en-US" sz="1700" b="1" dirty="0">
                <a:solidFill>
                  <a:srgbClr val="0B1F3A"/>
                </a:solidFill>
                <a:latin typeface="Trebuchet MS" pitchFamily="34" charset="0"/>
                <a:ea typeface="Trebuchet MS" pitchFamily="34" charset="-122"/>
                <a:cs typeface="Trebuchet MS" pitchFamily="34" charset="-120"/>
              </a:rPr>
              <a:t>Intelligent platform</a:t>
            </a:r>
            <a:endParaRPr lang="en-US" sz="1700" dirty="0"/>
          </a:p>
        </p:txBody>
      </p:sp>
      <p:sp>
        <p:nvSpPr>
          <p:cNvPr id="28" name="Shape 25"/>
          <p:cNvSpPr/>
          <p:nvPr/>
        </p:nvSpPr>
        <p:spPr>
          <a:xfrm>
            <a:off x="8229600" y="3429000"/>
            <a:ext cx="3474720" cy="2194560"/>
          </a:xfrm>
          <a:prstGeom prst="roundRect">
            <a:avLst>
              <a:gd name="adj" fmla="val 2500"/>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9" name="Shape 26"/>
          <p:cNvSpPr/>
          <p:nvPr/>
        </p:nvSpPr>
        <p:spPr>
          <a:xfrm>
            <a:off x="8229600" y="3429000"/>
            <a:ext cx="3474720" cy="54864"/>
          </a:xfrm>
          <a:prstGeom prst="rect">
            <a:avLst/>
          </a:prstGeom>
          <a:solidFill>
            <a:srgbClr val="C9A227"/>
          </a:solidFill>
          <a:ln/>
        </p:spPr>
        <p:txBody>
          <a:bodyPr/>
          <a:lstStyle/>
          <a:p>
            <a:endParaRPr lang="en-ZA"/>
          </a:p>
        </p:txBody>
      </p:sp>
      <p:sp>
        <p:nvSpPr>
          <p:cNvPr id="30" name="Text 27"/>
          <p:cNvSpPr/>
          <p:nvPr/>
        </p:nvSpPr>
        <p:spPr>
          <a:xfrm>
            <a:off x="8485632" y="3639312"/>
            <a:ext cx="2971800" cy="1463040"/>
          </a:xfrm>
          <a:prstGeom prst="rect">
            <a:avLst/>
          </a:prstGeom>
          <a:noFill/>
          <a:ln/>
        </p:spPr>
        <p:txBody>
          <a:bodyPr wrap="square" rtlCol="0" anchor="ctr"/>
          <a:lstStyle/>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Recommendation engine</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Machine learning in production</a:t>
            </a:r>
            <a:endParaRPr lang="en-US" sz="1200" dirty="0"/>
          </a:p>
          <a:p>
            <a:pPr marL="342900" indent="-342900">
              <a:lnSpc>
                <a:spcPts val="1620"/>
              </a:lnSpc>
              <a:spcAft>
                <a:spcPts val="800"/>
              </a:spcAft>
              <a:buSzPct val="100000"/>
              <a:buChar char="▪"/>
            </a:pPr>
            <a:r>
              <a:rPr lang="en-US" sz="1200" dirty="0">
                <a:solidFill>
                  <a:srgbClr val="2B3B52"/>
                </a:solidFill>
                <a:latin typeface="Calibri" pitchFamily="34" charset="0"/>
                <a:ea typeface="Calibri" pitchFamily="34" charset="-122"/>
                <a:cs typeface="Calibri" pitchFamily="34" charset="-120"/>
              </a:rPr>
              <a:t>Azure cloud + real-time dashboards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19</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Project Achievements</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18</a:t>
            </a:r>
            <a:endParaRPr lang="en-US" sz="900" dirty="0"/>
          </a:p>
        </p:txBody>
      </p:sp>
      <p:sp>
        <p:nvSpPr>
          <p:cNvPr id="9" name="Shape 6"/>
          <p:cNvSpPr/>
          <p:nvPr/>
        </p:nvSpPr>
        <p:spPr>
          <a:xfrm>
            <a:off x="502920" y="164592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45920"/>
            <a:ext cx="3566160" cy="54864"/>
          </a:xfrm>
          <a:prstGeom prst="rect">
            <a:avLst/>
          </a:prstGeom>
          <a:solidFill>
            <a:srgbClr val="1565C0"/>
          </a:solidFill>
          <a:ln/>
        </p:spPr>
        <p:txBody>
          <a:bodyPr/>
          <a:lstStyle/>
          <a:p>
            <a:endParaRPr lang="en-ZA"/>
          </a:p>
        </p:txBody>
      </p:sp>
      <p:sp>
        <p:nvSpPr>
          <p:cNvPr id="11" name="Text 8"/>
          <p:cNvSpPr/>
          <p:nvPr/>
        </p:nvSpPr>
        <p:spPr>
          <a:xfrm>
            <a:off x="740664" y="1920240"/>
            <a:ext cx="3108960" cy="457200"/>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Business Skills</a:t>
            </a:r>
            <a:endParaRPr lang="en-US" sz="1500" dirty="0"/>
          </a:p>
        </p:txBody>
      </p:sp>
      <p:sp>
        <p:nvSpPr>
          <p:cNvPr id="12" name="Text 9"/>
          <p:cNvSpPr/>
          <p:nvPr/>
        </p:nvSpPr>
        <p:spPr>
          <a:xfrm>
            <a:off x="740664" y="2468880"/>
            <a:ext cx="3108960" cy="914400"/>
          </a:xfrm>
          <a:prstGeom prst="rect">
            <a:avLst/>
          </a:prstGeom>
          <a:noFill/>
          <a:ln/>
        </p:spPr>
        <p:txBody>
          <a:bodyPr wrap="square" rtlCol="0" anchor="ctr"/>
          <a:lstStyle/>
          <a:p>
            <a:pPr marL="0" indent="0">
              <a:lnSpc>
                <a:spcPts val="1550"/>
              </a:lnSpc>
              <a:buNone/>
            </a:pPr>
            <a:r>
              <a:rPr lang="en-US" sz="1150" dirty="0">
                <a:solidFill>
                  <a:srgbClr val="53657D"/>
                </a:solidFill>
                <a:latin typeface="Calibri" pitchFamily="34" charset="0"/>
                <a:ea typeface="Calibri" pitchFamily="34" charset="-122"/>
                <a:cs typeface="Calibri" pitchFamily="34" charset="-120"/>
              </a:rPr>
              <a:t>Translated a CEO growth mandate into measurable analytical questions and costed, owner-assigned recommendations.</a:t>
            </a:r>
            <a:endParaRPr lang="en-US" sz="1150" dirty="0"/>
          </a:p>
        </p:txBody>
      </p:sp>
      <p:sp>
        <p:nvSpPr>
          <p:cNvPr id="13" name="Shape 10"/>
          <p:cNvSpPr/>
          <p:nvPr/>
        </p:nvSpPr>
        <p:spPr>
          <a:xfrm>
            <a:off x="4279392" y="164592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4" name="Shape 11"/>
          <p:cNvSpPr/>
          <p:nvPr/>
        </p:nvSpPr>
        <p:spPr>
          <a:xfrm>
            <a:off x="4279392" y="1645920"/>
            <a:ext cx="3566160" cy="54864"/>
          </a:xfrm>
          <a:prstGeom prst="rect">
            <a:avLst/>
          </a:prstGeom>
          <a:solidFill>
            <a:srgbClr val="42A5F5"/>
          </a:solidFill>
          <a:ln/>
        </p:spPr>
        <p:txBody>
          <a:bodyPr/>
          <a:lstStyle/>
          <a:p>
            <a:endParaRPr lang="en-ZA"/>
          </a:p>
        </p:txBody>
      </p:sp>
      <p:sp>
        <p:nvSpPr>
          <p:cNvPr id="15" name="Text 12"/>
          <p:cNvSpPr/>
          <p:nvPr/>
        </p:nvSpPr>
        <p:spPr>
          <a:xfrm>
            <a:off x="4517136" y="1920240"/>
            <a:ext cx="3108960" cy="457200"/>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Technical Skills</a:t>
            </a:r>
            <a:endParaRPr lang="en-US" sz="1500" dirty="0"/>
          </a:p>
        </p:txBody>
      </p:sp>
      <p:sp>
        <p:nvSpPr>
          <p:cNvPr id="16" name="Text 13"/>
          <p:cNvSpPr/>
          <p:nvPr/>
        </p:nvSpPr>
        <p:spPr>
          <a:xfrm>
            <a:off x="4517136" y="2468880"/>
            <a:ext cx="3108960" cy="914400"/>
          </a:xfrm>
          <a:prstGeom prst="rect">
            <a:avLst/>
          </a:prstGeom>
          <a:noFill/>
          <a:ln/>
        </p:spPr>
        <p:txBody>
          <a:bodyPr wrap="square" rtlCol="0" anchor="ctr"/>
          <a:lstStyle/>
          <a:p>
            <a:pPr marL="0" indent="0">
              <a:lnSpc>
                <a:spcPts val="1550"/>
              </a:lnSpc>
              <a:buNone/>
            </a:pPr>
            <a:r>
              <a:rPr lang="en-US" sz="1150" dirty="0">
                <a:solidFill>
                  <a:srgbClr val="53657D"/>
                </a:solidFill>
                <a:latin typeface="Calibri" pitchFamily="34" charset="0"/>
                <a:ea typeface="Calibri" pitchFamily="34" charset="-122"/>
                <a:cs typeface="Calibri" pitchFamily="34" charset="-120"/>
              </a:rPr>
              <a:t>SQL engineering across 9,980 records — cleaning, joins, aggregation and 14 engineered attributes.</a:t>
            </a:r>
            <a:endParaRPr lang="en-US" sz="1150" dirty="0"/>
          </a:p>
        </p:txBody>
      </p:sp>
      <p:sp>
        <p:nvSpPr>
          <p:cNvPr id="17" name="Shape 14"/>
          <p:cNvSpPr/>
          <p:nvPr/>
        </p:nvSpPr>
        <p:spPr>
          <a:xfrm>
            <a:off x="8055864" y="164592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8" name="Shape 15"/>
          <p:cNvSpPr/>
          <p:nvPr/>
        </p:nvSpPr>
        <p:spPr>
          <a:xfrm>
            <a:off x="8055864" y="1645920"/>
            <a:ext cx="3566160" cy="54864"/>
          </a:xfrm>
          <a:prstGeom prst="rect">
            <a:avLst/>
          </a:prstGeom>
          <a:solidFill>
            <a:srgbClr val="1565C0"/>
          </a:solidFill>
          <a:ln/>
        </p:spPr>
        <p:txBody>
          <a:bodyPr/>
          <a:lstStyle/>
          <a:p>
            <a:endParaRPr lang="en-ZA"/>
          </a:p>
        </p:txBody>
      </p:sp>
      <p:sp>
        <p:nvSpPr>
          <p:cNvPr id="19" name="Text 16"/>
          <p:cNvSpPr/>
          <p:nvPr/>
        </p:nvSpPr>
        <p:spPr>
          <a:xfrm>
            <a:off x="8293608" y="1920240"/>
            <a:ext cx="3108960" cy="457200"/>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Dashboard Development</a:t>
            </a:r>
            <a:endParaRPr lang="en-US" sz="1500" dirty="0"/>
          </a:p>
        </p:txBody>
      </p:sp>
      <p:sp>
        <p:nvSpPr>
          <p:cNvPr id="20" name="Text 17"/>
          <p:cNvSpPr/>
          <p:nvPr/>
        </p:nvSpPr>
        <p:spPr>
          <a:xfrm>
            <a:off x="8293608" y="2468880"/>
            <a:ext cx="3108960" cy="914400"/>
          </a:xfrm>
          <a:prstGeom prst="rect">
            <a:avLst/>
          </a:prstGeom>
          <a:noFill/>
          <a:ln/>
        </p:spPr>
        <p:txBody>
          <a:bodyPr wrap="square" rtlCol="0" anchor="ctr"/>
          <a:lstStyle/>
          <a:p>
            <a:pPr marL="0" indent="0">
              <a:lnSpc>
                <a:spcPts val="1550"/>
              </a:lnSpc>
              <a:buNone/>
            </a:pPr>
            <a:r>
              <a:rPr lang="en-US" sz="1150" dirty="0">
                <a:solidFill>
                  <a:srgbClr val="53657D"/>
                </a:solidFill>
                <a:latin typeface="Calibri" pitchFamily="34" charset="0"/>
                <a:ea typeface="Calibri" pitchFamily="34" charset="-122"/>
                <a:cs typeface="Calibri" pitchFamily="34" charset="-120"/>
              </a:rPr>
              <a:t>Four production dashboards: Excel, Power BI, Looker Studio and a live interactive web application.</a:t>
            </a:r>
            <a:endParaRPr lang="en-US" sz="1150" dirty="0"/>
          </a:p>
        </p:txBody>
      </p:sp>
      <p:sp>
        <p:nvSpPr>
          <p:cNvPr id="21" name="Shape 18"/>
          <p:cNvSpPr/>
          <p:nvPr/>
        </p:nvSpPr>
        <p:spPr>
          <a:xfrm>
            <a:off x="502920" y="37490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2" name="Shape 19"/>
          <p:cNvSpPr/>
          <p:nvPr/>
        </p:nvSpPr>
        <p:spPr>
          <a:xfrm>
            <a:off x="502920" y="3749040"/>
            <a:ext cx="3566160" cy="54864"/>
          </a:xfrm>
          <a:prstGeom prst="rect">
            <a:avLst/>
          </a:prstGeom>
          <a:solidFill>
            <a:srgbClr val="C9A227"/>
          </a:solidFill>
          <a:ln/>
        </p:spPr>
        <p:txBody>
          <a:bodyPr/>
          <a:lstStyle/>
          <a:p>
            <a:endParaRPr lang="en-ZA"/>
          </a:p>
        </p:txBody>
      </p:sp>
      <p:sp>
        <p:nvSpPr>
          <p:cNvPr id="23" name="Text 20"/>
          <p:cNvSpPr/>
          <p:nvPr/>
        </p:nvSpPr>
        <p:spPr>
          <a:xfrm>
            <a:off x="740664" y="4023360"/>
            <a:ext cx="3108960" cy="457200"/>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SQL Engineering</a:t>
            </a:r>
            <a:endParaRPr lang="en-US" sz="1500" dirty="0"/>
          </a:p>
        </p:txBody>
      </p:sp>
      <p:sp>
        <p:nvSpPr>
          <p:cNvPr id="24" name="Text 21"/>
          <p:cNvSpPr/>
          <p:nvPr/>
        </p:nvSpPr>
        <p:spPr>
          <a:xfrm>
            <a:off x="740664" y="4572000"/>
            <a:ext cx="3108960" cy="914400"/>
          </a:xfrm>
          <a:prstGeom prst="rect">
            <a:avLst/>
          </a:prstGeom>
          <a:noFill/>
          <a:ln/>
        </p:spPr>
        <p:txBody>
          <a:bodyPr wrap="square" rtlCol="0" anchor="ctr"/>
          <a:lstStyle/>
          <a:p>
            <a:pPr marL="0" indent="0">
              <a:lnSpc>
                <a:spcPts val="1550"/>
              </a:lnSpc>
              <a:buNone/>
            </a:pPr>
            <a:r>
              <a:rPr lang="en-US" sz="1150" dirty="0">
                <a:solidFill>
                  <a:srgbClr val="53657D"/>
                </a:solidFill>
                <a:latin typeface="Calibri" pitchFamily="34" charset="0"/>
                <a:ea typeface="Calibri" pitchFamily="34" charset="-122"/>
                <a:cs typeface="Calibri" pitchFamily="34" charset="-120"/>
              </a:rPr>
              <a:t>A reproducible, version-controlled transformation layer producing one certified analytical dataset.</a:t>
            </a:r>
            <a:endParaRPr lang="en-US" sz="1150" dirty="0"/>
          </a:p>
        </p:txBody>
      </p:sp>
      <p:sp>
        <p:nvSpPr>
          <p:cNvPr id="25" name="Shape 22"/>
          <p:cNvSpPr/>
          <p:nvPr/>
        </p:nvSpPr>
        <p:spPr>
          <a:xfrm>
            <a:off x="4279392" y="3749040"/>
            <a:ext cx="3566160" cy="1874520"/>
          </a:xfrm>
          <a:prstGeom prst="roundRect">
            <a:avLst>
              <a:gd name="adj" fmla="val 2927"/>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26" name="Shape 23"/>
          <p:cNvSpPr/>
          <p:nvPr/>
        </p:nvSpPr>
        <p:spPr>
          <a:xfrm>
            <a:off x="4279392" y="3749040"/>
            <a:ext cx="3566160" cy="54864"/>
          </a:xfrm>
          <a:prstGeom prst="rect">
            <a:avLst/>
          </a:prstGeom>
          <a:solidFill>
            <a:srgbClr val="0B1F3A"/>
          </a:solidFill>
          <a:ln/>
        </p:spPr>
        <p:txBody>
          <a:bodyPr/>
          <a:lstStyle/>
          <a:p>
            <a:endParaRPr lang="en-ZA"/>
          </a:p>
        </p:txBody>
      </p:sp>
      <p:sp>
        <p:nvSpPr>
          <p:cNvPr id="27" name="Text 24"/>
          <p:cNvSpPr/>
          <p:nvPr/>
        </p:nvSpPr>
        <p:spPr>
          <a:xfrm>
            <a:off x="4517136" y="4023360"/>
            <a:ext cx="3108960" cy="457200"/>
          </a:xfrm>
          <a:prstGeom prst="rect">
            <a:avLst/>
          </a:prstGeom>
          <a:noFill/>
          <a:ln/>
        </p:spPr>
        <p:txBody>
          <a:bodyPr wrap="square" rtlCol="0" anchor="ctr"/>
          <a:lstStyle/>
          <a:p>
            <a:pPr marL="0" indent="0">
              <a:buNone/>
            </a:pPr>
            <a:r>
              <a:rPr lang="en-US" sz="1500" b="1" dirty="0">
                <a:solidFill>
                  <a:srgbClr val="0B1F3A"/>
                </a:solidFill>
                <a:latin typeface="Trebuchet MS" pitchFamily="34" charset="0"/>
                <a:ea typeface="Trebuchet MS" pitchFamily="34" charset="-122"/>
                <a:cs typeface="Trebuchet MS" pitchFamily="34" charset="-120"/>
              </a:rPr>
              <a:t>Data Storytelling</a:t>
            </a:r>
            <a:endParaRPr lang="en-US" sz="1500" dirty="0"/>
          </a:p>
        </p:txBody>
      </p:sp>
      <p:sp>
        <p:nvSpPr>
          <p:cNvPr id="28" name="Text 25"/>
          <p:cNvSpPr/>
          <p:nvPr/>
        </p:nvSpPr>
        <p:spPr>
          <a:xfrm>
            <a:off x="4517136" y="4572000"/>
            <a:ext cx="3108960" cy="914400"/>
          </a:xfrm>
          <a:prstGeom prst="rect">
            <a:avLst/>
          </a:prstGeom>
          <a:noFill/>
          <a:ln/>
        </p:spPr>
        <p:txBody>
          <a:bodyPr wrap="square" rtlCol="0" anchor="ctr"/>
          <a:lstStyle/>
          <a:p>
            <a:pPr marL="0" indent="0">
              <a:lnSpc>
                <a:spcPts val="1550"/>
              </a:lnSpc>
              <a:buNone/>
            </a:pPr>
            <a:r>
              <a:rPr lang="en-US" sz="1150" dirty="0">
                <a:solidFill>
                  <a:srgbClr val="53657D"/>
                </a:solidFill>
                <a:latin typeface="Calibri" pitchFamily="34" charset="0"/>
                <a:ea typeface="Calibri" pitchFamily="34" charset="-122"/>
                <a:cs typeface="Calibri" pitchFamily="34" charset="-120"/>
              </a:rPr>
              <a:t>A boardroom narrative that moves from evidence to insight to decision in under twenty minutes.</a:t>
            </a:r>
            <a:endParaRPr lang="en-US" sz="1150" dirty="0"/>
          </a:p>
        </p:txBody>
      </p:sp>
      <p:sp>
        <p:nvSpPr>
          <p:cNvPr id="29" name="Shape 26"/>
          <p:cNvSpPr/>
          <p:nvPr/>
        </p:nvSpPr>
        <p:spPr>
          <a:xfrm>
            <a:off x="8065008" y="3749040"/>
            <a:ext cx="3593592" cy="1874520"/>
          </a:xfrm>
          <a:prstGeom prst="roundRect">
            <a:avLst>
              <a:gd name="adj" fmla="val 2927"/>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30" name="Text 27"/>
          <p:cNvSpPr/>
          <p:nvPr/>
        </p:nvSpPr>
        <p:spPr>
          <a:xfrm>
            <a:off x="8302752" y="3977640"/>
            <a:ext cx="3108960" cy="411480"/>
          </a:xfrm>
          <a:prstGeom prst="rect">
            <a:avLst/>
          </a:prstGeom>
          <a:noFill/>
          <a:ln/>
        </p:spPr>
        <p:txBody>
          <a:bodyPr wrap="square" rtlCol="0" anchor="ctr"/>
          <a:lstStyle/>
          <a:p>
            <a:pPr marL="0" indent="0">
              <a:buNone/>
            </a:pPr>
            <a:r>
              <a:rPr lang="en-US" sz="2000" b="1" dirty="0">
                <a:solidFill>
                  <a:srgbClr val="C9A227"/>
                </a:solidFill>
                <a:latin typeface="Trebuchet MS" pitchFamily="34" charset="0"/>
                <a:ea typeface="Trebuchet MS" pitchFamily="34" charset="-122"/>
                <a:cs typeface="Trebuchet MS" pitchFamily="34" charset="-120"/>
              </a:rPr>
              <a:t>End to end</a:t>
            </a:r>
            <a:endParaRPr lang="en-US" sz="2000" dirty="0"/>
          </a:p>
        </p:txBody>
      </p:sp>
      <p:sp>
        <p:nvSpPr>
          <p:cNvPr id="31" name="Text 28"/>
          <p:cNvSpPr/>
          <p:nvPr/>
        </p:nvSpPr>
        <p:spPr>
          <a:xfrm>
            <a:off x="8302752" y="4434840"/>
            <a:ext cx="3154680" cy="1005840"/>
          </a:xfrm>
          <a:prstGeom prst="rect">
            <a:avLst/>
          </a:prstGeom>
          <a:noFill/>
          <a:ln/>
        </p:spPr>
        <p:txBody>
          <a:bodyPr wrap="square" rtlCol="0" anchor="ctr"/>
          <a:lstStyle/>
          <a:p>
            <a:pPr marL="0" indent="0">
              <a:lnSpc>
                <a:spcPts val="1600"/>
              </a:lnSpc>
              <a:buNone/>
            </a:pPr>
            <a:r>
              <a:rPr lang="en-US" sz="1200" dirty="0">
                <a:solidFill>
                  <a:srgbClr val="CFE0F5"/>
                </a:solidFill>
                <a:latin typeface="Calibri" pitchFamily="34" charset="0"/>
                <a:ea typeface="Calibri" pitchFamily="34" charset="-122"/>
                <a:cs typeface="Calibri" pitchFamily="34" charset="-120"/>
              </a:rPr>
              <a:t>From raw session logs to a board-level decision, delivered as one continuous analytics capability.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20</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Lessons Learned</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19</a:t>
            </a:r>
            <a:endParaRPr lang="en-US" sz="900" dirty="0"/>
          </a:p>
        </p:txBody>
      </p:sp>
      <p:sp>
        <p:nvSpPr>
          <p:cNvPr id="9" name="Shape 6"/>
          <p:cNvSpPr/>
          <p:nvPr/>
        </p:nvSpPr>
        <p:spPr>
          <a:xfrm>
            <a:off x="502920" y="1600200"/>
            <a:ext cx="11155680" cy="384048"/>
          </a:xfrm>
          <a:prstGeom prst="rect">
            <a:avLst/>
          </a:prstGeom>
          <a:solidFill>
            <a:srgbClr val="0B1F3A"/>
          </a:solidFill>
          <a:ln/>
        </p:spPr>
        <p:txBody>
          <a:bodyPr/>
          <a:lstStyle/>
          <a:p>
            <a:endParaRPr lang="en-ZA"/>
          </a:p>
        </p:txBody>
      </p:sp>
      <p:sp>
        <p:nvSpPr>
          <p:cNvPr id="10" name="Text 7"/>
          <p:cNvSpPr/>
          <p:nvPr/>
        </p:nvSpPr>
        <p:spPr>
          <a:xfrm>
            <a:off x="777240" y="1600200"/>
            <a:ext cx="3017520" cy="384048"/>
          </a:xfrm>
          <a:prstGeom prst="rect">
            <a:avLst/>
          </a:prstGeom>
          <a:noFill/>
          <a:ln/>
        </p:spPr>
        <p:txBody>
          <a:bodyPr wrap="square" rtlCol="0" anchor="ctr"/>
          <a:lstStyle/>
          <a:p>
            <a:pPr marL="0" indent="0">
              <a:buNone/>
            </a:pPr>
            <a:r>
              <a:rPr lang="en-US" sz="1000" b="1" kern="0" spc="140" dirty="0">
                <a:solidFill>
                  <a:srgbClr val="C9A227"/>
                </a:solidFill>
                <a:latin typeface="Calibri" pitchFamily="34" charset="0"/>
                <a:ea typeface="Calibri" pitchFamily="34" charset="-122"/>
                <a:cs typeface="Calibri" pitchFamily="34" charset="-120"/>
              </a:rPr>
              <a:t>CHALLENGE</a:t>
            </a:r>
            <a:endParaRPr lang="en-US" sz="1000" dirty="0"/>
          </a:p>
        </p:txBody>
      </p:sp>
      <p:sp>
        <p:nvSpPr>
          <p:cNvPr id="11" name="Text 8"/>
          <p:cNvSpPr/>
          <p:nvPr/>
        </p:nvSpPr>
        <p:spPr>
          <a:xfrm>
            <a:off x="3977640" y="1600200"/>
            <a:ext cx="3017520" cy="384048"/>
          </a:xfrm>
          <a:prstGeom prst="rect">
            <a:avLst/>
          </a:prstGeom>
          <a:noFill/>
          <a:ln/>
        </p:spPr>
        <p:txBody>
          <a:bodyPr wrap="square" rtlCol="0" anchor="ctr"/>
          <a:lstStyle/>
          <a:p>
            <a:pPr marL="0" indent="0">
              <a:buNone/>
            </a:pPr>
            <a:r>
              <a:rPr lang="en-US" sz="1000" b="1" kern="0" spc="140" dirty="0">
                <a:solidFill>
                  <a:srgbClr val="C9A227"/>
                </a:solidFill>
                <a:latin typeface="Calibri" pitchFamily="34" charset="0"/>
                <a:ea typeface="Calibri" pitchFamily="34" charset="-122"/>
                <a:cs typeface="Calibri" pitchFamily="34" charset="-120"/>
              </a:rPr>
              <a:t>SOLUTION</a:t>
            </a:r>
            <a:endParaRPr lang="en-US" sz="1000" dirty="0"/>
          </a:p>
        </p:txBody>
      </p:sp>
      <p:sp>
        <p:nvSpPr>
          <p:cNvPr id="12" name="Text 9"/>
          <p:cNvSpPr/>
          <p:nvPr/>
        </p:nvSpPr>
        <p:spPr>
          <a:xfrm>
            <a:off x="7223760" y="1600200"/>
            <a:ext cx="4206240" cy="384048"/>
          </a:xfrm>
          <a:prstGeom prst="rect">
            <a:avLst/>
          </a:prstGeom>
          <a:noFill/>
          <a:ln/>
        </p:spPr>
        <p:txBody>
          <a:bodyPr wrap="square" rtlCol="0" anchor="ctr"/>
          <a:lstStyle/>
          <a:p>
            <a:pPr marL="0" indent="0">
              <a:buNone/>
            </a:pPr>
            <a:r>
              <a:rPr lang="en-US" sz="1000" b="1" kern="0" spc="140" dirty="0">
                <a:solidFill>
                  <a:srgbClr val="C9A227"/>
                </a:solidFill>
                <a:latin typeface="Calibri" pitchFamily="34" charset="0"/>
                <a:ea typeface="Calibri" pitchFamily="34" charset="-122"/>
                <a:cs typeface="Calibri" pitchFamily="34" charset="-120"/>
              </a:rPr>
              <a:t>KEY LEARNING</a:t>
            </a:r>
            <a:endParaRPr lang="en-US" sz="1000" dirty="0"/>
          </a:p>
        </p:txBody>
      </p:sp>
      <p:sp>
        <p:nvSpPr>
          <p:cNvPr id="13" name="Shape 10"/>
          <p:cNvSpPr/>
          <p:nvPr/>
        </p:nvSpPr>
        <p:spPr>
          <a:xfrm>
            <a:off x="502920" y="2057400"/>
            <a:ext cx="11155680" cy="1207008"/>
          </a:xfrm>
          <a:prstGeom prst="rect">
            <a:avLst/>
          </a:prstGeom>
          <a:solidFill>
            <a:srgbClr val="FFFFFF"/>
          </a:solidFill>
          <a:ln w="12700">
            <a:solidFill>
              <a:srgbClr val="DDE3EC"/>
            </a:solidFill>
            <a:prstDash val="solid"/>
          </a:ln>
        </p:spPr>
        <p:txBody>
          <a:bodyPr/>
          <a:lstStyle/>
          <a:p>
            <a:endParaRPr lang="en-ZA"/>
          </a:p>
        </p:txBody>
      </p:sp>
      <p:sp>
        <p:nvSpPr>
          <p:cNvPr id="14" name="Text 11"/>
          <p:cNvSpPr/>
          <p:nvPr/>
        </p:nvSpPr>
        <p:spPr>
          <a:xfrm>
            <a:off x="777240" y="2167128"/>
            <a:ext cx="3017520" cy="36576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Data quality was the project</a:t>
            </a:r>
            <a:endParaRPr lang="en-US" sz="1300" dirty="0"/>
          </a:p>
        </p:txBody>
      </p:sp>
      <p:sp>
        <p:nvSpPr>
          <p:cNvPr id="15" name="Text 12"/>
          <p:cNvSpPr/>
          <p:nvPr/>
        </p:nvSpPr>
        <p:spPr>
          <a:xfrm>
            <a:off x="777240" y="2560320"/>
            <a:ext cx="3017520" cy="640080"/>
          </a:xfrm>
          <a:prstGeom prst="rect">
            <a:avLst/>
          </a:prstGeom>
          <a:noFill/>
          <a:ln/>
        </p:spPr>
        <p:txBody>
          <a:bodyPr wrap="square" rtlCol="0" anchor="ctr"/>
          <a:lstStyle/>
          <a:p>
            <a:pPr marL="0" indent="0">
              <a:lnSpc>
                <a:spcPts val="1400"/>
              </a:lnSpc>
              <a:buNone/>
            </a:pPr>
            <a:r>
              <a:rPr lang="en-US" sz="1050" dirty="0">
                <a:solidFill>
                  <a:srgbClr val="53657D"/>
                </a:solidFill>
                <a:latin typeface="Calibri" pitchFamily="34" charset="0"/>
                <a:ea typeface="Calibri" pitchFamily="34" charset="-122"/>
                <a:cs typeface="Calibri" pitchFamily="34" charset="-120"/>
              </a:rPr>
              <a:t>1,168 records with unknown race, 262 with no province, inconsistent gender values.</a:t>
            </a:r>
            <a:endParaRPr lang="en-US" sz="1050" dirty="0"/>
          </a:p>
        </p:txBody>
      </p:sp>
      <p:sp>
        <p:nvSpPr>
          <p:cNvPr id="16" name="Text 13"/>
          <p:cNvSpPr/>
          <p:nvPr/>
        </p:nvSpPr>
        <p:spPr>
          <a:xfrm>
            <a:off x="3977640" y="2167128"/>
            <a:ext cx="3017520" cy="1005840"/>
          </a:xfrm>
          <a:prstGeom prst="rect">
            <a:avLst/>
          </a:prstGeom>
          <a:noFill/>
          <a:ln/>
        </p:spPr>
        <p:txBody>
          <a:bodyPr wrap="square" rtlCol="0" anchor="ctr"/>
          <a:lstStyle/>
          <a:p>
            <a:pPr marL="0" indent="0">
              <a:lnSpc>
                <a:spcPts val="1500"/>
              </a:lnSpc>
              <a:buNone/>
            </a:pPr>
            <a:r>
              <a:rPr lang="en-US" sz="1100" dirty="0">
                <a:solidFill>
                  <a:srgbClr val="44566E"/>
                </a:solidFill>
                <a:latin typeface="Calibri" pitchFamily="34" charset="0"/>
                <a:ea typeface="Calibri" pitchFamily="34" charset="-122"/>
                <a:cs typeface="Calibri" pitchFamily="34" charset="-120"/>
              </a:rPr>
              <a:t>Built an explicit standardisation layer in SQL and surfaced an Uncategorized bucket rather than silently dropping rows.</a:t>
            </a:r>
            <a:endParaRPr lang="en-US" sz="1100" dirty="0"/>
          </a:p>
        </p:txBody>
      </p:sp>
      <p:sp>
        <p:nvSpPr>
          <p:cNvPr id="17" name="Text 14"/>
          <p:cNvSpPr/>
          <p:nvPr/>
        </p:nvSpPr>
        <p:spPr>
          <a:xfrm>
            <a:off x="7223760" y="2167128"/>
            <a:ext cx="4206240" cy="1005840"/>
          </a:xfrm>
          <a:prstGeom prst="rect">
            <a:avLst/>
          </a:prstGeom>
          <a:noFill/>
          <a:ln/>
        </p:spPr>
        <p:txBody>
          <a:bodyPr wrap="square" rtlCol="0" anchor="ctr"/>
          <a:lstStyle/>
          <a:p>
            <a:pPr marL="0" indent="0">
              <a:lnSpc>
                <a:spcPts val="1500"/>
              </a:lnSpc>
              <a:buNone/>
            </a:pPr>
            <a:r>
              <a:rPr lang="en-US" sz="1150" b="1" dirty="0">
                <a:solidFill>
                  <a:srgbClr val="1565C0"/>
                </a:solidFill>
                <a:latin typeface="Calibri" pitchFamily="34" charset="0"/>
                <a:ea typeface="Calibri" pitchFamily="34" charset="-122"/>
                <a:cs typeface="Calibri" pitchFamily="34" charset="-120"/>
              </a:rPr>
              <a:t>Quality issues must be visible in the dashboard, not hidden by the pipeline.</a:t>
            </a:r>
            <a:endParaRPr lang="en-US" sz="1150" dirty="0"/>
          </a:p>
        </p:txBody>
      </p:sp>
      <p:sp>
        <p:nvSpPr>
          <p:cNvPr id="18" name="Shape 15"/>
          <p:cNvSpPr/>
          <p:nvPr/>
        </p:nvSpPr>
        <p:spPr>
          <a:xfrm>
            <a:off x="502920" y="3355848"/>
            <a:ext cx="11155680" cy="1207008"/>
          </a:xfrm>
          <a:prstGeom prst="rect">
            <a:avLst/>
          </a:prstGeom>
          <a:solidFill>
            <a:srgbClr val="F4F6FA"/>
          </a:solidFill>
          <a:ln w="12700">
            <a:solidFill>
              <a:srgbClr val="DDE3EC"/>
            </a:solidFill>
            <a:prstDash val="solid"/>
          </a:ln>
        </p:spPr>
        <p:txBody>
          <a:bodyPr/>
          <a:lstStyle/>
          <a:p>
            <a:endParaRPr lang="en-ZA"/>
          </a:p>
        </p:txBody>
      </p:sp>
      <p:sp>
        <p:nvSpPr>
          <p:cNvPr id="19" name="Text 16"/>
          <p:cNvSpPr/>
          <p:nvPr/>
        </p:nvSpPr>
        <p:spPr>
          <a:xfrm>
            <a:off x="777240" y="3465576"/>
            <a:ext cx="3017520" cy="36576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Four dashboards, one truth</a:t>
            </a:r>
            <a:endParaRPr lang="en-US" sz="1300" dirty="0"/>
          </a:p>
        </p:txBody>
      </p:sp>
      <p:sp>
        <p:nvSpPr>
          <p:cNvPr id="20" name="Text 17"/>
          <p:cNvSpPr/>
          <p:nvPr/>
        </p:nvSpPr>
        <p:spPr>
          <a:xfrm>
            <a:off x="777240" y="3858768"/>
            <a:ext cx="3017520" cy="640080"/>
          </a:xfrm>
          <a:prstGeom prst="rect">
            <a:avLst/>
          </a:prstGeom>
          <a:noFill/>
          <a:ln/>
        </p:spPr>
        <p:txBody>
          <a:bodyPr wrap="square" rtlCol="0" anchor="ctr"/>
          <a:lstStyle/>
          <a:p>
            <a:pPr marL="0" indent="0">
              <a:lnSpc>
                <a:spcPts val="1400"/>
              </a:lnSpc>
              <a:buNone/>
            </a:pPr>
            <a:r>
              <a:rPr lang="en-US" sz="1050" dirty="0">
                <a:solidFill>
                  <a:srgbClr val="53657D"/>
                </a:solidFill>
                <a:latin typeface="Calibri" pitchFamily="34" charset="0"/>
                <a:ea typeface="Calibri" pitchFamily="34" charset="-122"/>
                <a:cs typeface="Calibri" pitchFamily="34" charset="-120"/>
              </a:rPr>
              <a:t>Early prototypes disagreed because each tool applied its own filters and definitions.</a:t>
            </a:r>
            <a:endParaRPr lang="en-US" sz="1050" dirty="0"/>
          </a:p>
        </p:txBody>
      </p:sp>
      <p:sp>
        <p:nvSpPr>
          <p:cNvPr id="21" name="Text 18"/>
          <p:cNvSpPr/>
          <p:nvPr/>
        </p:nvSpPr>
        <p:spPr>
          <a:xfrm>
            <a:off x="3977640" y="3465576"/>
            <a:ext cx="3017520" cy="1005840"/>
          </a:xfrm>
          <a:prstGeom prst="rect">
            <a:avLst/>
          </a:prstGeom>
          <a:noFill/>
          <a:ln/>
        </p:spPr>
        <p:txBody>
          <a:bodyPr wrap="square" rtlCol="0" anchor="ctr"/>
          <a:lstStyle/>
          <a:p>
            <a:pPr marL="0" indent="0">
              <a:lnSpc>
                <a:spcPts val="1500"/>
              </a:lnSpc>
              <a:buNone/>
            </a:pPr>
            <a:r>
              <a:rPr lang="en-US" sz="1100" dirty="0">
                <a:solidFill>
                  <a:srgbClr val="44566E"/>
                </a:solidFill>
                <a:latin typeface="Calibri" pitchFamily="34" charset="0"/>
                <a:ea typeface="Calibri" pitchFamily="34" charset="-122"/>
                <a:cs typeface="Calibri" pitchFamily="34" charset="-120"/>
              </a:rPr>
              <a:t>Centralised every metric definition in the analytical dataset before any visual was built.</a:t>
            </a:r>
            <a:endParaRPr lang="en-US" sz="1100" dirty="0"/>
          </a:p>
        </p:txBody>
      </p:sp>
      <p:sp>
        <p:nvSpPr>
          <p:cNvPr id="22" name="Text 19"/>
          <p:cNvSpPr/>
          <p:nvPr/>
        </p:nvSpPr>
        <p:spPr>
          <a:xfrm>
            <a:off x="7223760" y="3465576"/>
            <a:ext cx="4206240" cy="1005840"/>
          </a:xfrm>
          <a:prstGeom prst="rect">
            <a:avLst/>
          </a:prstGeom>
          <a:noFill/>
          <a:ln/>
        </p:spPr>
        <p:txBody>
          <a:bodyPr wrap="square" rtlCol="0" anchor="ctr"/>
          <a:lstStyle/>
          <a:p>
            <a:pPr marL="0" indent="0">
              <a:lnSpc>
                <a:spcPts val="1500"/>
              </a:lnSpc>
              <a:buNone/>
            </a:pPr>
            <a:r>
              <a:rPr lang="en-US" sz="1150" b="1" dirty="0">
                <a:solidFill>
                  <a:srgbClr val="1565C0"/>
                </a:solidFill>
                <a:latin typeface="Calibri" pitchFamily="34" charset="0"/>
                <a:ea typeface="Calibri" pitchFamily="34" charset="-122"/>
                <a:cs typeface="Calibri" pitchFamily="34" charset="-120"/>
              </a:rPr>
              <a:t>Governance of definitions matters more than choice of BI tool.</a:t>
            </a:r>
            <a:endParaRPr lang="en-US" sz="1150" dirty="0"/>
          </a:p>
        </p:txBody>
      </p:sp>
      <p:sp>
        <p:nvSpPr>
          <p:cNvPr id="23" name="Shape 20"/>
          <p:cNvSpPr/>
          <p:nvPr/>
        </p:nvSpPr>
        <p:spPr>
          <a:xfrm>
            <a:off x="502920" y="4654296"/>
            <a:ext cx="11155680" cy="1207008"/>
          </a:xfrm>
          <a:prstGeom prst="rect">
            <a:avLst/>
          </a:prstGeom>
          <a:solidFill>
            <a:srgbClr val="FFFFFF"/>
          </a:solidFill>
          <a:ln w="12700">
            <a:solidFill>
              <a:srgbClr val="DDE3EC"/>
            </a:solidFill>
            <a:prstDash val="solid"/>
          </a:ln>
        </p:spPr>
        <p:txBody>
          <a:bodyPr/>
          <a:lstStyle/>
          <a:p>
            <a:endParaRPr lang="en-ZA"/>
          </a:p>
        </p:txBody>
      </p:sp>
      <p:sp>
        <p:nvSpPr>
          <p:cNvPr id="24" name="Text 21"/>
          <p:cNvSpPr/>
          <p:nvPr/>
        </p:nvSpPr>
        <p:spPr>
          <a:xfrm>
            <a:off x="777240" y="4764024"/>
            <a:ext cx="3017520" cy="365760"/>
          </a:xfrm>
          <a:prstGeom prst="rect">
            <a:avLst/>
          </a:prstGeom>
          <a:noFill/>
          <a:ln/>
        </p:spPr>
        <p:txBody>
          <a:bodyPr wrap="square" rtlCol="0" anchor="ctr"/>
          <a:lstStyle/>
          <a:p>
            <a:pPr marL="0" indent="0">
              <a:buNone/>
            </a:pPr>
            <a:r>
              <a:rPr lang="en-US" sz="1300" b="1" dirty="0">
                <a:solidFill>
                  <a:srgbClr val="0B1F3A"/>
                </a:solidFill>
                <a:latin typeface="Trebuchet MS" pitchFamily="34" charset="0"/>
                <a:ea typeface="Trebuchet MS" pitchFamily="34" charset="-122"/>
                <a:cs typeface="Trebuchet MS" pitchFamily="34" charset="-120"/>
              </a:rPr>
              <a:t>Executives buy decisions</a:t>
            </a:r>
            <a:endParaRPr lang="en-US" sz="1300" dirty="0"/>
          </a:p>
        </p:txBody>
      </p:sp>
      <p:sp>
        <p:nvSpPr>
          <p:cNvPr id="25" name="Text 22"/>
          <p:cNvSpPr/>
          <p:nvPr/>
        </p:nvSpPr>
        <p:spPr>
          <a:xfrm>
            <a:off x="777240" y="5157216"/>
            <a:ext cx="3017520" cy="640080"/>
          </a:xfrm>
          <a:prstGeom prst="rect">
            <a:avLst/>
          </a:prstGeom>
          <a:noFill/>
          <a:ln/>
        </p:spPr>
        <p:txBody>
          <a:bodyPr wrap="square" rtlCol="0" anchor="ctr"/>
          <a:lstStyle/>
          <a:p>
            <a:pPr marL="0" indent="0">
              <a:lnSpc>
                <a:spcPts val="1400"/>
              </a:lnSpc>
              <a:buNone/>
            </a:pPr>
            <a:r>
              <a:rPr lang="en-US" sz="1050" dirty="0">
                <a:solidFill>
                  <a:srgbClr val="53657D"/>
                </a:solidFill>
                <a:latin typeface="Calibri" pitchFamily="34" charset="0"/>
                <a:ea typeface="Calibri" pitchFamily="34" charset="-122"/>
                <a:cs typeface="Calibri" pitchFamily="34" charset="-120"/>
              </a:rPr>
              <a:t>The first draft was chart-rich and decision-poor — interesting, but not actionable.</a:t>
            </a:r>
            <a:endParaRPr lang="en-US" sz="1050" dirty="0"/>
          </a:p>
        </p:txBody>
      </p:sp>
      <p:sp>
        <p:nvSpPr>
          <p:cNvPr id="26" name="Text 23"/>
          <p:cNvSpPr/>
          <p:nvPr/>
        </p:nvSpPr>
        <p:spPr>
          <a:xfrm>
            <a:off x="3977640" y="4764024"/>
            <a:ext cx="3017520" cy="1005840"/>
          </a:xfrm>
          <a:prstGeom prst="rect">
            <a:avLst/>
          </a:prstGeom>
          <a:noFill/>
          <a:ln/>
        </p:spPr>
        <p:txBody>
          <a:bodyPr wrap="square" rtlCol="0" anchor="ctr"/>
          <a:lstStyle/>
          <a:p>
            <a:pPr marL="0" indent="0">
              <a:lnSpc>
                <a:spcPts val="1500"/>
              </a:lnSpc>
              <a:buNone/>
            </a:pPr>
            <a:r>
              <a:rPr lang="en-US" sz="1100" dirty="0">
                <a:solidFill>
                  <a:srgbClr val="44566E"/>
                </a:solidFill>
                <a:latin typeface="Calibri" pitchFamily="34" charset="0"/>
                <a:ea typeface="Calibri" pitchFamily="34" charset="-122"/>
                <a:cs typeface="Calibri" pitchFamily="34" charset="-120"/>
              </a:rPr>
              <a:t>Restructured every insight into what happened, why, and business impact, ending in a prioritised ask.</a:t>
            </a:r>
            <a:endParaRPr lang="en-US" sz="1100" dirty="0"/>
          </a:p>
        </p:txBody>
      </p:sp>
      <p:sp>
        <p:nvSpPr>
          <p:cNvPr id="27" name="Text 24"/>
          <p:cNvSpPr/>
          <p:nvPr/>
        </p:nvSpPr>
        <p:spPr>
          <a:xfrm>
            <a:off x="7223760" y="4764024"/>
            <a:ext cx="4206240" cy="1005840"/>
          </a:xfrm>
          <a:prstGeom prst="rect">
            <a:avLst/>
          </a:prstGeom>
          <a:noFill/>
          <a:ln/>
        </p:spPr>
        <p:txBody>
          <a:bodyPr wrap="square" rtlCol="0" anchor="ctr"/>
          <a:lstStyle/>
          <a:p>
            <a:pPr marL="0" indent="0">
              <a:lnSpc>
                <a:spcPts val="1500"/>
              </a:lnSpc>
              <a:buNone/>
            </a:pPr>
            <a:r>
              <a:rPr lang="en-US" sz="1150" b="1" dirty="0">
                <a:solidFill>
                  <a:srgbClr val="1565C0"/>
                </a:solidFill>
                <a:latin typeface="Calibri" pitchFamily="34" charset="0"/>
                <a:ea typeface="Calibri" pitchFamily="34" charset="-122"/>
                <a:cs typeface="Calibri" pitchFamily="34" charset="-120"/>
              </a:rPr>
              <a:t>Analysis only creates value at the point it changes a decision.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21</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Live Dashboard</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20</a:t>
            </a:r>
            <a:endParaRPr lang="en-US" sz="900" dirty="0"/>
          </a:p>
        </p:txBody>
      </p:sp>
      <p:pic>
        <p:nvPicPr>
          <p:cNvPr id="9" name="Image 0" descr="preencoded.png"/>
          <p:cNvPicPr>
            <a:picLocks noChangeAspect="1"/>
          </p:cNvPicPr>
          <p:nvPr/>
        </p:nvPicPr>
        <p:blipFill>
          <a:blip r:embed="rId3"/>
          <a:stretch>
            <a:fillRect/>
          </a:stretch>
        </p:blipFill>
        <p:spPr>
          <a:xfrm>
            <a:off x="502920" y="1600200"/>
            <a:ext cx="7223760" cy="4517136"/>
          </a:xfrm>
          <a:prstGeom prst="rect">
            <a:avLst/>
          </a:prstGeom>
        </p:spPr>
      </p:pic>
      <p:sp>
        <p:nvSpPr>
          <p:cNvPr id="10" name="Shape 6"/>
          <p:cNvSpPr/>
          <p:nvPr/>
        </p:nvSpPr>
        <p:spPr>
          <a:xfrm>
            <a:off x="502920" y="1600200"/>
            <a:ext cx="7223760" cy="4517136"/>
          </a:xfrm>
          <a:prstGeom prst="rect">
            <a:avLst/>
          </a:prstGeom>
          <a:solidFill>
            <a:srgbClr val="FFFFFF">
              <a:alpha val="0"/>
            </a:srgbClr>
          </a:solidFill>
          <a:ln w="12700">
            <a:solidFill>
              <a:srgbClr val="DDE3EC"/>
            </a:solidFill>
            <a:prstDash val="solid"/>
          </a:ln>
        </p:spPr>
        <p:txBody>
          <a:bodyPr/>
          <a:lstStyle/>
          <a:p>
            <a:endParaRPr lang="en-ZA"/>
          </a:p>
        </p:txBody>
      </p:sp>
      <p:sp>
        <p:nvSpPr>
          <p:cNvPr id="11" name="Shape 7"/>
          <p:cNvSpPr/>
          <p:nvPr/>
        </p:nvSpPr>
        <p:spPr>
          <a:xfrm>
            <a:off x="8001000" y="1600200"/>
            <a:ext cx="3657600" cy="4517136"/>
          </a:xfrm>
          <a:prstGeom prst="roundRect">
            <a:avLst>
              <a:gd name="adj" fmla="val 1500"/>
            </a:avLst>
          </a:prstGeom>
          <a:solidFill>
            <a:srgbClr val="0B1F3A"/>
          </a:solidFill>
          <a:ln w="12700">
            <a:solidFill>
              <a:srgbClr val="0B1F3A"/>
            </a:solidFill>
            <a:prstDash val="solid"/>
          </a:ln>
          <a:effectLst>
            <a:outerShdw blurRad="101600" dist="25400" dir="5400000" algn="bl" rotWithShape="0">
              <a:srgbClr val="8FA3BF">
                <a:alpha val="18000"/>
              </a:srgbClr>
            </a:outerShdw>
          </a:effectLst>
        </p:spPr>
        <p:txBody>
          <a:bodyPr/>
          <a:lstStyle/>
          <a:p>
            <a:endParaRPr lang="en-ZA"/>
          </a:p>
        </p:txBody>
      </p:sp>
      <p:sp>
        <p:nvSpPr>
          <p:cNvPr id="12" name="Text 8"/>
          <p:cNvSpPr/>
          <p:nvPr/>
        </p:nvSpPr>
        <p:spPr>
          <a:xfrm>
            <a:off x="8275320" y="1810512"/>
            <a:ext cx="3108960" cy="274320"/>
          </a:xfrm>
          <a:prstGeom prst="rect">
            <a:avLst/>
          </a:prstGeom>
          <a:noFill/>
          <a:ln/>
        </p:spPr>
        <p:txBody>
          <a:bodyPr wrap="square" rtlCol="0" anchor="ctr"/>
          <a:lstStyle/>
          <a:p>
            <a:pPr marL="0" indent="0">
              <a:buNone/>
            </a:pPr>
            <a:r>
              <a:rPr lang="en-US" sz="1050" b="1" kern="0" spc="160" dirty="0">
                <a:solidFill>
                  <a:srgbClr val="C9A227"/>
                </a:solidFill>
                <a:latin typeface="Calibri" pitchFamily="34" charset="0"/>
                <a:ea typeface="Calibri" pitchFamily="34" charset="-122"/>
                <a:cs typeface="Calibri" pitchFamily="34" charset="-120"/>
              </a:rPr>
              <a:t>SCAN TO EXPLORE</a:t>
            </a:r>
            <a:endParaRPr lang="en-US" sz="1050" dirty="0"/>
          </a:p>
        </p:txBody>
      </p:sp>
      <p:sp>
        <p:nvSpPr>
          <p:cNvPr id="13" name="Shape 9"/>
          <p:cNvSpPr/>
          <p:nvPr/>
        </p:nvSpPr>
        <p:spPr>
          <a:xfrm>
            <a:off x="8915400" y="2240280"/>
            <a:ext cx="1828800" cy="1828800"/>
          </a:xfrm>
          <a:prstGeom prst="rect">
            <a:avLst/>
          </a:prstGeom>
          <a:solidFill>
            <a:srgbClr val="FFFFFF"/>
          </a:solidFill>
          <a:ln/>
        </p:spPr>
        <p:txBody>
          <a:bodyPr/>
          <a:lstStyle/>
          <a:p>
            <a:endParaRPr lang="en-ZA"/>
          </a:p>
        </p:txBody>
      </p:sp>
      <p:pic>
        <p:nvPicPr>
          <p:cNvPr id="14" name="Image 1" descr="preencoded.png"/>
          <p:cNvPicPr>
            <a:picLocks noChangeAspect="1"/>
          </p:cNvPicPr>
          <p:nvPr/>
        </p:nvPicPr>
        <p:blipFill>
          <a:blip r:embed="rId4"/>
          <a:stretch>
            <a:fillRect/>
          </a:stretch>
        </p:blipFill>
        <p:spPr>
          <a:xfrm>
            <a:off x="9006840" y="2331720"/>
            <a:ext cx="1645920" cy="1645920"/>
          </a:xfrm>
          <a:prstGeom prst="rect">
            <a:avLst/>
          </a:prstGeom>
        </p:spPr>
      </p:pic>
      <p:sp>
        <p:nvSpPr>
          <p:cNvPr id="15" name="Text 10"/>
          <p:cNvSpPr/>
          <p:nvPr/>
        </p:nvSpPr>
        <p:spPr>
          <a:xfrm>
            <a:off x="8275320" y="4206240"/>
            <a:ext cx="31089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lumina-tv-analytics.lovable.app</a:t>
            </a:r>
            <a:endParaRPr lang="en-US" sz="1200" dirty="0"/>
          </a:p>
        </p:txBody>
      </p:sp>
      <p:sp>
        <p:nvSpPr>
          <p:cNvPr id="16" name="Text 11"/>
          <p:cNvSpPr/>
          <p:nvPr/>
        </p:nvSpPr>
        <p:spPr>
          <a:xfrm>
            <a:off x="8275320" y="4617720"/>
            <a:ext cx="3108960" cy="1828800"/>
          </a:xfrm>
          <a:prstGeom prst="rect">
            <a:avLst/>
          </a:prstGeom>
          <a:noFill/>
          <a:ln/>
        </p:spPr>
        <p:txBody>
          <a:bodyPr wrap="square" rtlCol="0" anchor="ctr"/>
          <a:lstStyle/>
          <a:p>
            <a:pPr marL="342900" indent="-342900">
              <a:lnSpc>
                <a:spcPts val="1485"/>
              </a:lnSpc>
              <a:spcAft>
                <a:spcPts val="800"/>
              </a:spcAft>
              <a:buSzPct val="100000"/>
              <a:buChar char="▪"/>
            </a:pPr>
            <a:r>
              <a:rPr lang="en-US" sz="1100" dirty="0">
                <a:solidFill>
                  <a:srgbClr val="CFE0F5"/>
                </a:solidFill>
                <a:latin typeface="Calibri" pitchFamily="34" charset="0"/>
                <a:ea typeface="Calibri" pitchFamily="34" charset="-122"/>
                <a:cs typeface="Calibri" pitchFamily="34" charset="-120"/>
              </a:rPr>
              <a:t>Six live cross-filters</a:t>
            </a:r>
            <a:endParaRPr lang="en-US" sz="1100" dirty="0"/>
          </a:p>
          <a:p>
            <a:pPr marL="342900" indent="-342900">
              <a:lnSpc>
                <a:spcPts val="1485"/>
              </a:lnSpc>
              <a:spcAft>
                <a:spcPts val="800"/>
              </a:spcAft>
              <a:buSzPct val="100000"/>
              <a:buChar char="▪"/>
            </a:pPr>
            <a:r>
              <a:rPr lang="en-US" sz="1100" dirty="0">
                <a:solidFill>
                  <a:srgbClr val="CFE0F5"/>
                </a:solidFill>
                <a:latin typeface="Calibri" pitchFamily="34" charset="0"/>
                <a:ea typeface="Calibri" pitchFamily="34" charset="-122"/>
                <a:cs typeface="Calibri" pitchFamily="34" charset="-120"/>
              </a:rPr>
              <a:t>Five analytical pages</a:t>
            </a:r>
            <a:endParaRPr lang="en-US" sz="1100" dirty="0"/>
          </a:p>
          <a:p>
            <a:pPr marL="342900" indent="-342900">
              <a:lnSpc>
                <a:spcPts val="1485"/>
              </a:lnSpc>
              <a:spcAft>
                <a:spcPts val="800"/>
              </a:spcAft>
              <a:buSzPct val="100000"/>
              <a:buChar char="▪"/>
            </a:pPr>
            <a:r>
              <a:rPr lang="en-US" sz="1100" dirty="0">
                <a:solidFill>
                  <a:srgbClr val="CFE0F5"/>
                </a:solidFill>
                <a:latin typeface="Calibri" pitchFamily="34" charset="0"/>
                <a:ea typeface="Calibri" pitchFamily="34" charset="-122"/>
                <a:cs typeface="Calibri" pitchFamily="34" charset="-120"/>
              </a:rPr>
              <a:t>Real 9,980-row dataset</a:t>
            </a:r>
            <a:endParaRPr lang="en-US" sz="1100" dirty="0"/>
          </a:p>
          <a:p>
            <a:pPr marL="342900" indent="-342900">
              <a:lnSpc>
                <a:spcPts val="1485"/>
              </a:lnSpc>
              <a:spcAft>
                <a:spcPts val="800"/>
              </a:spcAft>
              <a:buSzPct val="100000"/>
              <a:buChar char="▪"/>
            </a:pPr>
            <a:r>
              <a:rPr lang="en-US" sz="1100" dirty="0">
                <a:solidFill>
                  <a:srgbClr val="CFE0F5"/>
                </a:solidFill>
                <a:latin typeface="Calibri" pitchFamily="34" charset="0"/>
                <a:ea typeface="Calibri" pitchFamily="34" charset="-122"/>
                <a:cs typeface="Calibri" pitchFamily="34" charset="-120"/>
              </a:rPr>
              <a:t>Dark mode, CSV and PDF export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502920" y="384048"/>
            <a:ext cx="457200" cy="45720"/>
          </a:xfrm>
          <a:prstGeom prst="rect">
            <a:avLst/>
          </a:prstGeom>
          <a:solidFill>
            <a:srgbClr val="C9A227"/>
          </a:solidFill>
          <a:ln/>
        </p:spPr>
        <p:txBody>
          <a:bodyPr/>
          <a:lstStyle/>
          <a:p>
            <a:endParaRPr lang="en-ZA"/>
          </a:p>
        </p:txBody>
      </p:sp>
      <p:sp>
        <p:nvSpPr>
          <p:cNvPr id="4" name="Text 1"/>
          <p:cNvSpPr/>
          <p:nvPr/>
        </p:nvSpPr>
        <p:spPr>
          <a:xfrm>
            <a:off x="502920" y="475488"/>
            <a:ext cx="7315200" cy="228600"/>
          </a:xfrm>
          <a:prstGeom prst="rect">
            <a:avLst/>
          </a:prstGeom>
          <a:noFill/>
          <a:ln/>
        </p:spPr>
        <p:txBody>
          <a:bodyPr wrap="square" rtlCol="0" anchor="ctr"/>
          <a:lstStyle/>
          <a:p>
            <a:pPr marL="0" indent="0">
              <a:buNone/>
            </a:pPr>
            <a:r>
              <a:rPr lang="en-US" sz="1050" b="1" kern="0" spc="200" dirty="0">
                <a:solidFill>
                  <a:srgbClr val="C9A227"/>
                </a:solidFill>
                <a:latin typeface="Calibri" pitchFamily="34" charset="0"/>
                <a:ea typeface="Calibri" pitchFamily="34" charset="-122"/>
                <a:cs typeface="Calibri" pitchFamily="34" charset="-120"/>
              </a:rPr>
              <a:t>SLIDE 22</a:t>
            </a:r>
            <a:endParaRPr lang="en-US" sz="1050" dirty="0"/>
          </a:p>
        </p:txBody>
      </p:sp>
      <p:sp>
        <p:nvSpPr>
          <p:cNvPr id="5" name="Text 2"/>
          <p:cNvSpPr/>
          <p:nvPr/>
        </p:nvSpPr>
        <p:spPr>
          <a:xfrm>
            <a:off x="502920" y="713232"/>
            <a:ext cx="10515600" cy="548640"/>
          </a:xfrm>
          <a:prstGeom prst="rect">
            <a:avLst/>
          </a:prstGeom>
          <a:noFill/>
          <a:ln/>
        </p:spPr>
        <p:txBody>
          <a:bodyPr wrap="square" rtlCol="0" anchor="ctr"/>
          <a:lstStyle/>
          <a:p>
            <a:pPr marL="0" indent="0">
              <a:buNone/>
            </a:pPr>
            <a:r>
              <a:rPr lang="en-US" sz="3000" b="1" dirty="0">
                <a:solidFill>
                  <a:srgbClr val="0B1F3A"/>
                </a:solidFill>
                <a:latin typeface="Trebuchet MS" pitchFamily="34" charset="0"/>
                <a:ea typeface="Trebuchet MS" pitchFamily="34" charset="-122"/>
                <a:cs typeface="Trebuchet MS" pitchFamily="34" charset="-120"/>
              </a:rPr>
              <a:t>Conclusion</a:t>
            </a:r>
            <a:endParaRPr lang="en-US" sz="3000" dirty="0"/>
          </a:p>
        </p:txBody>
      </p:sp>
      <p:sp>
        <p:nvSpPr>
          <p:cNvPr id="6" name="Shape 3"/>
          <p:cNvSpPr/>
          <p:nvPr/>
        </p:nvSpPr>
        <p:spPr>
          <a:xfrm>
            <a:off x="0" y="6455664"/>
            <a:ext cx="12188952" cy="18288"/>
          </a:xfrm>
          <a:prstGeom prst="rect">
            <a:avLst/>
          </a:prstGeom>
          <a:solidFill>
            <a:srgbClr val="DDE3EC"/>
          </a:solidFill>
          <a:ln/>
        </p:spPr>
        <p:txBody>
          <a:bodyPr/>
          <a:lstStyle/>
          <a:p>
            <a:endParaRPr lang="en-ZA"/>
          </a:p>
        </p:txBody>
      </p:sp>
      <p:sp>
        <p:nvSpPr>
          <p:cNvPr id="7" name="Text 4"/>
          <p:cNvSpPr/>
          <p:nvPr/>
        </p:nvSpPr>
        <p:spPr>
          <a:xfrm>
            <a:off x="502920" y="6492240"/>
            <a:ext cx="5486400" cy="274320"/>
          </a:xfrm>
          <a:prstGeom prst="rect">
            <a:avLst/>
          </a:prstGeom>
          <a:noFill/>
          <a:ln/>
        </p:spPr>
        <p:txBody>
          <a:bodyPr wrap="square" rtlCol="0" anchor="ctr"/>
          <a:lstStyle/>
          <a:p>
            <a:pPr marL="0" indent="0">
              <a:buNone/>
            </a:pPr>
            <a:r>
              <a:rPr lang="en-US" sz="900" dirty="0">
                <a:solidFill>
                  <a:srgbClr val="5B6B80"/>
                </a:solidFill>
                <a:latin typeface="Calibri" pitchFamily="34" charset="0"/>
                <a:ea typeface="Calibri" pitchFamily="34" charset="-122"/>
                <a:cs typeface="Calibri" pitchFamily="34" charset="-120"/>
              </a:rPr>
              <a:t>BrightTV  |  Viewership Analytics</a:t>
            </a:r>
            <a:endParaRPr lang="en-US" sz="900" dirty="0"/>
          </a:p>
        </p:txBody>
      </p:sp>
      <p:sp>
        <p:nvSpPr>
          <p:cNvPr id="8" name="Text 5"/>
          <p:cNvSpPr/>
          <p:nvPr/>
        </p:nvSpPr>
        <p:spPr>
          <a:xfrm>
            <a:off x="11155680" y="6492240"/>
            <a:ext cx="548640" cy="274320"/>
          </a:xfrm>
          <a:prstGeom prst="rect">
            <a:avLst/>
          </a:prstGeom>
          <a:noFill/>
          <a:ln/>
        </p:spPr>
        <p:txBody>
          <a:bodyPr wrap="square" rtlCol="0" anchor="ctr"/>
          <a:lstStyle/>
          <a:p>
            <a:pPr marL="0" indent="0" algn="r">
              <a:buNone/>
            </a:pPr>
            <a:r>
              <a:rPr lang="en-US" sz="900" b="1" dirty="0">
                <a:solidFill>
                  <a:srgbClr val="0B1F3A"/>
                </a:solidFill>
                <a:latin typeface="Calibri" pitchFamily="34" charset="0"/>
                <a:ea typeface="Calibri" pitchFamily="34" charset="-122"/>
                <a:cs typeface="Calibri" pitchFamily="34" charset="-120"/>
              </a:rPr>
              <a:t>21</a:t>
            </a:r>
            <a:endParaRPr lang="en-US" sz="900" dirty="0"/>
          </a:p>
        </p:txBody>
      </p:sp>
      <p:sp>
        <p:nvSpPr>
          <p:cNvPr id="9" name="Shape 6"/>
          <p:cNvSpPr/>
          <p:nvPr/>
        </p:nvSpPr>
        <p:spPr>
          <a:xfrm>
            <a:off x="502920" y="1645920"/>
            <a:ext cx="3566160" cy="2560320"/>
          </a:xfrm>
          <a:prstGeom prst="roundRect">
            <a:avLst>
              <a:gd name="adj" fmla="val 2143"/>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0" name="Shape 7"/>
          <p:cNvSpPr/>
          <p:nvPr/>
        </p:nvSpPr>
        <p:spPr>
          <a:xfrm>
            <a:off x="502920" y="1645920"/>
            <a:ext cx="3566160" cy="54864"/>
          </a:xfrm>
          <a:prstGeom prst="rect">
            <a:avLst/>
          </a:prstGeom>
          <a:solidFill>
            <a:srgbClr val="1565C0"/>
          </a:solidFill>
          <a:ln/>
        </p:spPr>
        <p:txBody>
          <a:bodyPr/>
          <a:lstStyle/>
          <a:p>
            <a:endParaRPr lang="en-ZA"/>
          </a:p>
        </p:txBody>
      </p:sp>
      <p:sp>
        <p:nvSpPr>
          <p:cNvPr id="11" name="Text 8"/>
          <p:cNvSpPr/>
          <p:nvPr/>
        </p:nvSpPr>
        <p:spPr>
          <a:xfrm>
            <a:off x="740664" y="1874520"/>
            <a:ext cx="3108960" cy="274320"/>
          </a:xfrm>
          <a:prstGeom prst="rect">
            <a:avLst/>
          </a:prstGeom>
          <a:noFill/>
          <a:ln/>
        </p:spPr>
        <p:txBody>
          <a:bodyPr wrap="square" rtlCol="0" anchor="ctr"/>
          <a:lstStyle/>
          <a:p>
            <a:pPr marL="0" indent="0">
              <a:buNone/>
            </a:pPr>
            <a:r>
              <a:rPr lang="en-US" sz="1050" b="1" kern="0" spc="140" dirty="0">
                <a:solidFill>
                  <a:srgbClr val="1565C0"/>
                </a:solidFill>
                <a:latin typeface="Calibri" pitchFamily="34" charset="0"/>
                <a:ea typeface="Calibri" pitchFamily="34" charset="-122"/>
                <a:cs typeface="Calibri" pitchFamily="34" charset="-120"/>
              </a:rPr>
              <a:t>BUSINESS VALUE</a:t>
            </a:r>
            <a:endParaRPr lang="en-US" sz="1050" dirty="0"/>
          </a:p>
        </p:txBody>
      </p:sp>
      <p:sp>
        <p:nvSpPr>
          <p:cNvPr id="12" name="Text 9"/>
          <p:cNvSpPr/>
          <p:nvPr/>
        </p:nvSpPr>
        <p:spPr>
          <a:xfrm>
            <a:off x="740664" y="2240280"/>
            <a:ext cx="3108960" cy="1737360"/>
          </a:xfrm>
          <a:prstGeom prst="rect">
            <a:avLst/>
          </a:prstGeom>
          <a:noFill/>
          <a:ln/>
        </p:spPr>
        <p:txBody>
          <a:bodyPr wrap="square" rtlCol="0" anchor="ctr"/>
          <a:lstStyle/>
          <a:p>
            <a:pPr marL="0" indent="0">
              <a:lnSpc>
                <a:spcPts val="1800"/>
              </a:lnSpc>
              <a:buNone/>
            </a:pPr>
            <a:r>
              <a:rPr lang="en-US" sz="1250" dirty="0">
                <a:solidFill>
                  <a:srgbClr val="44566E"/>
                </a:solidFill>
                <a:latin typeface="Calibri" pitchFamily="34" charset="0"/>
                <a:ea typeface="Calibri" pitchFamily="34" charset="-122"/>
                <a:cs typeface="Calibri" pitchFamily="34" charset="-120"/>
              </a:rPr>
              <a:t>One certified analytical dataset, four executive dashboards and a repeatable monthly rhythm — replacing instinct with evidence across the CVM function.</a:t>
            </a:r>
            <a:endParaRPr lang="en-US" sz="1250" dirty="0"/>
          </a:p>
        </p:txBody>
      </p:sp>
      <p:sp>
        <p:nvSpPr>
          <p:cNvPr id="13" name="Shape 10"/>
          <p:cNvSpPr/>
          <p:nvPr/>
        </p:nvSpPr>
        <p:spPr>
          <a:xfrm>
            <a:off x="4279392" y="1645920"/>
            <a:ext cx="3566160" cy="2560320"/>
          </a:xfrm>
          <a:prstGeom prst="roundRect">
            <a:avLst>
              <a:gd name="adj" fmla="val 2143"/>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4" name="Shape 11"/>
          <p:cNvSpPr/>
          <p:nvPr/>
        </p:nvSpPr>
        <p:spPr>
          <a:xfrm>
            <a:off x="4279392" y="1645920"/>
            <a:ext cx="3566160" cy="54864"/>
          </a:xfrm>
          <a:prstGeom prst="rect">
            <a:avLst/>
          </a:prstGeom>
          <a:solidFill>
            <a:srgbClr val="C9A227"/>
          </a:solidFill>
          <a:ln/>
        </p:spPr>
        <p:txBody>
          <a:bodyPr/>
          <a:lstStyle/>
          <a:p>
            <a:endParaRPr lang="en-ZA"/>
          </a:p>
        </p:txBody>
      </p:sp>
      <p:sp>
        <p:nvSpPr>
          <p:cNvPr id="15" name="Text 12"/>
          <p:cNvSpPr/>
          <p:nvPr/>
        </p:nvSpPr>
        <p:spPr>
          <a:xfrm>
            <a:off x="4517136" y="1874520"/>
            <a:ext cx="3108960" cy="274320"/>
          </a:xfrm>
          <a:prstGeom prst="rect">
            <a:avLst/>
          </a:prstGeom>
          <a:noFill/>
          <a:ln/>
        </p:spPr>
        <p:txBody>
          <a:bodyPr wrap="square" rtlCol="0" anchor="ctr"/>
          <a:lstStyle/>
          <a:p>
            <a:pPr marL="0" indent="0">
              <a:buNone/>
            </a:pPr>
            <a:r>
              <a:rPr lang="en-US" sz="1050" b="1" kern="0" spc="140" dirty="0">
                <a:solidFill>
                  <a:srgbClr val="C9A227"/>
                </a:solidFill>
                <a:latin typeface="Calibri" pitchFamily="34" charset="0"/>
                <a:ea typeface="Calibri" pitchFamily="34" charset="-122"/>
                <a:cs typeface="Calibri" pitchFamily="34" charset="-120"/>
              </a:rPr>
              <a:t>RECOMMENDATIONS</a:t>
            </a:r>
            <a:endParaRPr lang="en-US" sz="1050" dirty="0"/>
          </a:p>
        </p:txBody>
      </p:sp>
      <p:sp>
        <p:nvSpPr>
          <p:cNvPr id="16" name="Text 13"/>
          <p:cNvSpPr/>
          <p:nvPr/>
        </p:nvSpPr>
        <p:spPr>
          <a:xfrm>
            <a:off x="4517136" y="2240280"/>
            <a:ext cx="3108960" cy="1737360"/>
          </a:xfrm>
          <a:prstGeom prst="rect">
            <a:avLst/>
          </a:prstGeom>
          <a:noFill/>
          <a:ln/>
        </p:spPr>
        <p:txBody>
          <a:bodyPr wrap="square" rtlCol="0" anchor="ctr"/>
          <a:lstStyle/>
          <a:p>
            <a:pPr marL="0" indent="0">
              <a:lnSpc>
                <a:spcPts val="1800"/>
              </a:lnSpc>
              <a:buNone/>
            </a:pPr>
            <a:r>
              <a:rPr lang="en-US" sz="1250" dirty="0">
                <a:solidFill>
                  <a:srgbClr val="44566E"/>
                </a:solidFill>
                <a:latin typeface="Calibri" pitchFamily="34" charset="0"/>
                <a:ea typeface="Calibri" pitchFamily="34" charset="-122"/>
                <a:cs typeface="Calibri" pitchFamily="34" charset="-120"/>
              </a:rPr>
              <a:t>A sport-anchored retention play and afternoon-first scheduling this quarter; underserved audience acquisition next quarter.</a:t>
            </a:r>
            <a:endParaRPr lang="en-US" sz="1250" dirty="0"/>
          </a:p>
        </p:txBody>
      </p:sp>
      <p:sp>
        <p:nvSpPr>
          <p:cNvPr id="17" name="Shape 14"/>
          <p:cNvSpPr/>
          <p:nvPr/>
        </p:nvSpPr>
        <p:spPr>
          <a:xfrm>
            <a:off x="8055864" y="1645920"/>
            <a:ext cx="3566160" cy="2560320"/>
          </a:xfrm>
          <a:prstGeom prst="roundRect">
            <a:avLst>
              <a:gd name="adj" fmla="val 2143"/>
            </a:avLst>
          </a:prstGeom>
          <a:solidFill>
            <a:srgbClr val="FFFFFF"/>
          </a:solidFill>
          <a:ln w="12700">
            <a:solidFill>
              <a:srgbClr val="DDE3EC"/>
            </a:solidFill>
            <a:prstDash val="solid"/>
          </a:ln>
          <a:effectLst>
            <a:outerShdw blurRad="101600" dist="25400" dir="5400000" algn="bl" rotWithShape="0">
              <a:srgbClr val="8FA3BF">
                <a:alpha val="18000"/>
              </a:srgbClr>
            </a:outerShdw>
          </a:effectLst>
        </p:spPr>
        <p:txBody>
          <a:bodyPr/>
          <a:lstStyle/>
          <a:p>
            <a:endParaRPr lang="en-ZA"/>
          </a:p>
        </p:txBody>
      </p:sp>
      <p:sp>
        <p:nvSpPr>
          <p:cNvPr id="18" name="Shape 15"/>
          <p:cNvSpPr/>
          <p:nvPr/>
        </p:nvSpPr>
        <p:spPr>
          <a:xfrm>
            <a:off x="8055864" y="1645920"/>
            <a:ext cx="3566160" cy="54864"/>
          </a:xfrm>
          <a:prstGeom prst="rect">
            <a:avLst/>
          </a:prstGeom>
          <a:solidFill>
            <a:srgbClr val="42A5F5"/>
          </a:solidFill>
          <a:ln/>
        </p:spPr>
        <p:txBody>
          <a:bodyPr/>
          <a:lstStyle/>
          <a:p>
            <a:endParaRPr lang="en-ZA"/>
          </a:p>
        </p:txBody>
      </p:sp>
      <p:sp>
        <p:nvSpPr>
          <p:cNvPr id="19" name="Text 16"/>
          <p:cNvSpPr/>
          <p:nvPr/>
        </p:nvSpPr>
        <p:spPr>
          <a:xfrm>
            <a:off x="8293608" y="1874520"/>
            <a:ext cx="3108960" cy="274320"/>
          </a:xfrm>
          <a:prstGeom prst="rect">
            <a:avLst/>
          </a:prstGeom>
          <a:noFill/>
          <a:ln/>
        </p:spPr>
        <p:txBody>
          <a:bodyPr wrap="square" rtlCol="0" anchor="ctr"/>
          <a:lstStyle/>
          <a:p>
            <a:pPr marL="0" indent="0">
              <a:buNone/>
            </a:pPr>
            <a:r>
              <a:rPr lang="en-US" sz="1050" b="1" kern="0" spc="140" dirty="0">
                <a:solidFill>
                  <a:srgbClr val="42A5F5"/>
                </a:solidFill>
                <a:latin typeface="Calibri" pitchFamily="34" charset="0"/>
                <a:ea typeface="Calibri" pitchFamily="34" charset="-122"/>
                <a:cs typeface="Calibri" pitchFamily="34" charset="-120"/>
              </a:rPr>
              <a:t>FUTURE VISION</a:t>
            </a:r>
            <a:endParaRPr lang="en-US" sz="1050" dirty="0"/>
          </a:p>
        </p:txBody>
      </p:sp>
      <p:sp>
        <p:nvSpPr>
          <p:cNvPr id="20" name="Text 17"/>
          <p:cNvSpPr/>
          <p:nvPr/>
        </p:nvSpPr>
        <p:spPr>
          <a:xfrm>
            <a:off x="8293608" y="2240280"/>
            <a:ext cx="3108960" cy="1737360"/>
          </a:xfrm>
          <a:prstGeom prst="rect">
            <a:avLst/>
          </a:prstGeom>
          <a:noFill/>
          <a:ln/>
        </p:spPr>
        <p:txBody>
          <a:bodyPr wrap="square" rtlCol="0" anchor="ctr"/>
          <a:lstStyle/>
          <a:p>
            <a:pPr marL="0" indent="0">
              <a:lnSpc>
                <a:spcPts val="1800"/>
              </a:lnSpc>
              <a:buNone/>
            </a:pPr>
            <a:r>
              <a:rPr lang="en-US" sz="1250" dirty="0">
                <a:solidFill>
                  <a:srgbClr val="44566E"/>
                </a:solidFill>
                <a:latin typeface="Calibri" pitchFamily="34" charset="0"/>
                <a:ea typeface="Calibri" pitchFamily="34" charset="-122"/>
                <a:cs typeface="Calibri" pitchFamily="34" charset="-120"/>
              </a:rPr>
              <a:t>Predictive engagement, a recommendation engine and real-time cloud dashboards moving BrightTV from reporting to anticipating.</a:t>
            </a:r>
            <a:endParaRPr lang="en-US" sz="1250" dirty="0"/>
          </a:p>
        </p:txBody>
      </p:sp>
      <p:sp>
        <p:nvSpPr>
          <p:cNvPr id="21" name="Shape 18"/>
          <p:cNvSpPr/>
          <p:nvPr/>
        </p:nvSpPr>
        <p:spPr>
          <a:xfrm>
            <a:off x="502920" y="4480560"/>
            <a:ext cx="11155680" cy="1371600"/>
          </a:xfrm>
          <a:prstGeom prst="roundRect">
            <a:avLst>
              <a:gd name="adj" fmla="val 5333"/>
            </a:avLst>
          </a:prstGeom>
          <a:solidFill>
            <a:srgbClr val="0B1F3A"/>
          </a:solidFill>
          <a:ln/>
        </p:spPr>
        <p:txBody>
          <a:bodyPr/>
          <a:lstStyle/>
          <a:p>
            <a:endParaRPr lang="en-ZA"/>
          </a:p>
        </p:txBody>
      </p:sp>
      <p:sp>
        <p:nvSpPr>
          <p:cNvPr id="22" name="Shape 19"/>
          <p:cNvSpPr/>
          <p:nvPr/>
        </p:nvSpPr>
        <p:spPr>
          <a:xfrm>
            <a:off x="502920" y="4480560"/>
            <a:ext cx="73152" cy="1371600"/>
          </a:xfrm>
          <a:prstGeom prst="rect">
            <a:avLst/>
          </a:prstGeom>
          <a:solidFill>
            <a:srgbClr val="C9A227"/>
          </a:solidFill>
          <a:ln/>
        </p:spPr>
        <p:txBody>
          <a:bodyPr/>
          <a:lstStyle/>
          <a:p>
            <a:endParaRPr lang="en-ZA"/>
          </a:p>
        </p:txBody>
      </p:sp>
      <p:sp>
        <p:nvSpPr>
          <p:cNvPr id="23" name="Text 20"/>
          <p:cNvSpPr/>
          <p:nvPr/>
        </p:nvSpPr>
        <p:spPr>
          <a:xfrm>
            <a:off x="914400" y="4617720"/>
            <a:ext cx="10424160" cy="457200"/>
          </a:xfrm>
          <a:prstGeom prst="rect">
            <a:avLst/>
          </a:prstGeom>
          <a:noFill/>
          <a:ln/>
        </p:spPr>
        <p:txBody>
          <a:bodyPr wrap="square" rtlCol="0" anchor="ctr"/>
          <a:lstStyle/>
          <a:p>
            <a:pPr marL="0" indent="0">
              <a:buNone/>
            </a:pPr>
            <a:r>
              <a:rPr lang="en-US" sz="2100" b="1" dirty="0">
                <a:solidFill>
                  <a:srgbClr val="FFFFFF"/>
                </a:solidFill>
                <a:latin typeface="Trebuchet MS" pitchFamily="34" charset="0"/>
                <a:ea typeface="Trebuchet MS" pitchFamily="34" charset="-122"/>
                <a:cs typeface="Trebuchet MS" pitchFamily="34" charset="-120"/>
              </a:rPr>
              <a:t>9,980 sessions analysed. Four dashboards delivered. Four decisions on the table.</a:t>
            </a:r>
            <a:endParaRPr lang="en-US" sz="2100" dirty="0"/>
          </a:p>
        </p:txBody>
      </p:sp>
      <p:sp>
        <p:nvSpPr>
          <p:cNvPr id="24" name="Text 21"/>
          <p:cNvSpPr/>
          <p:nvPr/>
        </p:nvSpPr>
        <p:spPr>
          <a:xfrm>
            <a:off x="914400" y="5166360"/>
            <a:ext cx="10424160" cy="457200"/>
          </a:xfrm>
          <a:prstGeom prst="rect">
            <a:avLst/>
          </a:prstGeom>
          <a:noFill/>
          <a:ln/>
        </p:spPr>
        <p:txBody>
          <a:bodyPr wrap="square" rtlCol="0" anchor="ctr"/>
          <a:lstStyle/>
          <a:p>
            <a:pPr marL="0" indent="0">
              <a:buNone/>
            </a:pPr>
            <a:r>
              <a:rPr lang="en-US" sz="1300" dirty="0">
                <a:solidFill>
                  <a:srgbClr val="9DB6D4"/>
                </a:solidFill>
                <a:latin typeface="Calibri" pitchFamily="34" charset="0"/>
                <a:ea typeface="Calibri" pitchFamily="34" charset="-122"/>
                <a:cs typeface="Calibri" pitchFamily="34" charset="-120"/>
              </a:rPr>
              <a:t>Approve the two high-impact plays today and BrightTV begins converting samplers into subscribers this quarter.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88952" cy="6858000"/>
          </a:xfrm>
          <a:prstGeom prst="rect">
            <a:avLst/>
          </a:prstGeom>
          <a:solidFill>
            <a:srgbClr val="0B1F3A"/>
          </a:solidFill>
          <a:ln/>
        </p:spPr>
        <p:txBody>
          <a:bodyPr/>
          <a:lstStyle/>
          <a:p>
            <a:endParaRPr lang="en-ZA"/>
          </a:p>
        </p:txBody>
      </p:sp>
      <p:sp>
        <p:nvSpPr>
          <p:cNvPr id="4" name="Shape 1"/>
          <p:cNvSpPr/>
          <p:nvPr/>
        </p:nvSpPr>
        <p:spPr>
          <a:xfrm>
            <a:off x="-1463040" y="3840480"/>
            <a:ext cx="4937760" cy="4937760"/>
          </a:xfrm>
          <a:prstGeom prst="ellipse">
            <a:avLst/>
          </a:prstGeom>
          <a:solidFill>
            <a:srgbClr val="1565C0">
              <a:alpha val="20000"/>
            </a:srgbClr>
          </a:solidFill>
          <a:ln w="12700">
            <a:solidFill>
              <a:srgbClr val="1565C0">
                <a:alpha val="0"/>
              </a:srgbClr>
            </a:solidFill>
            <a:prstDash val="solid"/>
          </a:ln>
        </p:spPr>
        <p:txBody>
          <a:bodyPr/>
          <a:lstStyle/>
          <a:p>
            <a:endParaRPr lang="en-ZA"/>
          </a:p>
        </p:txBody>
      </p:sp>
      <p:sp>
        <p:nvSpPr>
          <p:cNvPr id="5" name="Shape 2"/>
          <p:cNvSpPr/>
          <p:nvPr/>
        </p:nvSpPr>
        <p:spPr>
          <a:xfrm>
            <a:off x="9509760" y="-1828800"/>
            <a:ext cx="4572000" cy="4572000"/>
          </a:xfrm>
          <a:prstGeom prst="ellipse">
            <a:avLst/>
          </a:prstGeom>
          <a:solidFill>
            <a:srgbClr val="C9A227">
              <a:alpha val="15000"/>
            </a:srgbClr>
          </a:solidFill>
          <a:ln w="12700">
            <a:solidFill>
              <a:srgbClr val="C9A227">
                <a:alpha val="0"/>
              </a:srgbClr>
            </a:solidFill>
            <a:prstDash val="solid"/>
          </a:ln>
        </p:spPr>
        <p:txBody>
          <a:bodyPr/>
          <a:lstStyle/>
          <a:p>
            <a:endParaRPr lang="en-ZA"/>
          </a:p>
        </p:txBody>
      </p:sp>
      <p:sp>
        <p:nvSpPr>
          <p:cNvPr id="6" name="Shape 3"/>
          <p:cNvSpPr/>
          <p:nvPr/>
        </p:nvSpPr>
        <p:spPr>
          <a:xfrm>
            <a:off x="5120640" y="2423160"/>
            <a:ext cx="1920240" cy="45720"/>
          </a:xfrm>
          <a:prstGeom prst="rect">
            <a:avLst/>
          </a:prstGeom>
          <a:solidFill>
            <a:srgbClr val="C9A227"/>
          </a:solidFill>
          <a:ln/>
        </p:spPr>
        <p:txBody>
          <a:bodyPr/>
          <a:lstStyle/>
          <a:p>
            <a:endParaRPr lang="en-ZA"/>
          </a:p>
        </p:txBody>
      </p:sp>
      <p:sp>
        <p:nvSpPr>
          <p:cNvPr id="7" name="Text 4"/>
          <p:cNvSpPr/>
          <p:nvPr/>
        </p:nvSpPr>
        <p:spPr>
          <a:xfrm>
            <a:off x="914400" y="2651760"/>
            <a:ext cx="10360152" cy="1097280"/>
          </a:xfrm>
          <a:prstGeom prst="rect">
            <a:avLst/>
          </a:prstGeom>
          <a:noFill/>
          <a:ln/>
        </p:spPr>
        <p:txBody>
          <a:bodyPr wrap="square" rtlCol="0" anchor="ctr"/>
          <a:lstStyle/>
          <a:p>
            <a:pPr marL="0" indent="0" algn="ctr">
              <a:buNone/>
            </a:pPr>
            <a:r>
              <a:rPr lang="en-US" sz="6000" b="1" dirty="0">
                <a:solidFill>
                  <a:srgbClr val="FFFFFF"/>
                </a:solidFill>
                <a:latin typeface="Trebuchet MS" pitchFamily="34" charset="0"/>
                <a:ea typeface="Trebuchet MS" pitchFamily="34" charset="-122"/>
                <a:cs typeface="Trebuchet MS" pitchFamily="34" charset="-120"/>
              </a:rPr>
              <a:t>Questions</a:t>
            </a:r>
            <a:endParaRPr lang="en-US" sz="6000" dirty="0"/>
          </a:p>
        </p:txBody>
      </p:sp>
      <p:sp>
        <p:nvSpPr>
          <p:cNvPr id="8" name="Text 5"/>
          <p:cNvSpPr/>
          <p:nvPr/>
        </p:nvSpPr>
        <p:spPr>
          <a:xfrm>
            <a:off x="914400" y="3794760"/>
            <a:ext cx="10360152" cy="457200"/>
          </a:xfrm>
          <a:prstGeom prst="rect">
            <a:avLst/>
          </a:prstGeom>
          <a:noFill/>
          <a:ln/>
        </p:spPr>
        <p:txBody>
          <a:bodyPr wrap="square" rtlCol="0" anchor="ctr"/>
          <a:lstStyle/>
          <a:p>
            <a:pPr marL="0" indent="0" algn="ctr">
              <a:buNone/>
            </a:pPr>
            <a:r>
              <a:rPr lang="en-US" sz="1800" dirty="0">
                <a:solidFill>
                  <a:srgbClr val="8FAAC9"/>
                </a:solidFill>
                <a:latin typeface="Calibri" pitchFamily="34" charset="0"/>
                <a:ea typeface="Calibri" pitchFamily="34" charset="-122"/>
                <a:cs typeface="Calibri" pitchFamily="34" charset="-120"/>
              </a:rPr>
              <a:t>Thank you</a:t>
            </a:r>
            <a:endParaRPr lang="en-US" sz="1800" dirty="0"/>
          </a:p>
        </p:txBody>
      </p:sp>
      <p:sp>
        <p:nvSpPr>
          <p:cNvPr id="9" name="Text 6"/>
          <p:cNvSpPr/>
          <p:nvPr/>
        </p:nvSpPr>
        <p:spPr>
          <a:xfrm>
            <a:off x="914400" y="5943600"/>
            <a:ext cx="10360152" cy="320040"/>
          </a:xfrm>
          <a:prstGeom prst="rect">
            <a:avLst/>
          </a:prstGeom>
          <a:noFill/>
          <a:ln/>
        </p:spPr>
        <p:txBody>
          <a:bodyPr wrap="square" rtlCol="0" anchor="ctr"/>
          <a:lstStyle/>
          <a:p>
            <a:pPr marL="0" indent="0" algn="ctr">
              <a:buNone/>
            </a:pPr>
            <a:r>
              <a:rPr lang="en-US" sz="1100" kern="0" spc="100" dirty="0">
                <a:solidFill>
                  <a:srgbClr val="5E7CA0"/>
                </a:solidFill>
                <a:latin typeface="Calibri" pitchFamily="34" charset="0"/>
                <a:ea typeface="Calibri" pitchFamily="34" charset="-122"/>
                <a:cs typeface="Calibri" pitchFamily="34" charset="-120"/>
              </a:rPr>
              <a:t>BrightTV  ·  Customer Value Management  ·  lumina-tv-analytics.lovable.app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3931</Words>
  <Application>Microsoft Office PowerPoint</Application>
  <PresentationFormat>Custom</PresentationFormat>
  <Paragraphs>495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BrightTV Viewership Analytics</dc:title>
  <dc:subject>PptxGenJS Presentation</dc:subject>
  <dc:creator>BrightTV CVM Analytics</dc:creator>
  <cp:lastModifiedBy>Shudihno</cp:lastModifiedBy>
  <cp:revision>3</cp:revision>
  <dcterms:created xsi:type="dcterms:W3CDTF">2026-08-03T13:21:04Z</dcterms:created>
  <dcterms:modified xsi:type="dcterms:W3CDTF">2026-08-03T13:51:48Z</dcterms:modified>
</cp:coreProperties>
</file>